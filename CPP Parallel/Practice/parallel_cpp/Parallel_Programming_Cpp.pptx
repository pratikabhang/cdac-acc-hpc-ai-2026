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7"/>
  </p:notesMasterIdLst>
  <p:sldIdLst>
    <p:sldId id="256" r:id="rId2"/>
    <p:sldId id="257" r:id="rId3"/>
    <p:sldId id="329" r:id="rId4"/>
    <p:sldId id="328" r:id="rId5"/>
    <p:sldId id="330" r:id="rId6"/>
    <p:sldId id="258" r:id="rId7"/>
    <p:sldId id="259" r:id="rId8"/>
    <p:sldId id="260" r:id="rId9"/>
    <p:sldId id="261" r:id="rId10"/>
    <p:sldId id="323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324" r:id="rId20"/>
    <p:sldId id="325" r:id="rId21"/>
    <p:sldId id="270" r:id="rId22"/>
    <p:sldId id="271" r:id="rId23"/>
    <p:sldId id="272" r:id="rId24"/>
    <p:sldId id="273" r:id="rId25"/>
    <p:sldId id="274" r:id="rId26"/>
    <p:sldId id="275" r:id="rId27"/>
    <p:sldId id="326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327" r:id="rId44"/>
    <p:sldId id="291" r:id="rId45"/>
    <p:sldId id="292" r:id="rId46"/>
    <p:sldId id="293" r:id="rId47"/>
    <p:sldId id="294" r:id="rId48"/>
    <p:sldId id="295" r:id="rId49"/>
    <p:sldId id="296" r:id="rId50"/>
    <p:sldId id="297" r:id="rId51"/>
    <p:sldId id="298" r:id="rId52"/>
    <p:sldId id="299" r:id="rId53"/>
    <p:sldId id="300" r:id="rId54"/>
    <p:sldId id="301" r:id="rId55"/>
    <p:sldId id="302" r:id="rId56"/>
    <p:sldId id="303" r:id="rId57"/>
    <p:sldId id="304" r:id="rId58"/>
    <p:sldId id="305" r:id="rId59"/>
    <p:sldId id="306" r:id="rId60"/>
    <p:sldId id="307" r:id="rId61"/>
    <p:sldId id="308" r:id="rId62"/>
    <p:sldId id="309" r:id="rId63"/>
    <p:sldId id="310" r:id="rId64"/>
    <p:sldId id="311" r:id="rId65"/>
    <p:sldId id="312" r:id="rId66"/>
    <p:sldId id="313" r:id="rId67"/>
    <p:sldId id="314" r:id="rId68"/>
    <p:sldId id="315" r:id="rId69"/>
    <p:sldId id="316" r:id="rId70"/>
    <p:sldId id="317" r:id="rId71"/>
    <p:sldId id="318" r:id="rId72"/>
    <p:sldId id="319" r:id="rId73"/>
    <p:sldId id="320" r:id="rId74"/>
    <p:sldId id="321" r:id="rId75"/>
    <p:sldId id="322" r:id="rId7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604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75C08-2115-408F-3FC6-EB8626D2A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1F4D79-4D82-B574-ADF4-FCF48CEDA8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6442F-6085-E20E-9D0B-7C2C612CB9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7212FC-3825-8064-072E-4FB7CBBB0D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7714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07001-D851-8CF8-9E7E-D070DBB20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E9925A-EA2C-856B-7E35-CBF04847E6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65AC94-9725-4FE7-DBA3-578D5AE2AF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EA19DB-8E4D-4B90-B70E-B823907BFA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6432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532BC-C5EB-E774-101F-A365DCC7A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5DE49B-0E58-EF4D-1811-9A9ECADD3C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E0A8A4-3298-F1EB-8693-85D647B142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FCFEBB-5A8D-B29E-3D27-BCB9BB6247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6837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468880"/>
            <a:ext cx="107259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 Programming Using C++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93192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Atul Kahate</a:t>
            </a:r>
          </a:p>
          <a:p>
            <a:r>
              <a:rPr lang="en-US" sz="2200" dirty="0"/>
              <a:t>https://www.linkedin.com/in/atulkahate/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880360"/>
            <a:ext cx="107259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1 – C++ Parallel Programming Fundamentals</a:t>
            </a:r>
            <a:endParaRPr lang="en-US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AAF83-C550-9E64-7983-1E4169BD2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10730B6-3D5D-B1AE-F0B4-A614B77AC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294" y="808788"/>
            <a:ext cx="9073816" cy="60492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CF09905-B232-3D47-6AAC-DBCA8E59AEC8}"/>
              </a:ext>
            </a:extLst>
          </p:cNvPr>
          <p:cNvSpPr txBox="1"/>
          <p:nvPr/>
        </p:nvSpPr>
        <p:spPr>
          <a:xfrm>
            <a:off x="2695074" y="144379"/>
            <a:ext cx="70071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+mj-lt"/>
              </a:rPr>
              <a:t>CPU Parallel Programming</a:t>
            </a:r>
          </a:p>
        </p:txBody>
      </p:sp>
    </p:spTree>
    <p:extLst>
      <p:ext uri="{BB962C8B-B14F-4D97-AF65-F5344CB8AC3E}">
        <p14:creationId xmlns:p14="http://schemas.microsoft.com/office/powerpoint/2010/main" val="4107064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FBA2B3E-2283-F0F9-CFA5-CBA1783921AC}"/>
              </a:ext>
            </a:extLst>
          </p:cNvPr>
          <p:cNvSpPr txBox="1"/>
          <p:nvPr/>
        </p:nvSpPr>
        <p:spPr>
          <a:xfrm>
            <a:off x="2695074" y="144379"/>
            <a:ext cx="70071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+mj-lt"/>
              </a:rPr>
              <a:t>CPU and GPU Parallel Programming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AD321D-31DE-4697-CF09-8485F62C2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036" y="834457"/>
            <a:ext cx="9035315" cy="6023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889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5C4EC-48C1-CC08-10B6-39885E68F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4778A1-96A2-0A28-C15B-F9D5DDA90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620" y="38503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292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Parallel Programming?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programming divides a computational problem into parts that can execute simultaneously.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to reduce execution time, process larger problems, or improve resource utilization.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CPUs contain multiple cores, making parallel execution a practical programming technique.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Parallelism is useful in scientific computing, simulations, data processing, image processing, and machine learning.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 Programming with Modern C++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C++ provides language and library facilities for expressing concurrent and parallel programs.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facilities include threads, futures, algorithms, lambda expressions, and standard-library support.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programmer must consider data sharing, synchronization, dependencies, and workload distribution.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Parallelism should be introduced where the computational workload justifies its overhead.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Template Metaprogramming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5630779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metaprogramming performs computation or generates behavior using C++ templates.</a:t>
            </a:r>
            <a:endParaRPr lang="en-US" sz="20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move some computation from run time to compile time.</a:t>
            </a:r>
            <a:endParaRPr lang="en-US" sz="20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are useful for generic and reusable high-performance code.</a:t>
            </a:r>
            <a:endParaRPr lang="en-US" sz="20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metaprogramming can become complex; it should be used where it provides a clear benefit.</a:t>
            </a:r>
          </a:p>
          <a:p>
            <a:pPr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02_template_hello.cpp</a:t>
            </a:r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216C2C-0DD5-4CA5-9424-F751BC7CD348}"/>
              </a:ext>
            </a:extLst>
          </p:cNvPr>
          <p:cNvSpPr txBox="1"/>
          <p:nvPr/>
        </p:nvSpPr>
        <p:spPr>
          <a:xfrm>
            <a:off x="7007192" y="327259"/>
            <a:ext cx="4966636" cy="25853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/>
              <a:t>Usual code</a:t>
            </a:r>
          </a:p>
          <a:p>
            <a:endParaRPr lang="en-IN" dirty="0"/>
          </a:p>
          <a:p>
            <a:r>
              <a:rPr lang="en-US" dirty="0"/>
              <a:t>int square(int x) {</a:t>
            </a:r>
          </a:p>
          <a:p>
            <a:r>
              <a:rPr lang="en-US" dirty="0"/>
              <a:t>    return x * x;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int main() {</a:t>
            </a:r>
          </a:p>
          <a:p>
            <a:r>
              <a:rPr lang="en-US" dirty="0"/>
              <a:t>    int result = square(10); // run time</a:t>
            </a:r>
          </a:p>
          <a:p>
            <a:r>
              <a:rPr lang="en-US" dirty="0"/>
              <a:t>}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F33D4E-DC6A-6233-C858-2B6592FD4BAC}"/>
              </a:ext>
            </a:extLst>
          </p:cNvPr>
          <p:cNvSpPr txBox="1"/>
          <p:nvPr/>
        </p:nvSpPr>
        <p:spPr>
          <a:xfrm>
            <a:off x="7007191" y="3449717"/>
            <a:ext cx="4966636" cy="286232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/>
              <a:t>Using template</a:t>
            </a:r>
          </a:p>
          <a:p>
            <a:endParaRPr lang="en-IN" dirty="0"/>
          </a:p>
          <a:p>
            <a:r>
              <a:rPr lang="en-US" dirty="0"/>
              <a:t>template&lt;int N&gt;</a:t>
            </a:r>
          </a:p>
          <a:p>
            <a:r>
              <a:rPr lang="en-US" dirty="0"/>
              <a:t>struct Square {</a:t>
            </a:r>
          </a:p>
          <a:p>
            <a:r>
              <a:rPr lang="en-US" dirty="0"/>
              <a:t>    static const int value = N * N;</a:t>
            </a:r>
          </a:p>
          <a:p>
            <a:r>
              <a:rPr lang="en-US" dirty="0"/>
              <a:t>};</a:t>
            </a:r>
          </a:p>
          <a:p>
            <a:endParaRPr lang="en-US" dirty="0"/>
          </a:p>
          <a:p>
            <a:r>
              <a:rPr lang="en-US" dirty="0"/>
              <a:t>int main() {</a:t>
            </a:r>
          </a:p>
          <a:p>
            <a:r>
              <a:rPr lang="en-US" dirty="0"/>
              <a:t>    int result = Square&lt;10&gt;::value; // compile time</a:t>
            </a:r>
          </a:p>
          <a:p>
            <a:r>
              <a:rPr lang="en-US" dirty="0"/>
              <a:t>}</a:t>
            </a:r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Lambda Expressions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4408371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lambda is an anonymous function that can be defined close to where it is used.</a:t>
            </a:r>
            <a:endParaRPr lang="en-US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form: [capture](parameters) { statements; }</a:t>
            </a:r>
            <a:endParaRPr lang="en-US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Lambdas are especially useful with standard algorithms and parallel algorithms.</a:t>
            </a:r>
            <a:endParaRPr lang="en-US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lists determine how variables from the surrounding scope are accessed.</a:t>
            </a:r>
          </a:p>
          <a:p>
            <a:pPr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01_lambda_hello.cpp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3ED61A-FBD1-D6AD-D311-23178AADC93A}"/>
              </a:ext>
            </a:extLst>
          </p:cNvPr>
          <p:cNvSpPr txBox="1"/>
          <p:nvPr/>
        </p:nvSpPr>
        <p:spPr>
          <a:xfrm>
            <a:off x="5399773" y="35973"/>
            <a:ext cx="6574055" cy="17543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/>
              <a:t>Usual code</a:t>
            </a:r>
          </a:p>
          <a:p>
            <a:endParaRPr lang="en-IN" dirty="0"/>
          </a:p>
          <a:p>
            <a:r>
              <a:rPr lang="en-US" dirty="0"/>
              <a:t>int multiply (int x)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return 3 * x;</a:t>
            </a:r>
          </a:p>
          <a:p>
            <a:r>
              <a:rPr lang="en-US" dirty="0"/>
              <a:t>}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B27339-F9C7-15C8-EC31-FFF8895B377F}"/>
              </a:ext>
            </a:extLst>
          </p:cNvPr>
          <p:cNvSpPr txBox="1"/>
          <p:nvPr/>
        </p:nvSpPr>
        <p:spPr>
          <a:xfrm>
            <a:off x="5399773" y="1836019"/>
            <a:ext cx="6574055" cy="48013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/>
              <a:t>Using lambda</a:t>
            </a:r>
          </a:p>
          <a:p>
            <a:endParaRPr lang="en-IN" dirty="0"/>
          </a:p>
          <a:p>
            <a:r>
              <a:rPr lang="en-US" dirty="0"/>
              <a:t>#include &lt;</a:t>
            </a:r>
            <a:r>
              <a:rPr lang="en-US" dirty="0" err="1"/>
              <a:t>cstdio</a:t>
            </a:r>
            <a:r>
              <a:rPr lang="en-US" dirty="0"/>
              <a:t>&gt;</a:t>
            </a:r>
          </a:p>
          <a:p>
            <a:endParaRPr lang="en-US" dirty="0"/>
          </a:p>
          <a:p>
            <a:r>
              <a:rPr lang="en-US" dirty="0"/>
              <a:t>int main() {</a:t>
            </a:r>
          </a:p>
          <a:p>
            <a:r>
              <a:rPr lang="en-US" dirty="0"/>
              <a:t>    int factor = 3;</a:t>
            </a:r>
          </a:p>
          <a:p>
            <a:endParaRPr lang="en-US" dirty="0"/>
          </a:p>
          <a:p>
            <a:r>
              <a:rPr lang="en-US" dirty="0"/>
              <a:t>    // [factor] -&gt; Means copy 3 into factor inside lambda</a:t>
            </a:r>
          </a:p>
          <a:p>
            <a:r>
              <a:rPr lang="en-US" dirty="0"/>
              <a:t>    auto multiply = [factor](int x) {</a:t>
            </a:r>
          </a:p>
          <a:p>
            <a:r>
              <a:rPr lang="en-US" dirty="0"/>
              <a:t>        return x * factor;</a:t>
            </a:r>
          </a:p>
          <a:p>
            <a:r>
              <a:rPr lang="en-US" dirty="0"/>
              <a:t>    };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("multiply(5) = %d\n", multiply(5));  // 15</a:t>
            </a:r>
          </a:p>
          <a:p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("multiply(7) = %d\n", multiply(7));  // 21</a:t>
            </a:r>
          </a:p>
          <a:p>
            <a:endParaRPr lang="en-US" dirty="0"/>
          </a:p>
          <a:p>
            <a:r>
              <a:rPr lang="en-US" dirty="0"/>
              <a:t>    return 0;</a:t>
            </a:r>
          </a:p>
          <a:p>
            <a:r>
              <a:rPr lang="en-US" dirty="0"/>
              <a:t>}</a:t>
            </a:r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02B3E6-DF16-D24E-74EC-64670F546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7F25B9B-ECFC-25E7-1B86-B0ACC139B31C}"/>
              </a:ext>
            </a:extLst>
          </p:cNvPr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1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DD8249A-7A30-9605-F518-0028D85E138E}"/>
              </a:ext>
            </a:extLst>
          </p:cNvPr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Lambda Expressions – The Parallel Part</a:t>
            </a:r>
            <a:endParaRPr lang="en-US" sz="3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2B93CF7-A8EB-928E-F033-A00FC93DB522}"/>
              </a:ext>
            </a:extLst>
          </p:cNvPr>
          <p:cNvSpPr txBox="1"/>
          <p:nvPr/>
        </p:nvSpPr>
        <p:spPr>
          <a:xfrm>
            <a:off x="731520" y="1965960"/>
            <a:ext cx="5842535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parallelization part</a:t>
            </a:r>
          </a:p>
          <a:p>
            <a:pPr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dirty="0" err="1"/>
              <a:t>for_each</a:t>
            </a:r>
            <a:r>
              <a:rPr lang="en-US" dirty="0"/>
              <a:t>(</a:t>
            </a:r>
          </a:p>
          <a:p>
            <a:pPr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b="1" dirty="0"/>
              <a:t>    std::execution::par,   // HOW: parallel execution</a:t>
            </a:r>
          </a:p>
          <a:p>
            <a:pPr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dirty="0"/>
              <a:t>    </a:t>
            </a:r>
            <a:r>
              <a:rPr lang="en-US" dirty="0" err="1"/>
              <a:t>v.begin</a:t>
            </a:r>
            <a:r>
              <a:rPr lang="en-US" dirty="0"/>
              <a:t>(), </a:t>
            </a:r>
            <a:r>
              <a:rPr lang="en-US" dirty="0" err="1"/>
              <a:t>v.end</a:t>
            </a:r>
            <a:r>
              <a:rPr lang="en-US" dirty="0"/>
              <a:t>(),    // WHAT: elements (v = vector)</a:t>
            </a:r>
          </a:p>
          <a:p>
            <a:pPr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dirty="0"/>
              <a:t>    [](int&amp; x) {           // WHAT TO DO</a:t>
            </a:r>
          </a:p>
          <a:p>
            <a:pPr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dirty="0"/>
              <a:t>        x *= 10;</a:t>
            </a:r>
          </a:p>
          <a:p>
            <a:pPr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dirty="0"/>
              <a:t>    }</a:t>
            </a:r>
          </a:p>
          <a:p>
            <a:pPr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dirty="0"/>
              <a:t>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3CE80C-07CB-74F7-925F-353DC3B0C44D}"/>
              </a:ext>
            </a:extLst>
          </p:cNvPr>
          <p:cNvSpPr txBox="1"/>
          <p:nvPr/>
        </p:nvSpPr>
        <p:spPr>
          <a:xfrm>
            <a:off x="7209322" y="2646947"/>
            <a:ext cx="4456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Code: 01b_lambda_parallel_stl.cpp</a:t>
            </a:r>
          </a:p>
        </p:txBody>
      </p:sp>
    </p:spTree>
    <p:extLst>
      <p:ext uri="{BB962C8B-B14F-4D97-AF65-F5344CB8AC3E}">
        <p14:creationId xmlns:p14="http://schemas.microsoft.com/office/powerpoint/2010/main" val="36047330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 Programming Libraries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programs can be developed using language features, standard libraries, and dedicated parallel frameworks.</a:t>
            </a:r>
            <a:endParaRPr lang="en-US" sz="20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Libraries/frameworks can provide thread management, parallel loops, synchronization, and scheduling.</a:t>
            </a:r>
            <a:endParaRPr lang="en-US" sz="20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 of library depends on the application, hardware, portability, and required level of control.</a:t>
            </a:r>
            <a:endParaRPr lang="en-US" sz="20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in this course include OpenMP and C++ parallel programming facilities.</a:t>
            </a:r>
          </a:p>
          <a:p>
            <a:pPr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threads, faster results? 15_speedup_table.cpp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 Program Design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independent parts of the computation.</a:t>
            </a:r>
            <a:endParaRPr lang="en-US" sz="22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the workload into tasks or data partitions.</a:t>
            </a:r>
            <a:endParaRPr lang="en-US" sz="22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which data is shared and which is private.</a:t>
            </a:r>
            <a:endParaRPr lang="en-US" sz="22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dependencies between operations.</a:t>
            </a:r>
            <a:endParaRPr lang="en-US" sz="22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an appropriate parallelization strategy.</a:t>
            </a:r>
            <a:endParaRPr lang="en-US" sz="22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performance and verify correctness.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880360"/>
            <a:ext cx="107259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2 – Parallel Computing Concepts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Complexity and Classification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684421"/>
            <a:ext cx="3118585" cy="4976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complexity describes how computational requirements grow with input size.</a:t>
            </a:r>
            <a:endParaRPr lang="en-US" sz="16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algorithms must consider both computation and communication/synchronization overhead.</a:t>
            </a:r>
            <a:endParaRPr lang="en-US" sz="16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problem may contain serial and parallel portions.</a:t>
            </a:r>
            <a:endParaRPr lang="en-US" sz="16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amount of available parallel work limits the achievable speedup.</a:t>
            </a:r>
          </a:p>
          <a:p>
            <a:pPr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1600" dirty="0"/>
              <a:t>02b_complexity_classes.cpp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055A466-0ADC-558E-63DA-B272C09D8E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1838287"/>
              </p:ext>
            </p:extLst>
          </p:nvPr>
        </p:nvGraphicFramePr>
        <p:xfrm>
          <a:off x="4129238" y="1874520"/>
          <a:ext cx="7786842" cy="420624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297807">
                  <a:extLst>
                    <a:ext uri="{9D8B030D-6E8A-4147-A177-3AD203B41FA5}">
                      <a16:colId xmlns:a16="http://schemas.microsoft.com/office/drawing/2014/main" val="4255543229"/>
                    </a:ext>
                  </a:extLst>
                </a:gridCol>
                <a:gridCol w="1297807">
                  <a:extLst>
                    <a:ext uri="{9D8B030D-6E8A-4147-A177-3AD203B41FA5}">
                      <a16:colId xmlns:a16="http://schemas.microsoft.com/office/drawing/2014/main" val="8586849"/>
                    </a:ext>
                  </a:extLst>
                </a:gridCol>
                <a:gridCol w="1090862">
                  <a:extLst>
                    <a:ext uri="{9D8B030D-6E8A-4147-A177-3AD203B41FA5}">
                      <a16:colId xmlns:a16="http://schemas.microsoft.com/office/drawing/2014/main" val="2505749927"/>
                    </a:ext>
                  </a:extLst>
                </a:gridCol>
                <a:gridCol w="1309036">
                  <a:extLst>
                    <a:ext uri="{9D8B030D-6E8A-4147-A177-3AD203B41FA5}">
                      <a16:colId xmlns:a16="http://schemas.microsoft.com/office/drawing/2014/main" val="3902007880"/>
                    </a:ext>
                  </a:extLst>
                </a:gridCol>
                <a:gridCol w="1289785">
                  <a:extLst>
                    <a:ext uri="{9D8B030D-6E8A-4147-A177-3AD203B41FA5}">
                      <a16:colId xmlns:a16="http://schemas.microsoft.com/office/drawing/2014/main" val="661381870"/>
                    </a:ext>
                  </a:extLst>
                </a:gridCol>
                <a:gridCol w="1501545">
                  <a:extLst>
                    <a:ext uri="{9D8B030D-6E8A-4147-A177-3AD203B41FA5}">
                      <a16:colId xmlns:a16="http://schemas.microsoft.com/office/drawing/2014/main" val="2990954640"/>
                    </a:ext>
                  </a:extLst>
                </a:gridCol>
              </a:tblGrid>
              <a:tr h="3086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Complexity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n = 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n = 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n = 1,000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Growth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5052004"/>
                  </a:ext>
                </a:extLst>
              </a:tr>
              <a:tr h="3086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O(1)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Access a[5]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1939892"/>
                  </a:ext>
                </a:extLst>
              </a:tr>
              <a:tr h="5402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O(log n)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Binary search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~3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~7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~10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Very slow growth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7299591"/>
                  </a:ext>
                </a:extLst>
              </a:tr>
              <a:tr h="5402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O(n)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Linear search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Proportional to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9455413"/>
                  </a:ext>
                </a:extLst>
              </a:tr>
              <a:tr h="5402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O(n log n)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Merge sort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~33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~664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~9,966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Slightly faster growth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7317924"/>
                  </a:ext>
                </a:extLst>
              </a:tr>
              <a:tr h="3086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O(n²)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Nested loops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1,000,000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Rapid growth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1534954"/>
                  </a:ext>
                </a:extLst>
              </a:tr>
              <a:tr h="5402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O(2ⁿ)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Recursive subset generation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1,024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Extremely large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Impractical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Very rapid growth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91699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Speedup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 measures how much faster a parallel program is than a baseline sequential program.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 = Sequential execution time / Parallel execution time.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speedup with P processors is P, but real programs normally achieve less.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Synchronization, communication, load imbalance, and serial work reduce speedup.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Efficiency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relates achieved speedup to the number of processing units.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= Speedup / Number of processors.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close to 1 indicates effective utilization of available processing resources.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usually decreases as more processing units are added.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Schedules, Job Submission and Batch Systems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workloads may be executed interactively or through batch systems.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scheduler allocates computing resources to submitted jobs.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batch system allows users to specify resource requirements and execution commands.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management includes CPU cores, memory, execution time, and other available resources.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 err="1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Pthreads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59"/>
            <a:ext cx="3984859" cy="4685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Pthreads provides a low-level API for creating and managing threads.</a:t>
            </a:r>
            <a:endParaRPr lang="en-US" sz="16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OpenMP provides compiler directives, runtime functions, and environment variables for shared-memory parallelism.</a:t>
            </a:r>
            <a:endParaRPr lang="en-US" sz="16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Pthreads offers detailed control but requires more programming effort.</a:t>
            </a:r>
            <a:endParaRPr lang="en-US" sz="16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OpenMP allows many parallel patterns to be expressed with relatively small changes to serial C/C++ code. (Next slide)</a:t>
            </a:r>
          </a:p>
          <a:p>
            <a:pPr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05_pthreads_hello.cpp, 13_sum_pthreds.cpp</a:t>
            </a:r>
            <a:endParaRPr 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3BE391-4D57-C214-F9F7-7661A0454873}"/>
              </a:ext>
            </a:extLst>
          </p:cNvPr>
          <p:cNvSpPr txBox="1"/>
          <p:nvPr/>
        </p:nvSpPr>
        <p:spPr>
          <a:xfrm>
            <a:off x="4899259" y="1850457"/>
            <a:ext cx="6930189" cy="48013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b="1" dirty="0"/>
              <a:t>POSIX threads (</a:t>
            </a:r>
            <a:r>
              <a:rPr lang="en-IN" b="1" dirty="0" err="1"/>
              <a:t>Pthreads</a:t>
            </a:r>
            <a:r>
              <a:rPr lang="en-IN" b="1" dirty="0"/>
              <a:t>)</a:t>
            </a:r>
            <a:r>
              <a:rPr lang="en-IN" dirty="0"/>
              <a:t>: </a:t>
            </a:r>
            <a:r>
              <a:rPr lang="en-US" dirty="0"/>
              <a:t>Standard C library/API for creating and managing multiple threads within a process</a:t>
            </a:r>
          </a:p>
          <a:p>
            <a:endParaRPr lang="en-US" dirty="0"/>
          </a:p>
          <a:p>
            <a:r>
              <a:rPr lang="en-US" dirty="0"/>
              <a:t>Process: Thread 1 -&gt; Work, Thread 2 -&gt; Work, Thread 3 -&gt; Work</a:t>
            </a:r>
          </a:p>
          <a:p>
            <a:endParaRPr lang="en-US" dirty="0"/>
          </a:p>
          <a:p>
            <a:r>
              <a:rPr lang="en-US" dirty="0"/>
              <a:t>Main function: </a:t>
            </a:r>
            <a:r>
              <a:rPr lang="en-US" dirty="0" err="1"/>
              <a:t>pthread_create</a:t>
            </a:r>
            <a:r>
              <a:rPr lang="en-US" dirty="0"/>
              <a:t>(&amp;thread, NULL, function, argument);</a:t>
            </a:r>
          </a:p>
          <a:p>
            <a:endParaRPr lang="en-US" dirty="0"/>
          </a:p>
          <a:p>
            <a:r>
              <a:rPr lang="en-US" dirty="0"/>
              <a:t>&amp;t: Where thread ID will be stored</a:t>
            </a:r>
          </a:p>
          <a:p>
            <a:r>
              <a:rPr lang="en-US" dirty="0"/>
              <a:t>NULL: Thread attributes</a:t>
            </a:r>
          </a:p>
          <a:p>
            <a:r>
              <a:rPr lang="en-US" dirty="0"/>
              <a:t>worker: Function executed by the new thread</a:t>
            </a:r>
          </a:p>
          <a:p>
            <a:r>
              <a:rPr lang="en-US" dirty="0"/>
              <a:t>NULL: Argument passed to worker()</a:t>
            </a:r>
          </a:p>
          <a:p>
            <a:endParaRPr lang="en-US" dirty="0"/>
          </a:p>
          <a:p>
            <a:r>
              <a:rPr lang="en-IN" dirty="0" err="1"/>
              <a:t>pthread_join</a:t>
            </a:r>
            <a:r>
              <a:rPr lang="en-IN" dirty="0"/>
              <a:t>(t, NULL); -&gt; Wait for thread t to finish</a:t>
            </a:r>
          </a:p>
          <a:p>
            <a:endParaRPr lang="en-IN" dirty="0"/>
          </a:p>
          <a:p>
            <a:r>
              <a:rPr lang="en-IN" dirty="0"/>
              <a:t>To avoid race condition: </a:t>
            </a:r>
            <a:r>
              <a:rPr lang="en-IN" dirty="0" err="1"/>
              <a:t>pthread_mutex_lock</a:t>
            </a:r>
            <a:r>
              <a:rPr lang="en-IN" dirty="0"/>
              <a:t> and unlock functions</a:t>
            </a:r>
          </a:p>
          <a:p>
            <a:endParaRPr lang="en-IN" dirty="0"/>
          </a:p>
          <a:p>
            <a:r>
              <a:rPr lang="en-IN" dirty="0"/>
              <a:t>Alternative to OpenMP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17DDFA-6C42-79EE-55B5-E09D1CEB8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61E766C-4C3A-38E9-4581-4D7E80983517}"/>
              </a:ext>
            </a:extLst>
          </p:cNvPr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</a:t>
            </a:r>
            <a:endParaRPr lang="en-US" sz="1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AF53D7F-8A6D-5D2C-B5AF-9FE5EB385DCB}"/>
              </a:ext>
            </a:extLst>
          </p:cNvPr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OpenMP</a:t>
            </a:r>
            <a:endParaRPr lang="en-US" sz="3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A5FC380-7FE8-9487-E5F0-88BA46B89E34}"/>
              </a:ext>
            </a:extLst>
          </p:cNvPr>
          <p:cNvSpPr txBox="1"/>
          <p:nvPr/>
        </p:nvSpPr>
        <p:spPr>
          <a:xfrm>
            <a:off x="731520" y="1965959"/>
            <a:ext cx="10838046" cy="4685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1600" dirty="0"/>
              <a:t>OpenMP (Open Multi-Processing) is an API for writing shared-memory parallel programs in C, C++, and Fortran</a:t>
            </a:r>
          </a:p>
          <a:p>
            <a:pPr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code inside he block </a:t>
            </a:r>
            <a:r>
              <a:rPr lang="en-IN" sz="1600" dirty="0"/>
              <a:t>#pragma </a:t>
            </a:r>
            <a:r>
              <a:rPr lang="en-IN" sz="1600" dirty="0" err="1"/>
              <a:t>omp</a:t>
            </a:r>
            <a:r>
              <a:rPr lang="en-IN" sz="1600" dirty="0"/>
              <a:t> parallel</a:t>
            </a:r>
            <a:endParaRPr lang="en-US" sz="16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</a:p>
          <a:p>
            <a:pPr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nn-NO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#pragma omp parallel for</a:t>
            </a:r>
          </a:p>
          <a:p>
            <a:pPr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nn-NO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(int i = 0; i &lt; 100; i++)</a:t>
            </a:r>
          </a:p>
          <a:p>
            <a:pPr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nn-NO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</a:t>
            </a:r>
          </a:p>
          <a:p>
            <a:pPr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nn-NO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a[i] = a[i] * 2;</a:t>
            </a:r>
          </a:p>
          <a:p>
            <a:pPr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nn-NO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</a:t>
            </a:r>
            <a:endParaRPr lang="en-US" sz="16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148298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49CE84-DE42-B703-1003-B718F1ADF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03CCD77-F064-C9C2-ED5A-C07F85329336}"/>
              </a:ext>
            </a:extLst>
          </p:cNvPr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</a:t>
            </a:r>
            <a:endParaRPr lang="en-US" sz="1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07CC08D-3C17-71FC-60BE-87A10A306BCB}"/>
              </a:ext>
            </a:extLst>
          </p:cNvPr>
          <p:cNvSpPr txBox="1"/>
          <p:nvPr/>
        </p:nvSpPr>
        <p:spPr>
          <a:xfrm>
            <a:off x="731520" y="822960"/>
            <a:ext cx="40137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OpenMP - Reduction</a:t>
            </a:r>
            <a:endParaRPr lang="en-US" sz="3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F99A96-A69F-3B4B-E4E4-A8859B754C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652" y="1593782"/>
            <a:ext cx="9766434" cy="48832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4AB3F3C-DD7B-928C-4A67-6F8725B50AD0}"/>
              </a:ext>
            </a:extLst>
          </p:cNvPr>
          <p:cNvSpPr txBox="1"/>
          <p:nvPr/>
        </p:nvSpPr>
        <p:spPr>
          <a:xfrm>
            <a:off x="7594333" y="221381"/>
            <a:ext cx="34265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14_sum_openmp.cpp</a:t>
            </a:r>
          </a:p>
          <a:p>
            <a:r>
              <a:rPr lang="en-US" dirty="0"/>
              <a:t>14b_sum_openmp_reduction.cpp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61580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Numerical Methods and Parallel Applications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methods often contain repeated computations that can be parallelized.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include numerical integration, iterative methods, matrix operations, and simulation.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iterations can often be executed concurrently.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between iterations must be analyzed before parallelization.</a:t>
            </a:r>
            <a:endParaRPr lang="en-US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 Fibonacci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59"/>
            <a:ext cx="10725912" cy="4810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Fibonacci computation provides a simple example for understanding recursive parallelism. (Each number = Sum of the previous two numbers, e.g. 0, 1, 1, 2, 3, 5, 8, 13, …). Rule: </a:t>
            </a:r>
            <a:r>
              <a:rPr lang="pt-BR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F(n) = F(n-1) + F(n-2)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recursive calls can expose parallel work.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However, creating too many tasks can introduce large overhead.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example demonstrates the difference between theoretical parallelism and useful parallelism. (Recursion: Not good for parallel work)</a:t>
            </a:r>
          </a:p>
          <a:p>
            <a:pPr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09_fibonacci_serial.cpp and 10_fibonacci_openmp.cpp</a:t>
            </a:r>
            <a:endParaRPr lang="en-US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Incrementing an Array in Parallel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array operation can be divided among multiple threads.</a:t>
            </a:r>
            <a:endParaRPr lang="en-US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thread processes a separate range of array elements.</a:t>
            </a:r>
            <a:endParaRPr lang="en-US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each element is independently updated, synchronization may not be necessary.</a:t>
            </a:r>
            <a:endParaRPr lang="en-US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simple example of data parallelism.</a:t>
            </a:r>
          </a:p>
          <a:p>
            <a:pPr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module2_concepts/11_array_increment_serial.cpp and module2_concepts/12_array_increment_openmp.cpp</a:t>
            </a:r>
          </a:p>
          <a:p>
            <a:pPr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run the 11b and 12b versions</a:t>
            </a:r>
          </a:p>
          <a:p>
            <a:pPr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Learning: </a:t>
            </a:r>
            <a:r>
              <a:rPr lang="en-US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by making code parallel, we may not achieve better performance, but it depends on the task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Serial Execution and Fork-Join Algorithms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fork-join algorithm divides execution into parallel branches and later combines them.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Fork: create parallel work.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Join: wait for parallel work to complete before continuing.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Fork-join is a common pattern in parallel algorithms.</a:t>
            </a:r>
          </a:p>
          <a:p>
            <a:pPr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10b_fork_join_without_join.cpp and 10c_fork_join_with_join.cpp</a:t>
            </a:r>
            <a:endParaRPr lang="en-US" sz="2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Race Conditions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4032985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race condition occurs when multiple threads access shared data and the final result depends on execution order.</a:t>
            </a:r>
            <a:endParaRPr lang="en-US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Read-modify-write operations are particularly vulnerable.</a:t>
            </a:r>
            <a:endParaRPr lang="en-US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conditions can produce incorrect and non-deterministic results.</a:t>
            </a:r>
            <a:endParaRPr lang="en-US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synchronization or redesigned data ownership is required.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B47222-3BF9-2A2F-585C-F73002FDF283}"/>
              </a:ext>
            </a:extLst>
          </p:cNvPr>
          <p:cNvSpPr txBox="1"/>
          <p:nvPr/>
        </p:nvSpPr>
        <p:spPr>
          <a:xfrm>
            <a:off x="5197641" y="2076190"/>
            <a:ext cx="6756935" cy="31393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24_bank_account_unsynchronized.cpp</a:t>
            </a:r>
          </a:p>
          <a:p>
            <a:r>
              <a:rPr lang="en-US" dirty="0"/>
              <a:t>Two deposit threads run without synchronization, causing each other’s updates to be lost</a:t>
            </a:r>
          </a:p>
          <a:p>
            <a:endParaRPr lang="en-US" dirty="0"/>
          </a:p>
          <a:p>
            <a:r>
              <a:rPr lang="en-US" dirty="0"/>
              <a:t>25_bank_account_mutex.cpp</a:t>
            </a:r>
          </a:p>
          <a:p>
            <a:r>
              <a:rPr lang="en-US" dirty="0"/>
              <a:t>Adds synchronization (mutex) variable to guarantee correct balance</a:t>
            </a:r>
          </a:p>
          <a:p>
            <a:endParaRPr lang="en-US" dirty="0"/>
          </a:p>
          <a:p>
            <a:r>
              <a:rPr lang="en-US" dirty="0"/>
              <a:t>26_bank_account_ownership.cpp</a:t>
            </a:r>
          </a:p>
          <a:p>
            <a:r>
              <a:rPr lang="en-US" dirty="0"/>
              <a:t>No synchronization, but each thread has its own private totaling variable, guaranteeing that threads do not overwrite each other’s totals</a:t>
            </a:r>
            <a:endParaRPr lang="en-IN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Synchronization Hardware and the ABA Problem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 mechanisms coordinate access to shared data.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operations can perform certain updates without exposing intermediate states.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ABA problem can occur in lock-free algorithms when a value changes from A to B and back to A.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concurrent algorithm design must account for such subtle cases.</a:t>
            </a:r>
            <a:endParaRPr lang="en-US" sz="2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FD5724-19C2-208B-565A-9D3FB4AF1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809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Executing Parallel Algorithms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execution requires identifying independent work and assigning it to execution units.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of tasks should be balanced against thread/task creation overhead.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 should be minimized where safe.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must be measured rather than assumed.</a:t>
            </a:r>
            <a:endParaRPr lang="en-US" sz="2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880360"/>
            <a:ext cx="107259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3 – Experimental Work with PASM / Parallel Environment</a:t>
            </a:r>
            <a:endParaRPr lang="en-US" sz="4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Setup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the required source files and compiler environment.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installed compiler and parallel programming support.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a sequential baseline before creating the parallel version.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supplied make/build mechanism where applicable.</a:t>
            </a:r>
            <a:endParaRPr lang="en-US" sz="2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Files and Software Setup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main source files used by the experiment.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sequential and parallel versions separately when comparing performance.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compiler options and execution parameters.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the same input data is used for fair comparisons.</a:t>
            </a:r>
            <a:endParaRPr lang="en-US" sz="2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Makefile and Build Process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Makefile automates compilation and linking.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maintain separate targets for serial and parallel executables.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flags should enable the required parallel programming support.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automation improves repeatability of experiments.</a:t>
            </a:r>
            <a:endParaRPr lang="en-US" sz="2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1 – Baseline Fibonacci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and execute a sequential Fibonacci program.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execution time for selected input sizes.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the result as the baseline for later comparison.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correctness before optimizing or parallelizing.</a:t>
            </a:r>
            <a:endParaRPr lang="en-US" sz="2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2 – Serial Version of Fibonacci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the serial algorithm using a clear and repeatable approach.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program for increasing input sizes.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execution time and observe how execution grows.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these measurements when evaluating the parallel implementation.</a:t>
            </a:r>
            <a:endParaRPr lang="en-US" sz="2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3 – Parallel Fibonacci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independent recursive computations.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parallel tasks for suitable recursive branches.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excessive task creation for very small subproblems.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execution time and correctness with the serial version.</a:t>
            </a:r>
            <a:endParaRPr lang="en-US" sz="2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Measuring Performance with Speedup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same program using different numbers of threads.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execution time for each configuration.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speedup relative to the sequential baseline.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or tabulate execution time and speedup.</a:t>
            </a:r>
            <a:endParaRPr lang="en-US" sz="2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Visualizing Processor Utilization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how available processing resources are used during execution.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idle processors, uneven workload distribution, and synchronization overhead.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processor utilization does not automatically mean good scalability.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measurements to explain performance behavior.</a:t>
            </a:r>
            <a:endParaRPr lang="en-US" sz="2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and Weak Scaling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scaling: keep the problem size fixed and increase the number of processing units.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scaling: increase the problem size as the number of processing units increases.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scaling examines how quickly a fixed problem can be solved.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scaling examines whether the system can maintain performance as workload grows.</a:t>
            </a:r>
            <a:endParaRPr lang="en-US" sz="2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880360"/>
            <a:ext cx="107259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4 – Work Efficiency and Granularity</a:t>
            </a:r>
            <a:endParaRPr lang="en-US" sz="4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Improving Work Efficiency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Parallelization introduces overhead in addition to useful computation.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efficiency improves when processors spend more time performing useful work.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unnecessary synchronization, communication, and task creation.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workload across processing units.</a:t>
            </a:r>
            <a:endParaRPr lang="en-US" sz="2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Granularity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Granularity describes the amount of computation performed by each parallel task.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tasks contain relatively little computation.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Coarse-grained tasks contain more computation.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fine-grained parallelism may suffer from scheduling and synchronization overhead.</a:t>
            </a:r>
            <a:endParaRPr lang="en-US" sz="2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Determining the Threshold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and task-based algorithms often need a threshold below which work executes sequentially.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subproblems can be parallelized.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subproblems may be faster sequentially.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with threshold values and measure the effect on execution time.</a:t>
            </a:r>
          </a:p>
          <a:p>
            <a:pPr marL="279400" indent="-2794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/>
              <a:t>Code: 16_mergesort_threshold.cpp</a:t>
            </a:r>
            <a:endParaRPr lang="en-US" sz="2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EEFAC0-2E81-3B49-B604-32FA479DCE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7212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Granularity Control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the problem domain into chunks that can be processed independently.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chunk size that balances workload and overhead.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partitioning can be effective when workloads are uniform.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scheduling can help when workloads vary.</a:t>
            </a:r>
            <a:endParaRPr lang="en-US" sz="2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 Functions and Nested Parallelism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functions may contain several levels of computation.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parallelism introduces parallel regions inside other parallel regions.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levels of parallelism can oversubscribe the available hardware.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nested parallelism only when the workload justifies it.</a:t>
            </a:r>
            <a:endParaRPr lang="en-US" sz="24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Controlled Parallel-For Loops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Parallel-for distributes loop iterations across multiple workers.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Iterations should ideally be independent.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scheduling strategy affects load balance and overhead.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Loop-carried dependencies must be identified before parallelization.</a:t>
            </a:r>
            <a:endParaRPr lang="en-US" sz="2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880360"/>
            <a:ext cx="107259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5 – Simple Parallel Algorithms and Concurrency</a:t>
            </a:r>
            <a:endParaRPr lang="en-US" sz="4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 and Cost Model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parallel algorithm should expose enough independent work to keep processing units busy.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model includes computation, communication, synchronization, and scheduling.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fastest theoretical algorithm may not be the fastest implementation on real hardware.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analysis should consider the complete execution path.</a:t>
            </a:r>
            <a:endParaRPr lang="en-US" sz="24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Allocation and Deallocation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memory allocation can become expensive in heavily parallel programs.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allocation and deallocation may introduce contention and overhead.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appropriate data ownership and reuse where possible.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unnecessary sharing of mutable memory.</a:t>
            </a:r>
            <a:endParaRPr lang="en-US" sz="2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Passing To and Returning From Functions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functions should clearly define input, output, and shared state.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accidental sharing of writable variables.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values or explicit output buffers can make ownership clearer.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interfaces should make concurrency assumptions understandable.</a:t>
            </a:r>
            <a:endParaRPr lang="en-US" sz="24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High-Level Granularity Control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parallel constructs allow programmers to control the amount of work assigned to workers.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size should be large enough to amortize scheduling overhead.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Granularity can be adjusted experimentally.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should be evaluated using representative workloads.</a:t>
            </a:r>
            <a:endParaRPr lang="en-US" sz="24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combines multiple partial results into one final result.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include sum, product, minimum, and maximum.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worker can compute a local result before the results are combined.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avoids unnecessary simultaneous updates to a shared variable.</a:t>
            </a:r>
            <a:endParaRPr lang="en-US" sz="24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scan computes prefix results over a sequence.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Inclusive scan includes the current element; exclusive scan uses preceding elements.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is useful in parallel algorithms such as indexing, partitioning, and cumulative computation.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scan requires careful handling of dependencies.</a:t>
            </a:r>
            <a:endParaRPr lang="en-US" sz="24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Divide Operations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Divide-and-conquer algorithms split a problem into smaller subproblems.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subproblems can execute in parallel.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combined after the subproblems finish.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include recursive sorting and searching techniques.</a:t>
            </a:r>
            <a:endParaRPr lang="en-US" sz="24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 Sorting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can be parallelized by dividing data and processing partitions concurrently.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sorting strategies include divide-and-conquer and partition-based approaches.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depends on partition quality, memory behavior, and synchronization.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parallel and sequential implementations using the same data.</a:t>
            </a:r>
            <a:endParaRPr lang="en-US" sz="24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 Search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can distribute different portions of a collection among workers.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can search independently when there are no conflicting updates.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 must define how and when a result is communicated.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large datasets, memory access behavior can strongly affect performance.</a:t>
            </a:r>
            <a:endParaRPr lang="en-US" sz="24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880360"/>
            <a:ext cx="107259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6 – Parallelism, Concurrency and Race Conditions</a:t>
            </a:r>
            <a:endParaRPr lang="en-US" sz="4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Parallelism vs Concurrency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means multiple activities are in progress during overlapping periods.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Parallelism means multiple computations actually execute simultaneously.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concurrent program may run on one processor through interleaving.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execution requires multiple execution resources.</a:t>
            </a:r>
            <a:endParaRPr lang="en-US" sz="24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Race Conditions and Concurrency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access to shared mutable data can produce race conditions.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may vary between executions.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is caused by an unsafe ordering of accesses.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synchronization, atomic operations, or redesigned data ownership to eliminate the race.</a:t>
            </a:r>
            <a:endParaRPr lang="en-US" sz="24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Eliminating Race Conditions by Synchronization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 establishes safe ordering between conflicting operations.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Locks/mutexes can protect critical sections.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operations can safely update suitable shared variables.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 should be limited to what is necessary because it can reduce parallel performance.</a:t>
            </a:r>
            <a:endParaRPr lang="en-US" sz="24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Section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critical section is a portion of code that accesses shared resources and must be protected.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required operations should be placed inside the critical section.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critical sections reduce parallelism.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goal is correctness with minimal synchronization overhead.</a:t>
            </a:r>
            <a:endParaRPr lang="en-US" sz="24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Atomic Operations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operations execute as indivisible operations from the perspective of other threads.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useful for counters, flags, and other simple shared-state updates.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operations can avoid some lock overhead.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complex operation can be safely replaced by a single atomic operation.</a:t>
            </a:r>
            <a:endParaRPr lang="en-US" sz="24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880360"/>
            <a:ext cx="107259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Lab – Suggested Sequence</a:t>
            </a:r>
            <a:endParaRPr lang="en-US" sz="40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Sequential Baseline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and run a sequential Fibonacci program.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execution time.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results for several input sizes.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output correctness.</a:t>
            </a:r>
            <a:endParaRPr lang="en-US" sz="24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 Fibonacci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parallel version using an appropriate task/fork-join approach.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with the required parallel support.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using different numbers of threads.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execution time with the baseline.</a:t>
            </a:r>
            <a:endParaRPr lang="en-US" sz="24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 Increment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large array.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 each element sequentially.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Parallelize the loop.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execution time and verify the final array.</a:t>
            </a:r>
            <a:endParaRPr lang="en-US" sz="24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Race Condition Demonstration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multiple threads that increment a shared counter.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without synchronization and observe inconsistent results.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update using an appropriate synchronization mechanism.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again and compare correctness and performance.</a:t>
            </a:r>
            <a:endParaRPr lang="en-US" sz="24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sum of a large array sequentially.</a:t>
            </a:r>
            <a:endParaRPr lang="en-US" sz="22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the array among workers.</a:t>
            </a:r>
            <a:endParaRPr lang="en-US" sz="22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local sums.</a:t>
            </a:r>
            <a:endParaRPr lang="en-US" sz="22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local sums into the final result.</a:t>
            </a:r>
            <a:endParaRPr lang="en-US" sz="22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performance.</a:t>
            </a:r>
            <a:endParaRPr lang="en-US" sz="22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Granularity Experiment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task-based program with different task-size thresholds.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execution time for each threshold.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the effect of task creation overhead.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 practical threshold for the selected workload.</a:t>
            </a:r>
            <a:endParaRPr lang="en-US" sz="24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Speedup and Efficiency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program with 1, 2, 4, 8 or available processing units.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execution times.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speedup and efficiency.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measured speedup differs from ideal speedup.</a:t>
            </a:r>
            <a:endParaRPr lang="en-US" sz="24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Scaling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problem size fixed.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the number of workers.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execution time, speedup, and efficiency.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point at which additional workers provide diminishing benefits.</a:t>
            </a:r>
            <a:endParaRPr lang="en-US" sz="24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 Sorting/Search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or use a parallel sorting/search approach.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against a sequential implementation.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identical input data.</a:t>
            </a:r>
            <a:endParaRPr lang="en-US" sz="24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execution time and verify results.</a:t>
            </a:r>
            <a:endParaRPr lang="en-US" sz="24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Performance Study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107259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one parallel algorithm.</a:t>
            </a:r>
            <a:endParaRPr lang="en-US" sz="22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serial and parallel execution.</a:t>
            </a:r>
            <a:endParaRPr lang="en-US" sz="22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with worker count and granularity.</a:t>
            </a:r>
            <a:endParaRPr lang="en-US" sz="22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speedup and efficiency.</a:t>
            </a:r>
            <a:endParaRPr lang="en-US" sz="22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observed performance using computation, synchronization, and overhead.</a:t>
            </a:r>
            <a:endParaRPr lang="en-US" sz="22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880360"/>
            <a:ext cx="107259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40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1072591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programming is not simply 'adding more threads'; the algorithm and data dependencies must support parallel execution.</a:t>
            </a:r>
            <a:endParaRPr lang="en-US" sz="22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comes first: race conditions and synchronization errors must be addressed.</a:t>
            </a:r>
            <a:endParaRPr lang="en-US" sz="22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 and efficiency provide quantitative measures of parallel performance.</a:t>
            </a:r>
            <a:endParaRPr lang="en-US" sz="22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Granularity and workload balance strongly influence performance.</a:t>
            </a:r>
            <a:endParaRPr lang="en-US" sz="2200" dirty="0"/>
          </a:p>
          <a:p>
            <a:pPr marL="279400" indent="-2794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way to understand parallel programming is to implement, measure, and compare sequential and parallel versions.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</TotalTime>
  <Words>3697</Words>
  <Application>Microsoft Office PowerPoint</Application>
  <PresentationFormat>Widescreen</PresentationFormat>
  <Paragraphs>579</Paragraphs>
  <Slides>75</Slides>
  <Notes>70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7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Atul Kahate</cp:lastModifiedBy>
  <cp:revision>11</cp:revision>
  <dcterms:created xsi:type="dcterms:W3CDTF">2026-09-17T04:17:09Z</dcterms:created>
  <dcterms:modified xsi:type="dcterms:W3CDTF">2026-09-22T05:11:37Z</dcterms:modified>
</cp:coreProperties>
</file>