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77"/>
  </p:notesMasterIdLst>
  <p:sldIdLst>
    <p:sldId id="341" r:id="rId2"/>
    <p:sldId id="346" r:id="rId3"/>
    <p:sldId id="257" r:id="rId4"/>
    <p:sldId id="354" r:id="rId5"/>
    <p:sldId id="262" r:id="rId6"/>
    <p:sldId id="347" r:id="rId7"/>
    <p:sldId id="348" r:id="rId8"/>
    <p:sldId id="368" r:id="rId9"/>
    <p:sldId id="369" r:id="rId10"/>
    <p:sldId id="370" r:id="rId11"/>
    <p:sldId id="349" r:id="rId12"/>
    <p:sldId id="265" r:id="rId13"/>
    <p:sldId id="350" r:id="rId14"/>
    <p:sldId id="345" r:id="rId15"/>
    <p:sldId id="269" r:id="rId16"/>
    <p:sldId id="387" r:id="rId17"/>
    <p:sldId id="357" r:id="rId18"/>
    <p:sldId id="362" r:id="rId19"/>
    <p:sldId id="376" r:id="rId20"/>
    <p:sldId id="363" r:id="rId21"/>
    <p:sldId id="377" r:id="rId22"/>
    <p:sldId id="364" r:id="rId23"/>
    <p:sldId id="365" r:id="rId24"/>
    <p:sldId id="366" r:id="rId25"/>
    <p:sldId id="378" r:id="rId26"/>
    <p:sldId id="367" r:id="rId27"/>
    <p:sldId id="391" r:id="rId28"/>
    <p:sldId id="358" r:id="rId29"/>
    <p:sldId id="381" r:id="rId30"/>
    <p:sldId id="382" r:id="rId31"/>
    <p:sldId id="392" r:id="rId32"/>
    <p:sldId id="359" r:id="rId33"/>
    <p:sldId id="410" r:id="rId34"/>
    <p:sldId id="411" r:id="rId35"/>
    <p:sldId id="384" r:id="rId36"/>
    <p:sldId id="412" r:id="rId37"/>
    <p:sldId id="413" r:id="rId38"/>
    <p:sldId id="414" r:id="rId39"/>
    <p:sldId id="415" r:id="rId40"/>
    <p:sldId id="419" r:id="rId41"/>
    <p:sldId id="393" r:id="rId42"/>
    <p:sldId id="420" r:id="rId43"/>
    <p:sldId id="421" r:id="rId44"/>
    <p:sldId id="423" r:id="rId45"/>
    <p:sldId id="424" r:id="rId46"/>
    <p:sldId id="425" r:id="rId47"/>
    <p:sldId id="422" r:id="rId48"/>
    <p:sldId id="417" r:id="rId49"/>
    <p:sldId id="426" r:id="rId50"/>
    <p:sldId id="418" r:id="rId51"/>
    <p:sldId id="388" r:id="rId52"/>
    <p:sldId id="389" r:id="rId53"/>
    <p:sldId id="390" r:id="rId54"/>
    <p:sldId id="394" r:id="rId55"/>
    <p:sldId id="356" r:id="rId56"/>
    <p:sldId id="379" r:id="rId57"/>
    <p:sldId id="380" r:id="rId58"/>
    <p:sldId id="396" r:id="rId59"/>
    <p:sldId id="397" r:id="rId60"/>
    <p:sldId id="395" r:id="rId61"/>
    <p:sldId id="398" r:id="rId62"/>
    <p:sldId id="399" r:id="rId63"/>
    <p:sldId id="402" r:id="rId64"/>
    <p:sldId id="403" r:id="rId65"/>
    <p:sldId id="406" r:id="rId66"/>
    <p:sldId id="342" r:id="rId67"/>
    <p:sldId id="344" r:id="rId68"/>
    <p:sldId id="372" r:id="rId69"/>
    <p:sldId id="373" r:id="rId70"/>
    <p:sldId id="427" r:id="rId71"/>
    <p:sldId id="374" r:id="rId72"/>
    <p:sldId id="343" r:id="rId73"/>
    <p:sldId id="353" r:id="rId74"/>
    <p:sldId id="371" r:id="rId75"/>
    <p:sldId id="375" r:id="rId7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6563E95-6225-4885-B071-803D336EA767}" v="4" dt="2024-06-12T11:21:34.8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16A38-F1B7-4F44-B1A5-8E1379A4DE78}" type="datetimeFigureOut">
              <a:rPr lang="en-IN" smtClean="0"/>
              <a:t>20-09-2026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92426D-EB91-4D43-887D-E5FCB4FB0DB5}" type="slidenum">
              <a:rPr lang="en-IN" smtClean="0"/>
              <a:t>‹#›</a:t>
            </a:fld>
            <a:endParaRPr lang="en-IN"/>
          </a:p>
        </p:txBody>
      </p:sp>
    </p:spTree>
    <p:extLst>
      <p:ext uri="{BB962C8B-B14F-4D97-AF65-F5344CB8AC3E}">
        <p14:creationId xmlns:p14="http://schemas.microsoft.com/office/powerpoint/2010/main" val="922940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5589374b7b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5589374b7b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22280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5589374b7b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5589374b7b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54823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5589374b7b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5589374b7b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6096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5589374b7b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5589374b7b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154150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5589374b7b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5589374b7b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185661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F6B2C9E-59DD-44DB-BC78-1341BCE98E52}" type="datetimeFigureOut">
              <a:rPr lang="en-IN" smtClean="0"/>
              <a:t>20-09-2026</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06BE5DE7-A7BC-455D-A978-2F6E2B0A169C}" type="slidenum">
              <a:rPr lang="en-IN" smtClean="0"/>
              <a:t>‹#›</a:t>
            </a:fld>
            <a:endParaRPr lang="en-IN"/>
          </a:p>
        </p:txBody>
      </p:sp>
    </p:spTree>
    <p:extLst>
      <p:ext uri="{BB962C8B-B14F-4D97-AF65-F5344CB8AC3E}">
        <p14:creationId xmlns:p14="http://schemas.microsoft.com/office/powerpoint/2010/main" val="3091221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6B2C9E-59DD-44DB-BC78-1341BCE98E52}" type="datetimeFigureOut">
              <a:rPr lang="en-IN" smtClean="0"/>
              <a:t>20-09-2026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6BE5DE7-A7BC-455D-A978-2F6E2B0A169C}" type="slidenum">
              <a:rPr lang="en-IN" smtClean="0"/>
              <a:t>‹#›</a:t>
            </a:fld>
            <a:endParaRPr lang="en-IN"/>
          </a:p>
        </p:txBody>
      </p:sp>
    </p:spTree>
    <p:extLst>
      <p:ext uri="{BB962C8B-B14F-4D97-AF65-F5344CB8AC3E}">
        <p14:creationId xmlns:p14="http://schemas.microsoft.com/office/powerpoint/2010/main" val="1475165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6B2C9E-59DD-44DB-BC78-1341BCE98E52}" type="datetimeFigureOut">
              <a:rPr lang="en-IN" smtClean="0"/>
              <a:t>20-09-2026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6BE5DE7-A7BC-455D-A978-2F6E2B0A169C}" type="slidenum">
              <a:rPr lang="en-IN" smtClean="0"/>
              <a:t>‹#›</a:t>
            </a:fld>
            <a:endParaRPr lang="en-IN"/>
          </a:p>
        </p:txBody>
      </p:sp>
    </p:spTree>
    <p:extLst>
      <p:ext uri="{BB962C8B-B14F-4D97-AF65-F5344CB8AC3E}">
        <p14:creationId xmlns:p14="http://schemas.microsoft.com/office/powerpoint/2010/main" val="457238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F6B2C9E-59DD-44DB-BC78-1341BCE98E52}" type="datetimeFigureOut">
              <a:rPr lang="en-IN" smtClean="0"/>
              <a:t>20-09-2026</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06BE5DE7-A7BC-455D-A978-2F6E2B0A169C}" type="slidenum">
              <a:rPr lang="en-IN" smtClean="0"/>
              <a:t>‹#›</a:t>
            </a:fld>
            <a:endParaRPr lang="en-IN"/>
          </a:p>
        </p:txBody>
      </p:sp>
    </p:spTree>
    <p:extLst>
      <p:ext uri="{BB962C8B-B14F-4D97-AF65-F5344CB8AC3E}">
        <p14:creationId xmlns:p14="http://schemas.microsoft.com/office/powerpoint/2010/main" val="16387442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F6B2C9E-59DD-44DB-BC78-1341BCE98E52}" type="datetimeFigureOut">
              <a:rPr lang="en-IN" smtClean="0"/>
              <a:t>20-09-2026</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06BE5DE7-A7BC-455D-A978-2F6E2B0A169C}" type="slidenum">
              <a:rPr lang="en-IN" smtClean="0"/>
              <a:t>‹#›</a:t>
            </a:fld>
            <a:endParaRPr lang="en-IN"/>
          </a:p>
        </p:txBody>
      </p:sp>
    </p:spTree>
    <p:extLst>
      <p:ext uri="{BB962C8B-B14F-4D97-AF65-F5344CB8AC3E}">
        <p14:creationId xmlns:p14="http://schemas.microsoft.com/office/powerpoint/2010/main" val="21248214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6B2C9E-59DD-44DB-BC78-1341BCE98E52}" type="datetimeFigureOut">
              <a:rPr lang="en-IN" smtClean="0"/>
              <a:t>20-09-2026</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06BE5DE7-A7BC-455D-A978-2F6E2B0A169C}" type="slidenum">
              <a:rPr lang="en-IN" smtClean="0"/>
              <a:t>‹#›</a:t>
            </a:fld>
            <a:endParaRPr lang="en-IN"/>
          </a:p>
        </p:txBody>
      </p:sp>
    </p:spTree>
    <p:extLst>
      <p:ext uri="{BB962C8B-B14F-4D97-AF65-F5344CB8AC3E}">
        <p14:creationId xmlns:p14="http://schemas.microsoft.com/office/powerpoint/2010/main" val="309500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6B2C9E-59DD-44DB-BC78-1341BCE98E52}" type="datetimeFigureOut">
              <a:rPr lang="en-IN" smtClean="0"/>
              <a:t>20-09-2026</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06BE5DE7-A7BC-455D-A978-2F6E2B0A169C}" type="slidenum">
              <a:rPr lang="en-IN" smtClean="0"/>
              <a:t>‹#›</a:t>
            </a:fld>
            <a:endParaRPr lang="en-IN"/>
          </a:p>
        </p:txBody>
      </p:sp>
    </p:spTree>
    <p:extLst>
      <p:ext uri="{BB962C8B-B14F-4D97-AF65-F5344CB8AC3E}">
        <p14:creationId xmlns:p14="http://schemas.microsoft.com/office/powerpoint/2010/main" val="1053300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6B2C9E-59DD-44DB-BC78-1341BCE98E52}" type="datetimeFigureOut">
              <a:rPr lang="en-IN" smtClean="0"/>
              <a:t>20-09-2026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06BE5DE7-A7BC-455D-A978-2F6E2B0A169C}" type="slidenum">
              <a:rPr lang="en-IN" smtClean="0"/>
              <a:t>‹#›</a:t>
            </a:fld>
            <a:endParaRPr lang="en-IN"/>
          </a:p>
        </p:txBody>
      </p:sp>
    </p:spTree>
    <p:extLst>
      <p:ext uri="{BB962C8B-B14F-4D97-AF65-F5344CB8AC3E}">
        <p14:creationId xmlns:p14="http://schemas.microsoft.com/office/powerpoint/2010/main" val="16522813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6B2C9E-59DD-44DB-BC78-1341BCE98E52}" type="datetimeFigureOut">
              <a:rPr lang="en-IN" smtClean="0"/>
              <a:t>20-09-2026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6BE5DE7-A7BC-455D-A978-2F6E2B0A169C}" type="slidenum">
              <a:rPr lang="en-IN" smtClean="0"/>
              <a:t>‹#›</a:t>
            </a:fld>
            <a:endParaRPr lang="en-IN"/>
          </a:p>
        </p:txBody>
      </p:sp>
    </p:spTree>
    <p:extLst>
      <p:ext uri="{BB962C8B-B14F-4D97-AF65-F5344CB8AC3E}">
        <p14:creationId xmlns:p14="http://schemas.microsoft.com/office/powerpoint/2010/main" val="3413730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6B2C9E-59DD-44DB-BC78-1341BCE98E52}" type="datetimeFigureOut">
              <a:rPr lang="en-IN" smtClean="0"/>
              <a:t>20-09-2026</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6BE5DE7-A7BC-455D-A978-2F6E2B0A169C}" type="slidenum">
              <a:rPr lang="en-IN" smtClean="0"/>
              <a:t>‹#›</a:t>
            </a:fld>
            <a:endParaRPr lang="en-IN"/>
          </a:p>
        </p:txBody>
      </p:sp>
    </p:spTree>
    <p:extLst>
      <p:ext uri="{BB962C8B-B14F-4D97-AF65-F5344CB8AC3E}">
        <p14:creationId xmlns:p14="http://schemas.microsoft.com/office/powerpoint/2010/main" val="12802840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6B2C9E-59DD-44DB-BC78-1341BCE98E52}" type="datetimeFigureOut">
              <a:rPr lang="en-IN" smtClean="0"/>
              <a:t>20-09-2026</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06BE5DE7-A7BC-455D-A978-2F6E2B0A169C}"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5695663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F6B2C9E-59DD-44DB-BC78-1341BCE98E52}" type="datetimeFigureOut">
              <a:rPr lang="en-IN" smtClean="0"/>
              <a:t>20-09-2026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6BE5DE7-A7BC-455D-A978-2F6E2B0A169C}" type="slidenum">
              <a:rPr lang="en-IN" smtClean="0"/>
              <a:t>‹#›</a:t>
            </a:fld>
            <a:endParaRPr lang="en-IN"/>
          </a:p>
        </p:txBody>
      </p:sp>
    </p:spTree>
    <p:extLst>
      <p:ext uri="{BB962C8B-B14F-4D97-AF65-F5344CB8AC3E}">
        <p14:creationId xmlns:p14="http://schemas.microsoft.com/office/powerpoint/2010/main" val="7403344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F6B2C9E-59DD-44DB-BC78-1341BCE98E52}" type="datetimeFigureOut">
              <a:rPr lang="en-IN" smtClean="0"/>
              <a:t>20-09-2026</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6BE5DE7-A7BC-455D-A978-2F6E2B0A169C}"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600180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8F6B2C9E-59DD-44DB-BC78-1341BCE98E52}" type="datetimeFigureOut">
              <a:rPr lang="en-IN" smtClean="0"/>
              <a:t>20-09-2026</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06BE5DE7-A7BC-455D-A978-2F6E2B0A169C}" type="slidenum">
              <a:rPr lang="en-IN" smtClean="0"/>
              <a:t>‹#›</a:t>
            </a:fld>
            <a:endParaRPr lang="en-IN"/>
          </a:p>
        </p:txBody>
      </p:sp>
    </p:spTree>
    <p:extLst>
      <p:ext uri="{BB962C8B-B14F-4D97-AF65-F5344CB8AC3E}">
        <p14:creationId xmlns:p14="http://schemas.microsoft.com/office/powerpoint/2010/main" val="27645608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6B2C9E-59DD-44DB-BC78-1341BCE98E52}" type="datetimeFigureOut">
              <a:rPr lang="en-IN" smtClean="0"/>
              <a:t>20-09-2026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6BE5DE7-A7BC-455D-A978-2F6E2B0A169C}" type="slidenum">
              <a:rPr lang="en-IN" smtClean="0"/>
              <a:t>‹#›</a:t>
            </a:fld>
            <a:endParaRPr lang="en-IN"/>
          </a:p>
        </p:txBody>
      </p:sp>
    </p:spTree>
    <p:extLst>
      <p:ext uri="{BB962C8B-B14F-4D97-AF65-F5344CB8AC3E}">
        <p14:creationId xmlns:p14="http://schemas.microsoft.com/office/powerpoint/2010/main" val="40338629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6B2C9E-59DD-44DB-BC78-1341BCE98E52}" type="datetimeFigureOut">
              <a:rPr lang="en-IN" smtClean="0"/>
              <a:t>20-09-2026</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06BE5DE7-A7BC-455D-A978-2F6E2B0A169C}" type="slidenum">
              <a:rPr lang="en-IN" smtClean="0"/>
              <a:t>‹#›</a:t>
            </a:fld>
            <a:endParaRPr lang="en-IN"/>
          </a:p>
        </p:txBody>
      </p:sp>
    </p:spTree>
    <p:extLst>
      <p:ext uri="{BB962C8B-B14F-4D97-AF65-F5344CB8AC3E}">
        <p14:creationId xmlns:p14="http://schemas.microsoft.com/office/powerpoint/2010/main" val="21644621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Picture with Caption" type="picTx">
  <p:cSld name="1_Picture with Caption">
    <p:spTree>
      <p:nvGrpSpPr>
        <p:cNvPr id="1" name="Shape 102"/>
        <p:cNvGrpSpPr/>
        <p:nvPr/>
      </p:nvGrpSpPr>
      <p:grpSpPr>
        <a:xfrm>
          <a:off x="0" y="0"/>
          <a:ext cx="0" cy="0"/>
          <a:chOff x="0" y="0"/>
          <a:chExt cx="0" cy="0"/>
        </a:xfrm>
      </p:grpSpPr>
      <p:sp>
        <p:nvSpPr>
          <p:cNvPr id="103" name="Google Shape;103;p10"/>
          <p:cNvSpPr txBox="1">
            <a:spLocks noGrp="1"/>
          </p:cNvSpPr>
          <p:nvPr>
            <p:ph type="title"/>
          </p:nvPr>
        </p:nvSpPr>
        <p:spPr>
          <a:xfrm>
            <a:off x="839789" y="457200"/>
            <a:ext cx="3932400" cy="1600400"/>
          </a:xfrm>
          <a:prstGeom prst="rect">
            <a:avLst/>
          </a:prstGeom>
          <a:noFill/>
          <a:ln>
            <a:noFill/>
          </a:ln>
        </p:spPr>
        <p:txBody>
          <a:bodyPr spcFirstLastPara="1" wrap="square" lIns="43975" tIns="21975" rIns="43975" bIns="21975" anchor="b" anchorCtr="0">
            <a:normAutofit/>
          </a:bodyPr>
          <a:lstStyle>
            <a:lvl1pPr lvl="0" algn="l">
              <a:lnSpc>
                <a:spcPct val="90000"/>
              </a:lnSpc>
              <a:spcBef>
                <a:spcPts val="0"/>
              </a:spcBef>
              <a:spcAft>
                <a:spcPts val="0"/>
              </a:spcAft>
              <a:buClr>
                <a:srgbClr val="C00000"/>
              </a:buClr>
              <a:buSzPts val="2400"/>
              <a:buFont typeface="Calibri"/>
              <a:buNone/>
              <a:defRPr sz="3200"/>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04" name="Google Shape;104;p10"/>
          <p:cNvSpPr>
            <a:spLocks noGrp="1"/>
          </p:cNvSpPr>
          <p:nvPr>
            <p:ph type="pic" idx="2"/>
          </p:nvPr>
        </p:nvSpPr>
        <p:spPr>
          <a:xfrm>
            <a:off x="5183192" y="987425"/>
            <a:ext cx="6172400" cy="4873600"/>
          </a:xfrm>
          <a:prstGeom prst="rect">
            <a:avLst/>
          </a:prstGeom>
          <a:noFill/>
          <a:ln>
            <a:noFill/>
          </a:ln>
        </p:spPr>
      </p:sp>
      <p:sp>
        <p:nvSpPr>
          <p:cNvPr id="105" name="Google Shape;105;p10"/>
          <p:cNvSpPr txBox="1">
            <a:spLocks noGrp="1"/>
          </p:cNvSpPr>
          <p:nvPr>
            <p:ph type="body" idx="1"/>
          </p:nvPr>
        </p:nvSpPr>
        <p:spPr>
          <a:xfrm>
            <a:off x="839789" y="2057400"/>
            <a:ext cx="3932400" cy="3811600"/>
          </a:xfrm>
          <a:prstGeom prst="rect">
            <a:avLst/>
          </a:prstGeom>
          <a:noFill/>
          <a:ln>
            <a:noFill/>
          </a:ln>
        </p:spPr>
        <p:txBody>
          <a:bodyPr spcFirstLastPara="1" wrap="square" lIns="43975" tIns="21975" rIns="43975" bIns="21975" anchor="t" anchorCtr="0">
            <a:normAutofit/>
          </a:bodyPr>
          <a:lstStyle>
            <a:lvl1pPr marL="609585" lvl="0" indent="-304792" algn="l">
              <a:lnSpc>
                <a:spcPct val="90000"/>
              </a:lnSpc>
              <a:spcBef>
                <a:spcPts val="933"/>
              </a:spcBef>
              <a:spcAft>
                <a:spcPts val="0"/>
              </a:spcAft>
              <a:buClr>
                <a:schemeClr val="dk1"/>
              </a:buClr>
              <a:buSzPts val="1200"/>
              <a:buNone/>
              <a:defRPr sz="1600"/>
            </a:lvl1pPr>
            <a:lvl2pPr marL="1219170" lvl="1" indent="-304792" algn="l">
              <a:lnSpc>
                <a:spcPct val="90000"/>
              </a:lnSpc>
              <a:spcBef>
                <a:spcPts val="533"/>
              </a:spcBef>
              <a:spcAft>
                <a:spcPts val="0"/>
              </a:spcAft>
              <a:buClr>
                <a:schemeClr val="dk1"/>
              </a:buClr>
              <a:buSzPts val="1100"/>
              <a:buNone/>
              <a:defRPr sz="1467"/>
            </a:lvl2pPr>
            <a:lvl3pPr marL="1828754" lvl="2" indent="-304792" algn="l">
              <a:lnSpc>
                <a:spcPct val="90000"/>
              </a:lnSpc>
              <a:spcBef>
                <a:spcPts val="533"/>
              </a:spcBef>
              <a:spcAft>
                <a:spcPts val="0"/>
              </a:spcAft>
              <a:buClr>
                <a:schemeClr val="dk1"/>
              </a:buClr>
              <a:buSzPts val="900"/>
              <a:buNone/>
              <a:defRPr sz="1200"/>
            </a:lvl3pPr>
            <a:lvl4pPr marL="2438339" lvl="3" indent="-304792" algn="l">
              <a:lnSpc>
                <a:spcPct val="90000"/>
              </a:lnSpc>
              <a:spcBef>
                <a:spcPts val="533"/>
              </a:spcBef>
              <a:spcAft>
                <a:spcPts val="0"/>
              </a:spcAft>
              <a:buClr>
                <a:schemeClr val="dk1"/>
              </a:buClr>
              <a:buSzPts val="700"/>
              <a:buNone/>
              <a:defRPr sz="933"/>
            </a:lvl4pPr>
            <a:lvl5pPr marL="3047924" lvl="4" indent="-304792" algn="l">
              <a:lnSpc>
                <a:spcPct val="90000"/>
              </a:lnSpc>
              <a:spcBef>
                <a:spcPts val="533"/>
              </a:spcBef>
              <a:spcAft>
                <a:spcPts val="0"/>
              </a:spcAft>
              <a:buClr>
                <a:schemeClr val="dk1"/>
              </a:buClr>
              <a:buSzPts val="700"/>
              <a:buNone/>
              <a:defRPr sz="933"/>
            </a:lvl5pPr>
            <a:lvl6pPr marL="3657509" lvl="5" indent="-304792" algn="l">
              <a:lnSpc>
                <a:spcPct val="90000"/>
              </a:lnSpc>
              <a:spcBef>
                <a:spcPts val="533"/>
              </a:spcBef>
              <a:spcAft>
                <a:spcPts val="0"/>
              </a:spcAft>
              <a:buClr>
                <a:schemeClr val="dk1"/>
              </a:buClr>
              <a:buSzPts val="700"/>
              <a:buNone/>
              <a:defRPr sz="933"/>
            </a:lvl6pPr>
            <a:lvl7pPr marL="4267093" lvl="6" indent="-304792" algn="l">
              <a:lnSpc>
                <a:spcPct val="90000"/>
              </a:lnSpc>
              <a:spcBef>
                <a:spcPts val="533"/>
              </a:spcBef>
              <a:spcAft>
                <a:spcPts val="0"/>
              </a:spcAft>
              <a:buClr>
                <a:schemeClr val="dk1"/>
              </a:buClr>
              <a:buSzPts val="700"/>
              <a:buNone/>
              <a:defRPr sz="933"/>
            </a:lvl7pPr>
            <a:lvl8pPr marL="4876678" lvl="7" indent="-304792" algn="l">
              <a:lnSpc>
                <a:spcPct val="90000"/>
              </a:lnSpc>
              <a:spcBef>
                <a:spcPts val="533"/>
              </a:spcBef>
              <a:spcAft>
                <a:spcPts val="0"/>
              </a:spcAft>
              <a:buClr>
                <a:schemeClr val="dk1"/>
              </a:buClr>
              <a:buSzPts val="700"/>
              <a:buNone/>
              <a:defRPr sz="933"/>
            </a:lvl8pPr>
            <a:lvl9pPr marL="5486263" lvl="8" indent="-304792" algn="l">
              <a:lnSpc>
                <a:spcPct val="90000"/>
              </a:lnSpc>
              <a:spcBef>
                <a:spcPts val="533"/>
              </a:spcBef>
              <a:spcAft>
                <a:spcPts val="0"/>
              </a:spcAft>
              <a:buClr>
                <a:schemeClr val="dk1"/>
              </a:buClr>
              <a:buSzPts val="700"/>
              <a:buNone/>
              <a:defRPr sz="933"/>
            </a:lvl9pPr>
          </a:lstStyle>
          <a:p>
            <a:endParaRPr/>
          </a:p>
        </p:txBody>
      </p:sp>
      <p:sp>
        <p:nvSpPr>
          <p:cNvPr id="106" name="Google Shape;106;p10"/>
          <p:cNvSpPr txBox="1">
            <a:spLocks noGrp="1"/>
          </p:cNvSpPr>
          <p:nvPr>
            <p:ph type="dt" idx="10"/>
          </p:nvPr>
        </p:nvSpPr>
        <p:spPr>
          <a:xfrm>
            <a:off x="838200" y="6356351"/>
            <a:ext cx="2743200" cy="365200"/>
          </a:xfrm>
          <a:prstGeom prst="rect">
            <a:avLst/>
          </a:prstGeom>
          <a:noFill/>
          <a:ln>
            <a:noFill/>
          </a:ln>
        </p:spPr>
        <p:txBody>
          <a:bodyPr spcFirstLastPara="1" wrap="square" lIns="43975" tIns="21975" rIns="43975" bIns="21975"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7" name="Google Shape;107;p10"/>
          <p:cNvSpPr txBox="1">
            <a:spLocks noGrp="1"/>
          </p:cNvSpPr>
          <p:nvPr>
            <p:ph type="ftr" idx="11"/>
          </p:nvPr>
        </p:nvSpPr>
        <p:spPr>
          <a:xfrm>
            <a:off x="4038603" y="6356351"/>
            <a:ext cx="4114800" cy="365200"/>
          </a:xfrm>
          <a:prstGeom prst="rect">
            <a:avLst/>
          </a:prstGeom>
          <a:noFill/>
          <a:ln>
            <a:noFill/>
          </a:ln>
        </p:spPr>
        <p:txBody>
          <a:bodyPr spcFirstLastPara="1" wrap="square" lIns="43975" tIns="21975" rIns="43975" bIns="21975"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8" name="Google Shape;108;p10"/>
          <p:cNvSpPr txBox="1">
            <a:spLocks noGrp="1"/>
          </p:cNvSpPr>
          <p:nvPr>
            <p:ph type="sldNum" idx="12"/>
          </p:nvPr>
        </p:nvSpPr>
        <p:spPr>
          <a:xfrm>
            <a:off x="8610607" y="6356351"/>
            <a:ext cx="2743200" cy="365200"/>
          </a:xfrm>
          <a:prstGeom prst="rect">
            <a:avLst/>
          </a:prstGeom>
          <a:noFill/>
          <a:ln>
            <a:noFill/>
          </a:ln>
        </p:spPr>
        <p:txBody>
          <a:bodyPr spcFirstLastPara="1" wrap="square" lIns="43975" tIns="21975" rIns="43975" bIns="219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 smtClean="0"/>
              <a:pPr/>
              <a:t>‹#›</a:t>
            </a:fld>
            <a:endParaRPr lang="en"/>
          </a:p>
        </p:txBody>
      </p:sp>
      <p:grpSp>
        <p:nvGrpSpPr>
          <p:cNvPr id="109" name="Google Shape;109;p10"/>
          <p:cNvGrpSpPr/>
          <p:nvPr/>
        </p:nvGrpSpPr>
        <p:grpSpPr>
          <a:xfrm>
            <a:off x="0" y="6721477"/>
            <a:ext cx="12192275" cy="136583"/>
            <a:chOff x="0" y="0"/>
            <a:chExt cx="19010823" cy="1112239"/>
          </a:xfrm>
        </p:grpSpPr>
        <p:sp>
          <p:nvSpPr>
            <p:cNvPr id="110" name="Google Shape;110;p10"/>
            <p:cNvSpPr/>
            <p:nvPr/>
          </p:nvSpPr>
          <p:spPr>
            <a:xfrm>
              <a:off x="0" y="0"/>
              <a:ext cx="4782788" cy="1112239"/>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FFD96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11" name="Google Shape;111;p10"/>
            <p:cNvSpPr/>
            <p:nvPr/>
          </p:nvSpPr>
          <p:spPr>
            <a:xfrm>
              <a:off x="14250507" y="0"/>
              <a:ext cx="4760316" cy="1112239"/>
            </a:xfrm>
            <a:custGeom>
              <a:avLst/>
              <a:gdLst/>
              <a:ahLst/>
              <a:cxnLst/>
              <a:rect l="l" t="t" r="r" b="b"/>
              <a:pathLst>
                <a:path w="1883409" h="440055" extrusionOk="0">
                  <a:moveTo>
                    <a:pt x="0" y="0"/>
                  </a:moveTo>
                  <a:lnTo>
                    <a:pt x="0" y="439737"/>
                  </a:lnTo>
                  <a:lnTo>
                    <a:pt x="1883155" y="439737"/>
                  </a:lnTo>
                  <a:lnTo>
                    <a:pt x="1883155" y="0"/>
                  </a:lnTo>
                  <a:lnTo>
                    <a:pt x="0" y="0"/>
                  </a:lnTo>
                  <a:close/>
                </a:path>
              </a:pathLst>
            </a:custGeom>
            <a:solidFill>
              <a:srgbClr val="BF9000"/>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12" name="Google Shape;112;p10"/>
            <p:cNvSpPr/>
            <p:nvPr/>
          </p:nvSpPr>
          <p:spPr>
            <a:xfrm>
              <a:off x="4750169" y="0"/>
              <a:ext cx="4782788" cy="1112239"/>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2F5496"/>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113" name="Google Shape;113;p10"/>
            <p:cNvSpPr/>
            <p:nvPr/>
          </p:nvSpPr>
          <p:spPr>
            <a:xfrm>
              <a:off x="9500338" y="0"/>
              <a:ext cx="4782788" cy="1112239"/>
            </a:xfrm>
            <a:custGeom>
              <a:avLst/>
              <a:gdLst/>
              <a:ahLst/>
              <a:cxnLst/>
              <a:rect l="l" t="t" r="r" b="b"/>
              <a:pathLst>
                <a:path w="1892300" h="440055" extrusionOk="0">
                  <a:moveTo>
                    <a:pt x="0" y="439737"/>
                  </a:moveTo>
                  <a:lnTo>
                    <a:pt x="1892300" y="439737"/>
                  </a:lnTo>
                  <a:lnTo>
                    <a:pt x="1892300" y="0"/>
                  </a:lnTo>
                  <a:lnTo>
                    <a:pt x="0" y="0"/>
                  </a:lnTo>
                  <a:lnTo>
                    <a:pt x="0" y="439737"/>
                  </a:lnTo>
                  <a:close/>
                </a:path>
              </a:pathLst>
            </a:custGeom>
            <a:solidFill>
              <a:srgbClr val="323F4F"/>
            </a:solidFill>
            <a:ln>
              <a:noFill/>
            </a:ln>
          </p:spPr>
          <p:txBody>
            <a:bodyPr spcFirstLastPara="1" wrap="square" lIns="0" tIns="0" rIns="0" bIns="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2128270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8F6B2C9E-59DD-44DB-BC78-1341BCE98E52}" type="datetimeFigureOut">
              <a:rPr lang="en-IN" smtClean="0"/>
              <a:t>20-09-2026</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06BE5DE7-A7BC-455D-A978-2F6E2B0A169C}" type="slidenum">
              <a:rPr lang="en-IN" smtClean="0"/>
              <a:t>‹#›</a:t>
            </a:fld>
            <a:endParaRPr lang="en-IN"/>
          </a:p>
        </p:txBody>
      </p:sp>
    </p:spTree>
    <p:extLst>
      <p:ext uri="{BB962C8B-B14F-4D97-AF65-F5344CB8AC3E}">
        <p14:creationId xmlns:p14="http://schemas.microsoft.com/office/powerpoint/2010/main" val="28753090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6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hyperlink" Target="mailto:abc@paramutkarsh.cdacb.in"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500" y="2831240"/>
            <a:ext cx="10515600" cy="939600"/>
          </a:xfrm>
        </p:spPr>
        <p:txBody>
          <a:bodyPr>
            <a:noAutofit/>
          </a:bodyPr>
          <a:lstStyle/>
          <a:p>
            <a:pPr lvl="0" algn="ctr"/>
            <a:r>
              <a:rPr lang="en-US" sz="5867" dirty="0"/>
              <a:t>HPC Clusters and Architecture</a:t>
            </a:r>
          </a:p>
        </p:txBody>
      </p:sp>
      <p:sp>
        <p:nvSpPr>
          <p:cNvPr id="5" name="Slide Number Placeholder 4"/>
          <p:cNvSpPr>
            <a:spLocks noGrp="1"/>
          </p:cNvSpPr>
          <p:nvPr>
            <p:ph type="sldNum" idx="12"/>
          </p:nvPr>
        </p:nvSpPr>
        <p:spPr/>
        <p:txBody>
          <a:bodyPr/>
          <a:lstStyle/>
          <a:p>
            <a:fld id="{00000000-1234-1234-1234-123412341234}" type="slidenum">
              <a:rPr lang="en" smtClean="0"/>
              <a:pPr/>
              <a:t>1</a:t>
            </a:fld>
            <a:endParaRPr lang="e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Text Placeholder 2"/>
          <p:cNvSpPr>
            <a:spLocks noGrp="1"/>
          </p:cNvSpPr>
          <p:nvPr>
            <p:ph type="body" idx="1"/>
          </p:nvPr>
        </p:nvSpPr>
        <p:spPr/>
        <p:txBody>
          <a:bodyPr>
            <a:normAutofit fontScale="92500" lnSpcReduction="10000"/>
          </a:bodyPr>
          <a:lstStyle/>
          <a:p>
            <a:pPr lvl="0">
              <a:buNone/>
            </a:pPr>
            <a:r>
              <a:rPr lang="en-US" dirty="0"/>
              <a:t>          </a:t>
            </a:r>
          </a:p>
          <a:p>
            <a:pPr lvl="0"/>
            <a:r>
              <a:rPr lang="en-US" dirty="0"/>
              <a:t>HPC Clusters and Architecture 	   </a:t>
            </a:r>
          </a:p>
          <a:p>
            <a:pPr lvl="0"/>
            <a:r>
              <a:rPr lang="en-US" dirty="0"/>
              <a:t>HPC system components 	</a:t>
            </a:r>
          </a:p>
          <a:p>
            <a:pPr lvl="0"/>
            <a:r>
              <a:rPr lang="en-US" dirty="0"/>
              <a:t>Parallel file systems					</a:t>
            </a:r>
          </a:p>
          <a:p>
            <a:pPr lvl="0"/>
            <a:r>
              <a:rPr lang="en-US" dirty="0"/>
              <a:t>Performance Parameters for supercomputers     			</a:t>
            </a:r>
          </a:p>
          <a:p>
            <a:pPr lvl="0"/>
            <a:r>
              <a:rPr lang="en-US" dirty="0"/>
              <a:t>Cluster Design and network considerations			</a:t>
            </a:r>
          </a:p>
          <a:p>
            <a:pPr lvl="0"/>
            <a:r>
              <a:rPr lang="en-US" dirty="0"/>
              <a:t>Components of supercomputer Network			</a:t>
            </a:r>
          </a:p>
          <a:p>
            <a:pPr lvl="0"/>
            <a:r>
              <a:rPr lang="en-US" dirty="0"/>
              <a:t>Building a Linux cluster 				</a:t>
            </a:r>
          </a:p>
          <a:p>
            <a:pPr lvl="0"/>
            <a:r>
              <a:rPr lang="en-US" dirty="0"/>
              <a:t>HPC cluster security				</a:t>
            </a:r>
          </a:p>
          <a:p>
            <a:pPr marL="0" lvl="0" indent="0">
              <a:buNone/>
            </a:pPr>
            <a:r>
              <a:rPr lang="en-US" dirty="0"/>
              <a:t>		</a:t>
            </a:r>
          </a:p>
          <a:p>
            <a:pPr>
              <a:buNone/>
            </a:pPr>
            <a:endParaRPr lang="en-US" dirty="0"/>
          </a:p>
        </p:txBody>
      </p:sp>
      <p:sp>
        <p:nvSpPr>
          <p:cNvPr id="5" name="Slide Number Placeholder 4"/>
          <p:cNvSpPr>
            <a:spLocks noGrp="1"/>
          </p:cNvSpPr>
          <p:nvPr>
            <p:ph type="sldNum" idx="12"/>
          </p:nvPr>
        </p:nvSpPr>
        <p:spPr/>
        <p:txBody>
          <a:bodyPr/>
          <a:lstStyle/>
          <a:p>
            <a:fld id="{00000000-1234-1234-1234-123412341234}" type="slidenum">
              <a:rPr lang="en" smtClean="0"/>
              <a:pPr/>
              <a:t>2</a:t>
            </a:fld>
            <a:endParaRPr lang="e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3" name="Rectangle 2"/>
          <p:cNvSpPr/>
          <p:nvPr/>
        </p:nvSpPr>
        <p:spPr>
          <a:xfrm>
            <a:off x="976828" y="124979"/>
            <a:ext cx="9997641" cy="687432"/>
          </a:xfrm>
          <a:prstGeom prst="rect">
            <a:avLst/>
          </a:prstGeom>
        </p:spPr>
        <p:txBody>
          <a:bodyPr wrap="square">
            <a:spAutoFit/>
          </a:bodyPr>
          <a:lstStyle/>
          <a:p>
            <a:pPr algn="ctr"/>
            <a:r>
              <a:rPr lang="en-US" sz="3867" dirty="0">
                <a:solidFill>
                  <a:srgbClr val="C00000"/>
                </a:solidFill>
                <a:latin typeface="Calibri"/>
                <a:ea typeface="Calibri"/>
                <a:cs typeface="Calibri"/>
                <a:sym typeface="Calibri"/>
              </a:rPr>
              <a:t>What is HPC</a:t>
            </a:r>
          </a:p>
        </p:txBody>
      </p:sp>
      <p:sp>
        <p:nvSpPr>
          <p:cNvPr id="5" name="Rectangle 4"/>
          <p:cNvSpPr/>
          <p:nvPr/>
        </p:nvSpPr>
        <p:spPr>
          <a:xfrm>
            <a:off x="405206" y="892935"/>
            <a:ext cx="11271020" cy="5877828"/>
          </a:xfrm>
          <a:prstGeom prst="rect">
            <a:avLst/>
          </a:prstGeom>
        </p:spPr>
        <p:txBody>
          <a:bodyPr wrap="square">
            <a:spAutoFit/>
          </a:bodyPr>
          <a:lstStyle/>
          <a:p>
            <a:pPr>
              <a:lnSpc>
                <a:spcPct val="150000"/>
              </a:lnSpc>
            </a:pPr>
            <a:r>
              <a:rPr lang="en-US" sz="2133" dirty="0"/>
              <a:t>Definition1:</a:t>
            </a:r>
          </a:p>
          <a:p>
            <a:pPr>
              <a:lnSpc>
                <a:spcPct val="150000"/>
              </a:lnSpc>
            </a:pPr>
            <a:r>
              <a:rPr lang="en-US" sz="2133" dirty="0"/>
              <a:t>High Performance Computing (HPC) uses parallel processing to run complex application programs rapidly, effectively, and with high reliability. The term applies especially to systems that function above a teraflop or 1012  floating-point operations per second.  The term HPC is occasionally used as a synonym for supercomputing, although technically a supercomputer is a system that performs at or near the currently highest operational rate for computers.</a:t>
            </a:r>
          </a:p>
          <a:p>
            <a:pPr>
              <a:lnSpc>
                <a:spcPct val="150000"/>
              </a:lnSpc>
            </a:pPr>
            <a:endParaRPr lang="en-US" sz="2133" dirty="0"/>
          </a:p>
          <a:p>
            <a:pPr>
              <a:lnSpc>
                <a:spcPct val="150000"/>
              </a:lnSpc>
            </a:pPr>
            <a:r>
              <a:rPr lang="en-US" sz="2133" dirty="0"/>
              <a:t>Definition2:</a:t>
            </a:r>
          </a:p>
          <a:p>
            <a:pPr>
              <a:lnSpc>
                <a:spcPct val="150000"/>
              </a:lnSpc>
            </a:pPr>
            <a:r>
              <a:rPr lang="en-US" sz="2133" dirty="0"/>
              <a:t>High-performance computing (HPC) is a technique for quickly processing massive volumes of data and carrying out difficult computations.</a:t>
            </a:r>
          </a:p>
          <a:p>
            <a:endParaRPr lang="en-US" sz="2400" dirty="0"/>
          </a:p>
        </p:txBody>
      </p:sp>
      <p:sp>
        <p:nvSpPr>
          <p:cNvPr id="10" name="Slide Number Placeholder 9"/>
          <p:cNvSpPr>
            <a:spLocks noGrp="1"/>
          </p:cNvSpPr>
          <p:nvPr>
            <p:ph type="sldNum" idx="12"/>
          </p:nvPr>
        </p:nvSpPr>
        <p:spPr/>
        <p:txBody>
          <a:bodyPr/>
          <a:lstStyle/>
          <a:p>
            <a:fld id="{00000000-1234-1234-1234-123412341234}" type="slidenum">
              <a:rPr lang="en" smtClean="0"/>
              <a:pPr/>
              <a:t>3</a:t>
            </a:fld>
            <a:endParaRPr lang="e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3" name="Rectangle 2"/>
          <p:cNvSpPr/>
          <p:nvPr/>
        </p:nvSpPr>
        <p:spPr>
          <a:xfrm>
            <a:off x="2662065" y="338084"/>
            <a:ext cx="6096000" cy="687432"/>
          </a:xfrm>
          <a:prstGeom prst="rect">
            <a:avLst/>
          </a:prstGeom>
        </p:spPr>
        <p:txBody>
          <a:bodyPr>
            <a:spAutoFit/>
          </a:bodyPr>
          <a:lstStyle/>
          <a:p>
            <a:pPr fontAlgn="base"/>
            <a:r>
              <a:rPr lang="en-IN" sz="3867" dirty="0">
                <a:solidFill>
                  <a:srgbClr val="C00000"/>
                </a:solidFill>
                <a:latin typeface="Calibri"/>
                <a:ea typeface="Calibri"/>
                <a:cs typeface="Calibri"/>
                <a:sym typeface="Calibri"/>
              </a:rPr>
              <a:t>What is a Supercomputer? </a:t>
            </a:r>
          </a:p>
        </p:txBody>
      </p:sp>
      <p:sp>
        <p:nvSpPr>
          <p:cNvPr id="5" name="Rectangle 4"/>
          <p:cNvSpPr/>
          <p:nvPr/>
        </p:nvSpPr>
        <p:spPr>
          <a:xfrm>
            <a:off x="456103" y="1172811"/>
            <a:ext cx="11271020" cy="4830681"/>
          </a:xfrm>
          <a:prstGeom prst="rect">
            <a:avLst/>
          </a:prstGeom>
        </p:spPr>
        <p:txBody>
          <a:bodyPr wrap="square">
            <a:spAutoFit/>
          </a:bodyPr>
          <a:lstStyle/>
          <a:p>
            <a:pPr marL="380990" indent="-380990">
              <a:buFont typeface="Arial" panose="020B0604020202020204" pitchFamily="34" charset="0"/>
              <a:buChar char="•"/>
            </a:pPr>
            <a:endParaRPr lang="en-US" sz="2400" dirty="0"/>
          </a:p>
          <a:p>
            <a:pPr marL="380990" lvl="1" indent="-380990" algn="just">
              <a:lnSpc>
                <a:spcPct val="150000"/>
              </a:lnSpc>
              <a:buFont typeface="Arial" panose="020B0604020202020204" pitchFamily="34" charset="0"/>
              <a:buChar char="•"/>
            </a:pPr>
            <a:r>
              <a:rPr lang="en-US" sz="2133" dirty="0"/>
              <a:t>A supercomputer is a type of computer that has far higher processing capabilities than a general-purpose computer like a desktop or laptop for personal use.</a:t>
            </a:r>
          </a:p>
          <a:p>
            <a:pPr marL="380990" lvl="1" indent="-380990" algn="just">
              <a:lnSpc>
                <a:spcPct val="150000"/>
              </a:lnSpc>
              <a:buFont typeface="Arial" panose="020B0604020202020204" pitchFamily="34" charset="0"/>
              <a:buChar char="•"/>
            </a:pPr>
            <a:endParaRPr lang="en-US" sz="2133" dirty="0"/>
          </a:p>
          <a:p>
            <a:pPr marL="380990" lvl="1" indent="-380990" algn="just">
              <a:lnSpc>
                <a:spcPct val="150000"/>
              </a:lnSpc>
              <a:buFont typeface="Arial" panose="020B0604020202020204" pitchFamily="34" charset="0"/>
              <a:buChar char="•"/>
            </a:pPr>
            <a:r>
              <a:rPr lang="en-US" sz="2133" dirty="0"/>
              <a:t>A supercomputer is a highly reliable computing system that can process data at rates measured in billions of floating-point operations per second (FLOPS) or instructions per second. </a:t>
            </a:r>
          </a:p>
          <a:p>
            <a:pPr marL="380990" lvl="1" indent="-380990" algn="just">
              <a:lnSpc>
                <a:spcPct val="150000"/>
              </a:lnSpc>
              <a:buFont typeface="Arial" panose="020B0604020202020204" pitchFamily="34" charset="0"/>
              <a:buChar char="•"/>
            </a:pPr>
            <a:endParaRPr lang="en-US" sz="2133" dirty="0"/>
          </a:p>
          <a:p>
            <a:pPr marL="380990" lvl="1" indent="-380990" algn="just">
              <a:lnSpc>
                <a:spcPct val="150000"/>
              </a:lnSpc>
              <a:buFont typeface="Arial" panose="020B0604020202020204" pitchFamily="34" charset="0"/>
              <a:buChar char="•"/>
            </a:pPr>
            <a:r>
              <a:rPr lang="en-US" sz="2133" dirty="0"/>
              <a:t>Supercomputers are purpose-built computers used by engineers and scientists to tackle scientific and mathematical challenges.</a:t>
            </a:r>
          </a:p>
        </p:txBody>
      </p:sp>
      <p:sp>
        <p:nvSpPr>
          <p:cNvPr id="7" name="Slide Number Placeholder 6"/>
          <p:cNvSpPr>
            <a:spLocks noGrp="1"/>
          </p:cNvSpPr>
          <p:nvPr>
            <p:ph type="sldNum" idx="12"/>
          </p:nvPr>
        </p:nvSpPr>
        <p:spPr/>
        <p:txBody>
          <a:bodyPr/>
          <a:lstStyle/>
          <a:p>
            <a:fld id="{00000000-1234-1234-1234-123412341234}" type="slidenum">
              <a:rPr lang="en" smtClean="0"/>
              <a:pPr/>
              <a:t>4</a:t>
            </a:fld>
            <a:endParaRPr lang="en"/>
          </a:p>
        </p:txBody>
      </p:sp>
    </p:spTree>
    <p:extLst>
      <p:ext uri="{BB962C8B-B14F-4D97-AF65-F5344CB8AC3E}">
        <p14:creationId xmlns:p14="http://schemas.microsoft.com/office/powerpoint/2010/main" val="3553915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6" name="Rectangle 5"/>
          <p:cNvSpPr/>
          <p:nvPr/>
        </p:nvSpPr>
        <p:spPr>
          <a:xfrm>
            <a:off x="315125" y="668168"/>
            <a:ext cx="11271020" cy="5672258"/>
          </a:xfrm>
          <a:prstGeom prst="rect">
            <a:avLst/>
          </a:prstGeom>
        </p:spPr>
        <p:txBody>
          <a:bodyPr wrap="square">
            <a:spAutoFit/>
          </a:bodyPr>
          <a:lstStyle/>
          <a:p>
            <a:pPr algn="ctr"/>
            <a:r>
              <a:rPr lang="en-US" sz="2133" dirty="0"/>
              <a:t>What is </a:t>
            </a:r>
            <a:r>
              <a:rPr lang="en-IN" sz="2133" dirty="0"/>
              <a:t>HPC Architecture?</a:t>
            </a:r>
          </a:p>
          <a:p>
            <a:pPr algn="ctr"/>
            <a:endParaRPr lang="en-IN" sz="2133" dirty="0"/>
          </a:p>
          <a:p>
            <a:pPr algn="just"/>
            <a:r>
              <a:rPr lang="en-US" sz="2133" dirty="0"/>
              <a:t>In the HPC architecture, a cluster of connected computer servers offers exceptional performance over that of a single machine.</a:t>
            </a:r>
          </a:p>
          <a:p>
            <a:pPr algn="just"/>
            <a:endParaRPr lang="en-US" sz="2133" dirty="0"/>
          </a:p>
          <a:p>
            <a:pPr algn="ctr"/>
            <a:r>
              <a:rPr lang="en-US" sz="2133" dirty="0"/>
              <a:t>How do clusters work?</a:t>
            </a:r>
          </a:p>
          <a:p>
            <a:pPr algn="just"/>
            <a:endParaRPr lang="en-US" sz="2133" dirty="0"/>
          </a:p>
          <a:p>
            <a:pPr algn="just"/>
            <a:r>
              <a:rPr lang="en-US" sz="2133" dirty="0"/>
              <a:t>A group of computers working on the same set of tasks collectively is referred to as a "cluster". In an HPC design, a group of computers collectively function as a single node that may take jobs and perform calculations.</a:t>
            </a:r>
          </a:p>
          <a:p>
            <a:pPr algn="just"/>
            <a:endParaRPr lang="en-US" sz="2133" dirty="0"/>
          </a:p>
          <a:p>
            <a:pPr algn="ctr"/>
            <a:r>
              <a:rPr lang="en-US" sz="2133" dirty="0"/>
              <a:t>A HPC Cluster is what?</a:t>
            </a:r>
          </a:p>
          <a:p>
            <a:pPr algn="just"/>
            <a:endParaRPr lang="en-US" sz="2133" dirty="0"/>
          </a:p>
          <a:p>
            <a:pPr algn="just"/>
            <a:r>
              <a:rPr lang="en-US" sz="2133" dirty="0"/>
              <a:t>An HPC cluster is a network of connected computing computers. Depending on the requirements of the application, a cluster may consist of thousands of computers. Every server in an HPC cluster is referred to as a node. These nodes are run in parallel to increase processing speed and enhance system performance.</a:t>
            </a:r>
          </a:p>
        </p:txBody>
      </p:sp>
      <p:sp>
        <p:nvSpPr>
          <p:cNvPr id="9" name="Slide Number Placeholder 8"/>
          <p:cNvSpPr>
            <a:spLocks noGrp="1"/>
          </p:cNvSpPr>
          <p:nvPr>
            <p:ph type="sldNum" idx="12"/>
          </p:nvPr>
        </p:nvSpPr>
        <p:spPr/>
        <p:txBody>
          <a:bodyPr/>
          <a:lstStyle/>
          <a:p>
            <a:fld id="{00000000-1234-1234-1234-123412341234}" type="slidenum">
              <a:rPr lang="en" smtClean="0"/>
              <a:pPr/>
              <a:t>5</a:t>
            </a:fld>
            <a:endParaRPr lang="en"/>
          </a:p>
        </p:txBody>
      </p:sp>
    </p:spTree>
    <p:extLst>
      <p:ext uri="{BB962C8B-B14F-4D97-AF65-F5344CB8AC3E}">
        <p14:creationId xmlns:p14="http://schemas.microsoft.com/office/powerpoint/2010/main" val="1413245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HPC Architecture</a:t>
            </a:r>
            <a:br>
              <a:rPr lang="en-US" dirty="0"/>
            </a:br>
            <a:endParaRPr lang="en-US" dirty="0"/>
          </a:p>
        </p:txBody>
      </p:sp>
      <p:sp>
        <p:nvSpPr>
          <p:cNvPr id="3" name="Text Placeholder 2"/>
          <p:cNvSpPr>
            <a:spLocks noGrp="1"/>
          </p:cNvSpPr>
          <p:nvPr>
            <p:ph type="body" idx="1"/>
          </p:nvPr>
        </p:nvSpPr>
        <p:spPr/>
        <p:txBody>
          <a:bodyPr>
            <a:normAutofit/>
          </a:bodyPr>
          <a:lstStyle/>
          <a:p>
            <a:pPr algn="just">
              <a:lnSpc>
                <a:spcPct val="150000"/>
              </a:lnSpc>
              <a:buNone/>
            </a:pPr>
            <a:r>
              <a:rPr lang="en-US" sz="2133" dirty="0"/>
              <a:t>An HPC architecture is an ensemble made up of several systems, moving components, and hardware that has been optimized. To tie it all together, you need more than just glue and tape; you also need carefully thought-out software and file systems, accelerated hardware, and the newest in performance-improving networking and computing technologies.</a:t>
            </a:r>
          </a:p>
        </p:txBody>
      </p:sp>
      <p:sp>
        <p:nvSpPr>
          <p:cNvPr id="5" name="Slide Number Placeholder 4"/>
          <p:cNvSpPr>
            <a:spLocks noGrp="1"/>
          </p:cNvSpPr>
          <p:nvPr>
            <p:ph type="sldNum" idx="12"/>
          </p:nvPr>
        </p:nvSpPr>
        <p:spPr/>
        <p:txBody>
          <a:bodyPr/>
          <a:lstStyle/>
          <a:p>
            <a:fld id="{00000000-1234-1234-1234-123412341234}" type="slidenum">
              <a:rPr lang="en" smtClean="0"/>
              <a:pPr/>
              <a:t>6</a:t>
            </a:fld>
            <a:endParaRPr lang="e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HPC</a:t>
            </a:r>
            <a:r>
              <a:rPr lang="en-US" dirty="0"/>
              <a:t> System Key </a:t>
            </a:r>
            <a:r>
              <a:rPr lang="en-IN" dirty="0"/>
              <a:t>Components</a:t>
            </a:r>
            <a:endParaRPr lang="en-US" dirty="0"/>
          </a:p>
        </p:txBody>
      </p:sp>
      <p:sp>
        <p:nvSpPr>
          <p:cNvPr id="3" name="Text Placeholder 2"/>
          <p:cNvSpPr>
            <a:spLocks noGrp="1"/>
          </p:cNvSpPr>
          <p:nvPr>
            <p:ph type="body" idx="1"/>
          </p:nvPr>
        </p:nvSpPr>
        <p:spPr/>
        <p:txBody>
          <a:bodyPr>
            <a:normAutofit/>
          </a:bodyPr>
          <a:lstStyle/>
          <a:p>
            <a:pPr>
              <a:lnSpc>
                <a:spcPct val="150000"/>
              </a:lnSpc>
              <a:buNone/>
            </a:pPr>
            <a:r>
              <a:rPr lang="en-US" sz="2133" dirty="0"/>
              <a:t>Key Components:</a:t>
            </a:r>
          </a:p>
          <a:p>
            <a:pPr>
              <a:lnSpc>
                <a:spcPct val="150000"/>
              </a:lnSpc>
              <a:buNone/>
            </a:pPr>
            <a:endParaRPr lang="en-US" sz="2133" dirty="0"/>
          </a:p>
          <a:p>
            <a:pPr marL="380990">
              <a:lnSpc>
                <a:spcPct val="150000"/>
              </a:lnSpc>
              <a:buFont typeface="Arial" panose="020B0604020202020204" pitchFamily="34" charset="0"/>
              <a:buChar char="•"/>
            </a:pPr>
            <a:r>
              <a:rPr lang="en-IN" sz="2133" dirty="0"/>
              <a:t>Compute</a:t>
            </a:r>
          </a:p>
          <a:p>
            <a:pPr marL="380990">
              <a:lnSpc>
                <a:spcPct val="150000"/>
              </a:lnSpc>
              <a:buFont typeface="Arial" panose="020B0604020202020204" pitchFamily="34" charset="0"/>
              <a:buChar char="•"/>
            </a:pPr>
            <a:r>
              <a:rPr lang="en-IN" sz="2133" dirty="0"/>
              <a:t>Network</a:t>
            </a:r>
          </a:p>
          <a:p>
            <a:pPr marL="380990">
              <a:lnSpc>
                <a:spcPct val="150000"/>
              </a:lnSpc>
              <a:buFont typeface="Arial" panose="020B0604020202020204" pitchFamily="34" charset="0"/>
              <a:buChar char="•"/>
            </a:pPr>
            <a:r>
              <a:rPr lang="en-IN" sz="2133" dirty="0"/>
              <a:t>Storage</a:t>
            </a:r>
          </a:p>
          <a:p>
            <a:pPr marL="380990">
              <a:lnSpc>
                <a:spcPct val="150000"/>
              </a:lnSpc>
              <a:buFont typeface="Arial" panose="020B0604020202020204" pitchFamily="34" charset="0"/>
              <a:buChar char="•"/>
            </a:pPr>
            <a:r>
              <a:rPr lang="en-US" sz="2133" dirty="0"/>
              <a:t>Security</a:t>
            </a:r>
          </a:p>
        </p:txBody>
      </p:sp>
      <p:sp>
        <p:nvSpPr>
          <p:cNvPr id="5" name="Slide Number Placeholder 4"/>
          <p:cNvSpPr>
            <a:spLocks noGrp="1"/>
          </p:cNvSpPr>
          <p:nvPr>
            <p:ph type="sldNum" idx="12"/>
          </p:nvPr>
        </p:nvSpPr>
        <p:spPr/>
        <p:txBody>
          <a:bodyPr/>
          <a:lstStyle/>
          <a:p>
            <a:fld id="{00000000-1234-1234-1234-123412341234}" type="slidenum">
              <a:rPr lang="en" smtClean="0"/>
              <a:pPr/>
              <a:t>7</a:t>
            </a:fld>
            <a:endParaRPr lang="e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Key Components:</a:t>
            </a:r>
          </a:p>
        </p:txBody>
      </p:sp>
      <p:sp>
        <p:nvSpPr>
          <p:cNvPr id="3" name="Text Placeholder 2"/>
          <p:cNvSpPr>
            <a:spLocks noGrp="1"/>
          </p:cNvSpPr>
          <p:nvPr>
            <p:ph type="body" idx="1"/>
          </p:nvPr>
        </p:nvSpPr>
        <p:spPr>
          <a:xfrm>
            <a:off x="1524000" y="1238865"/>
            <a:ext cx="9829800" cy="5002112"/>
          </a:xfrm>
        </p:spPr>
        <p:txBody>
          <a:bodyPr>
            <a:normAutofit fontScale="77500" lnSpcReduction="20000"/>
          </a:bodyPr>
          <a:lstStyle/>
          <a:p>
            <a:pPr>
              <a:lnSpc>
                <a:spcPct val="150000"/>
              </a:lnSpc>
              <a:buNone/>
            </a:pPr>
            <a:r>
              <a:rPr lang="en-US" sz="2133" b="1" dirty="0"/>
              <a:t>Compute</a:t>
            </a:r>
          </a:p>
          <a:p>
            <a:pPr algn="just">
              <a:lnSpc>
                <a:spcPct val="150000"/>
              </a:lnSpc>
            </a:pPr>
            <a:r>
              <a:rPr lang="en-US" sz="2133" dirty="0"/>
              <a:t>The compute component, as its name implies, is concerned with processing data, running programs or algorithms, and resolving issues. </a:t>
            </a:r>
          </a:p>
          <a:p>
            <a:pPr algn="just">
              <a:lnSpc>
                <a:spcPct val="150000"/>
              </a:lnSpc>
            </a:pPr>
            <a:r>
              <a:rPr lang="en-US" sz="2133" dirty="0"/>
              <a:t>HPC depends heavily on computation. It might be a standalone machine or a component of the high-performance computing cluster. As an illustration, an HPC compute node has two clusters, each of which includes a single CPU, a hard disk, RAM, and a network card. Temporary files may be kept on compute </a:t>
            </a:r>
            <a:r>
              <a:rPr lang="en-US" sz="2133" dirty="0" err="1"/>
              <a:t>nodes.Keep</a:t>
            </a:r>
            <a:r>
              <a:rPr lang="en-US" sz="2133" dirty="0"/>
              <a:t> in mind that HPC concentrates on distributed computing to swiftly and effectively address complex and bigger problems. </a:t>
            </a:r>
          </a:p>
          <a:p>
            <a:pPr algn="just">
              <a:lnSpc>
                <a:spcPct val="150000"/>
              </a:lnSpc>
            </a:pPr>
            <a:r>
              <a:rPr lang="en-US" sz="2133" dirty="0"/>
              <a:t>The high-performance system is constructed and streamlined using clusters of computing machines connected over a network. The software, apps, and algorithms that are performed on these compute servers enable them to carry out and finish a variety of activities.</a:t>
            </a:r>
          </a:p>
        </p:txBody>
      </p:sp>
      <p:sp>
        <p:nvSpPr>
          <p:cNvPr id="5" name="Slide Number Placeholder 4"/>
          <p:cNvSpPr>
            <a:spLocks noGrp="1"/>
          </p:cNvSpPr>
          <p:nvPr>
            <p:ph type="sldNum" idx="12"/>
          </p:nvPr>
        </p:nvSpPr>
        <p:spPr/>
        <p:txBody>
          <a:bodyPr/>
          <a:lstStyle/>
          <a:p>
            <a:fld id="{00000000-1234-1234-1234-123412341234}" type="slidenum">
              <a:rPr lang="en" smtClean="0"/>
              <a:pPr/>
              <a:t>8</a:t>
            </a:fld>
            <a:endParaRPr lang="e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Components:</a:t>
            </a:r>
          </a:p>
        </p:txBody>
      </p:sp>
      <p:sp>
        <p:nvSpPr>
          <p:cNvPr id="3" name="Text Placeholder 2"/>
          <p:cNvSpPr>
            <a:spLocks noGrp="1"/>
          </p:cNvSpPr>
          <p:nvPr>
            <p:ph type="body" idx="1"/>
          </p:nvPr>
        </p:nvSpPr>
        <p:spPr>
          <a:xfrm>
            <a:off x="1435510" y="1376516"/>
            <a:ext cx="10215716" cy="4768646"/>
          </a:xfrm>
        </p:spPr>
        <p:txBody>
          <a:bodyPr>
            <a:noAutofit/>
          </a:bodyPr>
          <a:lstStyle/>
          <a:p>
            <a:pPr lvl="0">
              <a:buNone/>
            </a:pPr>
            <a:r>
              <a:rPr lang="en-US" sz="1600" b="1" dirty="0"/>
              <a:t>Network</a:t>
            </a:r>
            <a:r>
              <a:rPr lang="en-US" sz="1600" dirty="0"/>
              <a:t>: </a:t>
            </a:r>
          </a:p>
          <a:p>
            <a:pPr lvl="0" algn="just">
              <a:lnSpc>
                <a:spcPct val="120000"/>
              </a:lnSpc>
              <a:buNone/>
            </a:pPr>
            <a:r>
              <a:rPr lang="en-US" sz="1600" dirty="0"/>
              <a:t>Fast and dependable networking is essential for a successful HPC design, whether it is for ingesting external data, moving data between computing resources, or transporting data to or from storage resources.</a:t>
            </a:r>
          </a:p>
          <a:p>
            <a:pPr lvl="0" algn="just">
              <a:lnSpc>
                <a:spcPct val="120000"/>
              </a:lnSpc>
              <a:buNone/>
            </a:pPr>
            <a:r>
              <a:rPr lang="en-US" sz="1600" dirty="0"/>
              <a:t>Many individuals mistakenly think that local area networks and the internet are the same as HPC networks. These are two distinct architectures, though. Packaging restrictions and wire length are just two of the variables taken into account while designing an HPC network. Several apps run smoothly on the network thanks to its smart physical network structure. In HPC networks, common topologies include:</a:t>
            </a:r>
          </a:p>
          <a:p>
            <a:pPr lvl="2" algn="just">
              <a:lnSpc>
                <a:spcPct val="120000"/>
              </a:lnSpc>
            </a:pPr>
            <a:r>
              <a:rPr lang="en-US" sz="1600" dirty="0"/>
              <a:t>Bus</a:t>
            </a:r>
          </a:p>
          <a:p>
            <a:pPr lvl="2" algn="just">
              <a:lnSpc>
                <a:spcPct val="120000"/>
              </a:lnSpc>
            </a:pPr>
            <a:r>
              <a:rPr lang="en-US" sz="1600" dirty="0"/>
              <a:t>Point to Point</a:t>
            </a:r>
          </a:p>
          <a:p>
            <a:pPr lvl="2" algn="just">
              <a:lnSpc>
                <a:spcPct val="120000"/>
              </a:lnSpc>
            </a:pPr>
            <a:r>
              <a:rPr lang="en-US" sz="1600" dirty="0"/>
              <a:t>Mesh or Grid</a:t>
            </a:r>
          </a:p>
          <a:p>
            <a:pPr lvl="2" algn="just">
              <a:lnSpc>
                <a:spcPct val="120000"/>
              </a:lnSpc>
            </a:pPr>
            <a:r>
              <a:rPr lang="en-US" sz="1600" dirty="0"/>
              <a:t>Torus</a:t>
            </a:r>
          </a:p>
          <a:p>
            <a:pPr lvl="0" algn="just">
              <a:lnSpc>
                <a:spcPct val="120000"/>
              </a:lnSpc>
              <a:buNone/>
            </a:pPr>
            <a:r>
              <a:rPr lang="en-US" sz="1600" dirty="0"/>
              <a:t>Make sure your HPC system's networking component allows the fast transfer of data between compute servers and storage. The entire HPC system will be compromised if the network is subpar.</a:t>
            </a:r>
          </a:p>
          <a:p>
            <a:endParaRPr lang="en-US" sz="1600" dirty="0"/>
          </a:p>
        </p:txBody>
      </p:sp>
      <p:sp>
        <p:nvSpPr>
          <p:cNvPr id="5" name="Slide Number Placeholder 4"/>
          <p:cNvSpPr>
            <a:spLocks noGrp="1"/>
          </p:cNvSpPr>
          <p:nvPr>
            <p:ph type="sldNum" idx="12"/>
          </p:nvPr>
        </p:nvSpPr>
        <p:spPr/>
        <p:txBody>
          <a:bodyPr/>
          <a:lstStyle/>
          <a:p>
            <a:fld id="{00000000-1234-1234-1234-123412341234}" type="slidenum">
              <a:rPr lang="en" smtClean="0"/>
              <a:pPr/>
              <a:t>9</a:t>
            </a:fld>
            <a:endParaRPr lang="e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Components:</a:t>
            </a:r>
          </a:p>
        </p:txBody>
      </p:sp>
      <p:sp>
        <p:nvSpPr>
          <p:cNvPr id="3" name="Text Placeholder 2"/>
          <p:cNvSpPr>
            <a:spLocks noGrp="1"/>
          </p:cNvSpPr>
          <p:nvPr>
            <p:ph type="body" idx="1"/>
          </p:nvPr>
        </p:nvSpPr>
        <p:spPr>
          <a:xfrm>
            <a:off x="838200" y="901521"/>
            <a:ext cx="10515600" cy="5339456"/>
          </a:xfrm>
        </p:spPr>
        <p:txBody>
          <a:bodyPr>
            <a:normAutofit fontScale="92500"/>
          </a:bodyPr>
          <a:lstStyle/>
          <a:p>
            <a:pPr lvl="0">
              <a:lnSpc>
                <a:spcPct val="150000"/>
              </a:lnSpc>
              <a:buNone/>
            </a:pPr>
            <a:r>
              <a:rPr lang="en-US" sz="2133" b="1" dirty="0"/>
              <a:t>Storage</a:t>
            </a:r>
            <a:r>
              <a:rPr lang="en-US" sz="2133" dirty="0"/>
              <a:t>:</a:t>
            </a:r>
          </a:p>
          <a:p>
            <a:pPr lvl="0">
              <a:lnSpc>
                <a:spcPct val="150000"/>
              </a:lnSpc>
            </a:pPr>
            <a:r>
              <a:rPr lang="en-US" sz="2133" dirty="0"/>
              <a:t>While a computer system's slowest component is typically its external storage, an HPC system's storage will operate more quickly to accommodate HPC workloads.</a:t>
            </a:r>
          </a:p>
          <a:p>
            <a:pPr lvl="0">
              <a:lnSpc>
                <a:spcPct val="150000"/>
              </a:lnSpc>
            </a:pPr>
            <a:r>
              <a:rPr lang="en-US" sz="2133" dirty="0"/>
              <a:t>A crucial part of the HPC infrastructure that keeps the CPU running at high speeds is storage systems. It efficiently reads and writes data from disk drivers at the same time.</a:t>
            </a:r>
          </a:p>
          <a:p>
            <a:pPr lvl="0">
              <a:lnSpc>
                <a:spcPct val="150000"/>
              </a:lnSpc>
            </a:pPr>
            <a:r>
              <a:rPr lang="en-US" sz="2133" dirty="0"/>
              <a:t>Due of their extensive data retrieval and storage needs, HPC systems demand a particular strategy. A smart HPC system features optimized storage components that send and receive data from the compute servers rapidly and effectively.</a:t>
            </a:r>
          </a:p>
        </p:txBody>
      </p:sp>
      <p:sp>
        <p:nvSpPr>
          <p:cNvPr id="5" name="Slide Number Placeholder 4"/>
          <p:cNvSpPr>
            <a:spLocks noGrp="1"/>
          </p:cNvSpPr>
          <p:nvPr>
            <p:ph type="sldNum" idx="12"/>
          </p:nvPr>
        </p:nvSpPr>
        <p:spPr/>
        <p:txBody>
          <a:bodyPr/>
          <a:lstStyle/>
          <a:p>
            <a:fld id="{00000000-1234-1234-1234-123412341234}" type="slidenum">
              <a:rPr lang="en" smtClean="0"/>
              <a:pPr/>
              <a:t>10</a:t>
            </a:fld>
            <a:endParaRPr lang="e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HPC Architecture tool</a:t>
            </a:r>
            <a:endParaRPr lang="en-US" dirty="0"/>
          </a:p>
        </p:txBody>
      </p:sp>
      <p:sp>
        <p:nvSpPr>
          <p:cNvPr id="3" name="Text Placeholder 2"/>
          <p:cNvSpPr>
            <a:spLocks noGrp="1"/>
          </p:cNvSpPr>
          <p:nvPr>
            <p:ph type="body" idx="1"/>
          </p:nvPr>
        </p:nvSpPr>
        <p:spPr/>
        <p:txBody>
          <a:bodyPr>
            <a:normAutofit/>
          </a:bodyPr>
          <a:lstStyle/>
          <a:p>
            <a:pPr>
              <a:lnSpc>
                <a:spcPct val="150000"/>
              </a:lnSpc>
              <a:buNone/>
            </a:pPr>
            <a:r>
              <a:rPr lang="en-US" sz="2133" dirty="0"/>
              <a:t>Tools</a:t>
            </a:r>
          </a:p>
          <a:p>
            <a:pPr marL="380990">
              <a:lnSpc>
                <a:spcPct val="150000"/>
              </a:lnSpc>
              <a:buFont typeface="Arial" panose="020B0604020202020204" pitchFamily="34" charset="0"/>
              <a:buChar char="•"/>
            </a:pPr>
            <a:r>
              <a:rPr lang="en-IN" sz="2133" dirty="0"/>
              <a:t>HPC Schedulers </a:t>
            </a:r>
          </a:p>
          <a:p>
            <a:pPr marL="380990">
              <a:lnSpc>
                <a:spcPct val="150000"/>
              </a:lnSpc>
              <a:buFont typeface="Arial" panose="020B0604020202020204" pitchFamily="34" charset="0"/>
              <a:buChar char="•"/>
            </a:pPr>
            <a:r>
              <a:rPr lang="en-US" sz="2133" dirty="0"/>
              <a:t>Load Balancer </a:t>
            </a:r>
          </a:p>
          <a:p>
            <a:pPr marL="380990">
              <a:lnSpc>
                <a:spcPct val="150000"/>
              </a:lnSpc>
              <a:buFont typeface="Arial" panose="020B0604020202020204" pitchFamily="34" charset="0"/>
              <a:buChar char="•"/>
            </a:pPr>
            <a:r>
              <a:rPr lang="en-US" sz="2133" dirty="0"/>
              <a:t>Cluster Management tool</a:t>
            </a:r>
          </a:p>
          <a:p>
            <a:pPr>
              <a:lnSpc>
                <a:spcPct val="150000"/>
              </a:lnSpc>
            </a:pPr>
            <a:endParaRPr lang="en-US" sz="2133" dirty="0"/>
          </a:p>
        </p:txBody>
      </p:sp>
      <p:sp>
        <p:nvSpPr>
          <p:cNvPr id="5" name="Slide Number Placeholder 4"/>
          <p:cNvSpPr>
            <a:spLocks noGrp="1"/>
          </p:cNvSpPr>
          <p:nvPr>
            <p:ph type="sldNum" idx="12"/>
          </p:nvPr>
        </p:nvSpPr>
        <p:spPr/>
        <p:txBody>
          <a:bodyPr/>
          <a:lstStyle/>
          <a:p>
            <a:fld id="{00000000-1234-1234-1234-123412341234}" type="slidenum">
              <a:rPr lang="en" smtClean="0"/>
              <a:pPr/>
              <a:t>11</a:t>
            </a:fld>
            <a:endParaRPr lang="e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3" name="Rectangle 2"/>
          <p:cNvSpPr/>
          <p:nvPr/>
        </p:nvSpPr>
        <p:spPr>
          <a:xfrm>
            <a:off x="2600668" y="245677"/>
            <a:ext cx="6096000" cy="748988"/>
          </a:xfrm>
          <a:prstGeom prst="rect">
            <a:avLst/>
          </a:prstGeom>
        </p:spPr>
        <p:txBody>
          <a:bodyPr>
            <a:spAutoFit/>
          </a:bodyPr>
          <a:lstStyle/>
          <a:p>
            <a:r>
              <a:rPr lang="en-IN" sz="4267" dirty="0">
                <a:solidFill>
                  <a:srgbClr val="C00000"/>
                </a:solidFill>
                <a:latin typeface="Calibri"/>
                <a:ea typeface="Calibri"/>
                <a:cs typeface="Calibri"/>
                <a:sym typeface="Calibri"/>
              </a:rPr>
              <a:t>HPC Architecture Diagram</a:t>
            </a:r>
            <a:endParaRPr lang="en-US" sz="4267" dirty="0">
              <a:solidFill>
                <a:srgbClr val="C00000"/>
              </a:solidFill>
              <a:latin typeface="Calibri"/>
              <a:ea typeface="Calibri"/>
              <a:cs typeface="Calibri"/>
              <a:sym typeface="Calibri"/>
            </a:endParaRPr>
          </a:p>
        </p:txBody>
      </p:sp>
      <p:pic>
        <p:nvPicPr>
          <p:cNvPr id="6" name="Picture 5" descr="architectue diagram HPC.png"/>
          <p:cNvPicPr>
            <a:picLocks noChangeAspect="1"/>
          </p:cNvPicPr>
          <p:nvPr/>
        </p:nvPicPr>
        <p:blipFill>
          <a:blip r:embed="rId3"/>
          <a:stretch>
            <a:fillRect/>
          </a:stretch>
        </p:blipFill>
        <p:spPr>
          <a:xfrm>
            <a:off x="571500" y="1290134"/>
            <a:ext cx="11099800" cy="4958265"/>
          </a:xfrm>
          <a:prstGeom prst="rect">
            <a:avLst/>
          </a:prstGeom>
        </p:spPr>
      </p:pic>
      <p:sp>
        <p:nvSpPr>
          <p:cNvPr id="7" name="Slide Number Placeholder 6"/>
          <p:cNvSpPr>
            <a:spLocks noGrp="1"/>
          </p:cNvSpPr>
          <p:nvPr>
            <p:ph type="sldNum" idx="12"/>
          </p:nvPr>
        </p:nvSpPr>
        <p:spPr/>
        <p:txBody>
          <a:bodyPr/>
          <a:lstStyle/>
          <a:p>
            <a:fld id="{00000000-1234-1234-1234-123412341234}" type="slidenum">
              <a:rPr lang="en" smtClean="0"/>
              <a:pPr/>
              <a:t>12</a:t>
            </a:fld>
            <a:endParaRPr lang="en"/>
          </a:p>
        </p:txBody>
      </p:sp>
    </p:spTree>
    <p:extLst>
      <p:ext uri="{BB962C8B-B14F-4D97-AF65-F5344CB8AC3E}">
        <p14:creationId xmlns:p14="http://schemas.microsoft.com/office/powerpoint/2010/main" val="21274244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HPC cluster components</a:t>
            </a:r>
          </a:p>
        </p:txBody>
      </p:sp>
      <p:sp>
        <p:nvSpPr>
          <p:cNvPr id="3" name="Text Placeholder 2"/>
          <p:cNvSpPr>
            <a:spLocks noGrp="1"/>
          </p:cNvSpPr>
          <p:nvPr>
            <p:ph type="body" idx="1"/>
          </p:nvPr>
        </p:nvSpPr>
        <p:spPr/>
        <p:txBody>
          <a:bodyPr/>
          <a:lstStyle/>
          <a:p>
            <a:pPr>
              <a:lnSpc>
                <a:spcPct val="150000"/>
              </a:lnSpc>
            </a:pPr>
            <a:r>
              <a:rPr lang="en-US" sz="2133" dirty="0"/>
              <a:t>Head or Master Node </a:t>
            </a:r>
          </a:p>
          <a:p>
            <a:pPr>
              <a:lnSpc>
                <a:spcPct val="150000"/>
              </a:lnSpc>
            </a:pPr>
            <a:r>
              <a:rPr lang="en-US" sz="2133" dirty="0"/>
              <a:t>Login Node</a:t>
            </a:r>
          </a:p>
          <a:p>
            <a:pPr>
              <a:lnSpc>
                <a:spcPct val="150000"/>
              </a:lnSpc>
            </a:pPr>
            <a:r>
              <a:rPr lang="en-US" sz="2133" dirty="0"/>
              <a:t>Compute Nodes (CPU &amp; GPU nodes)</a:t>
            </a:r>
          </a:p>
          <a:p>
            <a:pPr>
              <a:lnSpc>
                <a:spcPct val="150000"/>
              </a:lnSpc>
            </a:pPr>
            <a:r>
              <a:rPr lang="en-US" sz="2133" dirty="0"/>
              <a:t>Storage System(Parallel file system)</a:t>
            </a:r>
          </a:p>
          <a:p>
            <a:pPr>
              <a:lnSpc>
                <a:spcPct val="150000"/>
              </a:lnSpc>
            </a:pPr>
            <a:r>
              <a:rPr lang="en-US" sz="2133" dirty="0" err="1"/>
              <a:t>Infiniband</a:t>
            </a:r>
            <a:r>
              <a:rPr lang="en-US" sz="2133" dirty="0"/>
              <a:t> Interconnection</a:t>
            </a:r>
          </a:p>
          <a:p>
            <a:endParaRPr lang="en-US" dirty="0"/>
          </a:p>
        </p:txBody>
      </p:sp>
      <p:sp>
        <p:nvSpPr>
          <p:cNvPr id="5" name="Slide Number Placeholder 4"/>
          <p:cNvSpPr>
            <a:spLocks noGrp="1"/>
          </p:cNvSpPr>
          <p:nvPr>
            <p:ph type="sldNum" idx="12"/>
          </p:nvPr>
        </p:nvSpPr>
        <p:spPr/>
        <p:txBody>
          <a:bodyPr/>
          <a:lstStyle/>
          <a:p>
            <a:fld id="{00000000-1234-1234-1234-123412341234}" type="slidenum">
              <a:rPr lang="en" smtClean="0"/>
              <a:pPr/>
              <a:t>13</a:t>
            </a:fld>
            <a:endParaRPr lang="e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HPC Software Stack</a:t>
            </a:r>
          </a:p>
        </p:txBody>
      </p:sp>
      <p:pic>
        <p:nvPicPr>
          <p:cNvPr id="4" name="Picture 3"/>
          <p:cNvPicPr/>
          <p:nvPr/>
        </p:nvPicPr>
        <p:blipFill>
          <a:blip r:embed="rId2"/>
          <a:srcRect/>
          <a:stretch>
            <a:fillRect/>
          </a:stretch>
        </p:blipFill>
        <p:spPr bwMode="auto">
          <a:xfrm>
            <a:off x="1229032" y="1815162"/>
            <a:ext cx="10146890" cy="4575806"/>
          </a:xfrm>
          <a:prstGeom prst="rect">
            <a:avLst/>
          </a:prstGeom>
          <a:noFill/>
          <a:ln w="9525">
            <a:noFill/>
            <a:miter lim="800000"/>
            <a:headEnd/>
            <a:tailEnd/>
          </a:ln>
        </p:spPr>
      </p:pic>
      <p:sp>
        <p:nvSpPr>
          <p:cNvPr id="6" name="Slide Number Placeholder 5"/>
          <p:cNvSpPr>
            <a:spLocks noGrp="1"/>
          </p:cNvSpPr>
          <p:nvPr>
            <p:ph type="sldNum" idx="12"/>
          </p:nvPr>
        </p:nvSpPr>
        <p:spPr/>
        <p:txBody>
          <a:bodyPr/>
          <a:lstStyle/>
          <a:p>
            <a:fld id="{00000000-1234-1234-1234-123412341234}" type="slidenum">
              <a:rPr lang="en" smtClean="0"/>
              <a:pPr/>
              <a:t>14</a:t>
            </a:fld>
            <a:endParaRPr lang="e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3" name="Rectangle 2"/>
          <p:cNvSpPr/>
          <p:nvPr/>
        </p:nvSpPr>
        <p:spPr>
          <a:xfrm>
            <a:off x="1899465" y="484789"/>
            <a:ext cx="7380985" cy="748988"/>
          </a:xfrm>
          <a:prstGeom prst="rect">
            <a:avLst/>
          </a:prstGeom>
        </p:spPr>
        <p:txBody>
          <a:bodyPr wrap="square">
            <a:spAutoFit/>
          </a:bodyPr>
          <a:lstStyle/>
          <a:p>
            <a:pPr fontAlgn="base"/>
            <a:r>
              <a:rPr lang="en-IN" sz="4267" dirty="0">
                <a:solidFill>
                  <a:srgbClr val="C00000"/>
                </a:solidFill>
                <a:latin typeface="Calibri"/>
                <a:ea typeface="Calibri"/>
                <a:cs typeface="Calibri"/>
                <a:sym typeface="Calibri"/>
              </a:rPr>
              <a:t>HPC: Challenges</a:t>
            </a:r>
          </a:p>
        </p:txBody>
      </p:sp>
      <p:sp>
        <p:nvSpPr>
          <p:cNvPr id="5" name="Rectangle 4"/>
          <p:cNvSpPr/>
          <p:nvPr/>
        </p:nvSpPr>
        <p:spPr>
          <a:xfrm>
            <a:off x="1534116" y="1709199"/>
            <a:ext cx="9812310" cy="2759282"/>
          </a:xfrm>
          <a:prstGeom prst="rect">
            <a:avLst/>
          </a:prstGeom>
        </p:spPr>
        <p:txBody>
          <a:bodyPr wrap="square">
            <a:spAutoFit/>
          </a:bodyPr>
          <a:lstStyle/>
          <a:p>
            <a:pPr marL="380990" indent="-380990">
              <a:buFont typeface="Arial" panose="020B0604020202020204" pitchFamily="34" charset="0"/>
              <a:buChar char="•"/>
            </a:pPr>
            <a:endParaRPr lang="en-US" sz="2400" dirty="0"/>
          </a:p>
          <a:p>
            <a:pPr marL="380990" indent="-380990">
              <a:buFont typeface="Arial" panose="020B0604020202020204" pitchFamily="34" charset="0"/>
              <a:buChar char="•"/>
            </a:pPr>
            <a:r>
              <a:rPr lang="en-IN" sz="2133" dirty="0">
                <a:latin typeface="Calibri" pitchFamily="34" charset="0"/>
                <a:cs typeface="Calibri" pitchFamily="34" charset="0"/>
              </a:rPr>
              <a:t>Cost</a:t>
            </a:r>
          </a:p>
          <a:p>
            <a:pPr marL="380990" indent="-380990">
              <a:buFont typeface="Arial" panose="020B0604020202020204" pitchFamily="34" charset="0"/>
              <a:buChar char="•"/>
            </a:pPr>
            <a:r>
              <a:rPr lang="en-IN" sz="2133" dirty="0">
                <a:latin typeface="Calibri" pitchFamily="34" charset="0"/>
                <a:cs typeface="Calibri" pitchFamily="34" charset="0"/>
              </a:rPr>
              <a:t>Scalability</a:t>
            </a:r>
          </a:p>
          <a:p>
            <a:pPr marL="380990" indent="-380990">
              <a:buFont typeface="Arial" panose="020B0604020202020204" pitchFamily="34" charset="0"/>
              <a:buChar char="•"/>
            </a:pPr>
            <a:r>
              <a:rPr lang="en-IN" sz="2133" dirty="0">
                <a:latin typeface="Calibri" pitchFamily="34" charset="0"/>
                <a:cs typeface="Calibri" pitchFamily="34" charset="0"/>
              </a:rPr>
              <a:t>Data Management</a:t>
            </a:r>
          </a:p>
          <a:p>
            <a:pPr marL="380990" indent="-380990">
              <a:buFont typeface="Arial" panose="020B0604020202020204" pitchFamily="34" charset="0"/>
              <a:buChar char="•"/>
            </a:pPr>
            <a:r>
              <a:rPr lang="en-IN" sz="2133" dirty="0">
                <a:latin typeface="Calibri" pitchFamily="34" charset="0"/>
                <a:cs typeface="Calibri" pitchFamily="34" charset="0"/>
              </a:rPr>
              <a:t>Programming</a:t>
            </a:r>
          </a:p>
          <a:p>
            <a:pPr marL="380990" indent="-380990">
              <a:buFont typeface="Arial" panose="020B0604020202020204" pitchFamily="34" charset="0"/>
              <a:buChar char="•"/>
            </a:pPr>
            <a:r>
              <a:rPr lang="en-US" sz="2133" dirty="0">
                <a:latin typeface="Calibri" pitchFamily="34" charset="0"/>
                <a:cs typeface="Calibri" pitchFamily="34" charset="0"/>
              </a:rPr>
              <a:t>Support for software and tools</a:t>
            </a:r>
          </a:p>
          <a:p>
            <a:pPr marL="380990" indent="-380990">
              <a:buFont typeface="Arial" panose="020B0604020202020204" pitchFamily="34" charset="0"/>
              <a:buChar char="•"/>
            </a:pPr>
            <a:r>
              <a:rPr lang="en-IN" sz="2133" dirty="0">
                <a:latin typeface="Calibri" pitchFamily="34" charset="0"/>
                <a:cs typeface="Calibri" pitchFamily="34" charset="0"/>
              </a:rPr>
              <a:t>Power consumption and cooling</a:t>
            </a:r>
          </a:p>
          <a:p>
            <a:pPr marL="380990" indent="-380990">
              <a:buFont typeface="Arial" panose="020B0604020202020204" pitchFamily="34" charset="0"/>
              <a:buChar char="•"/>
            </a:pPr>
            <a:endParaRPr lang="en-US" sz="2133" dirty="0">
              <a:latin typeface="Calibri" pitchFamily="34" charset="0"/>
              <a:cs typeface="Calibri" pitchFamily="34" charset="0"/>
            </a:endParaRPr>
          </a:p>
        </p:txBody>
      </p:sp>
      <p:sp>
        <p:nvSpPr>
          <p:cNvPr id="7" name="Slide Number Placeholder 6"/>
          <p:cNvSpPr>
            <a:spLocks noGrp="1"/>
          </p:cNvSpPr>
          <p:nvPr>
            <p:ph type="sldNum" idx="12"/>
          </p:nvPr>
        </p:nvSpPr>
        <p:spPr/>
        <p:txBody>
          <a:bodyPr/>
          <a:lstStyle/>
          <a:p>
            <a:fld id="{00000000-1234-1234-1234-123412341234}" type="slidenum">
              <a:rPr lang="en" smtClean="0"/>
              <a:pPr/>
              <a:t>15</a:t>
            </a:fld>
            <a:endParaRPr lang="en"/>
          </a:p>
        </p:txBody>
      </p:sp>
    </p:spTree>
    <p:extLst>
      <p:ext uri="{BB962C8B-B14F-4D97-AF65-F5344CB8AC3E}">
        <p14:creationId xmlns:p14="http://schemas.microsoft.com/office/powerpoint/2010/main" val="2858981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2544" y="2603713"/>
            <a:ext cx="10515600" cy="939600"/>
          </a:xfrm>
        </p:spPr>
        <p:txBody>
          <a:bodyPr>
            <a:normAutofit fontScale="90000"/>
          </a:bodyPr>
          <a:lstStyle/>
          <a:p>
            <a:pPr algn="ctr"/>
            <a:r>
              <a:rPr lang="en-US" sz="5867" dirty="0"/>
              <a:t>Parallel file systems</a:t>
            </a:r>
          </a:p>
        </p:txBody>
      </p:sp>
      <p:sp>
        <p:nvSpPr>
          <p:cNvPr id="5" name="Slide Number Placeholder 4"/>
          <p:cNvSpPr>
            <a:spLocks noGrp="1"/>
          </p:cNvSpPr>
          <p:nvPr>
            <p:ph type="sldNum" idx="12"/>
          </p:nvPr>
        </p:nvSpPr>
        <p:spPr/>
        <p:txBody>
          <a:bodyPr/>
          <a:lstStyle/>
          <a:p>
            <a:fld id="{00000000-1234-1234-1234-123412341234}" type="slidenum">
              <a:rPr lang="en" smtClean="0"/>
              <a:pPr/>
              <a:t>16</a:t>
            </a:fld>
            <a:endParaRPr lang="e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967" y="147337"/>
            <a:ext cx="8911687" cy="1280890"/>
          </a:xfrm>
        </p:spPr>
        <p:txBody>
          <a:bodyPr/>
          <a:lstStyle/>
          <a:p>
            <a:r>
              <a:rPr lang="en-US" dirty="0"/>
              <a:t>File Systems </a:t>
            </a:r>
          </a:p>
        </p:txBody>
      </p:sp>
      <p:sp>
        <p:nvSpPr>
          <p:cNvPr id="3" name="Text Placeholder 2"/>
          <p:cNvSpPr>
            <a:spLocks noGrp="1"/>
          </p:cNvSpPr>
          <p:nvPr>
            <p:ph type="body" idx="1"/>
          </p:nvPr>
        </p:nvSpPr>
        <p:spPr>
          <a:xfrm>
            <a:off x="1617967" y="902720"/>
            <a:ext cx="10515600" cy="5372627"/>
          </a:xfrm>
        </p:spPr>
        <p:txBody>
          <a:bodyPr>
            <a:noAutofit/>
          </a:bodyPr>
          <a:lstStyle/>
          <a:p>
            <a:pPr>
              <a:lnSpc>
                <a:spcPct val="100000"/>
              </a:lnSpc>
              <a:buNone/>
            </a:pPr>
            <a:r>
              <a:rPr lang="en-US" sz="2133" dirty="0"/>
              <a:t>What is a file system?</a:t>
            </a:r>
          </a:p>
          <a:p>
            <a:pPr>
              <a:lnSpc>
                <a:spcPct val="100000"/>
              </a:lnSpc>
              <a:buNone/>
            </a:pPr>
            <a:r>
              <a:rPr lang="en-US" sz="2133" dirty="0"/>
              <a:t>A file system serves two primary purposes: </a:t>
            </a:r>
          </a:p>
          <a:p>
            <a:pPr>
              <a:lnSpc>
                <a:spcPct val="100000"/>
              </a:lnSpc>
            </a:pPr>
            <a:r>
              <a:rPr lang="en-US" sz="2133" dirty="0"/>
              <a:t>To keep the files namespace organized and up to date </a:t>
            </a:r>
          </a:p>
          <a:p>
            <a:pPr>
              <a:lnSpc>
                <a:spcPct val="100000"/>
              </a:lnSpc>
            </a:pPr>
            <a:r>
              <a:rPr lang="en-US" sz="2133" dirty="0"/>
              <a:t>To keep the contents </a:t>
            </a:r>
          </a:p>
          <a:p>
            <a:pPr>
              <a:lnSpc>
                <a:spcPct val="100000"/>
              </a:lnSpc>
              <a:buNone/>
            </a:pPr>
            <a:r>
              <a:rPr lang="en-US" sz="2133" dirty="0"/>
              <a:t>What is Data in file system? </a:t>
            </a:r>
          </a:p>
          <a:p>
            <a:pPr>
              <a:lnSpc>
                <a:spcPct val="100000"/>
              </a:lnSpc>
              <a:buNone/>
            </a:pPr>
            <a:r>
              <a:rPr lang="en-US" sz="2133" dirty="0"/>
              <a:t>They are in accordance with the actual file contents and their properties.</a:t>
            </a:r>
          </a:p>
          <a:p>
            <a:pPr>
              <a:lnSpc>
                <a:spcPct val="100000"/>
              </a:lnSpc>
              <a:buNone/>
            </a:pPr>
            <a:r>
              <a:rPr lang="en-US" sz="2133" dirty="0"/>
              <a:t>What are Metadata in file system?</a:t>
            </a:r>
          </a:p>
          <a:p>
            <a:pPr>
              <a:lnSpc>
                <a:spcPct val="100000"/>
              </a:lnSpc>
              <a:buNone/>
            </a:pPr>
            <a:r>
              <a:rPr lang="en-US" sz="2133" dirty="0"/>
              <a:t>An assortment of data about files is known as metadata. They include, for instance: </a:t>
            </a:r>
          </a:p>
          <a:p>
            <a:pPr>
              <a:lnSpc>
                <a:spcPct val="100000"/>
              </a:lnSpc>
            </a:pPr>
            <a:r>
              <a:rPr lang="en-US" sz="2133" dirty="0"/>
              <a:t>Placement of data on the disks</a:t>
            </a:r>
          </a:p>
          <a:p>
            <a:pPr>
              <a:lnSpc>
                <a:spcPct val="100000"/>
              </a:lnSpc>
            </a:pPr>
            <a:r>
              <a:rPr lang="en-US" sz="2133" dirty="0"/>
              <a:t>data sizes </a:t>
            </a:r>
          </a:p>
          <a:p>
            <a:pPr>
              <a:lnSpc>
                <a:spcPct val="100000"/>
              </a:lnSpc>
            </a:pPr>
            <a:r>
              <a:rPr lang="en-US" sz="2133" dirty="0"/>
              <a:t>dates of creation, update, and last access </a:t>
            </a:r>
          </a:p>
          <a:p>
            <a:pPr>
              <a:lnSpc>
                <a:spcPct val="100000"/>
              </a:lnSpc>
            </a:pPr>
            <a:r>
              <a:rPr lang="en-US" sz="2133" dirty="0"/>
              <a:t>The UID, GID and the permissions</a:t>
            </a:r>
          </a:p>
        </p:txBody>
      </p:sp>
      <p:sp>
        <p:nvSpPr>
          <p:cNvPr id="5" name="Slide Number Placeholder 4"/>
          <p:cNvSpPr>
            <a:spLocks noGrp="1"/>
          </p:cNvSpPr>
          <p:nvPr>
            <p:ph type="sldNum" idx="12"/>
          </p:nvPr>
        </p:nvSpPr>
        <p:spPr/>
        <p:txBody>
          <a:bodyPr/>
          <a:lstStyle/>
          <a:p>
            <a:fld id="{00000000-1234-1234-1234-123412341234}" type="slidenum">
              <a:rPr lang="en" smtClean="0"/>
              <a:pPr/>
              <a:t>17</a:t>
            </a:fld>
            <a:endParaRPr lang="e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Local sequential File Systems</a:t>
            </a:r>
          </a:p>
        </p:txBody>
      </p:sp>
      <p:sp>
        <p:nvSpPr>
          <p:cNvPr id="3" name="Text Placeholder 2"/>
          <p:cNvSpPr>
            <a:spLocks noGrp="1"/>
          </p:cNvSpPr>
          <p:nvPr>
            <p:ph type="body" idx="1"/>
          </p:nvPr>
        </p:nvSpPr>
        <p:spPr/>
        <p:txBody>
          <a:bodyPr/>
          <a:lstStyle/>
          <a:p>
            <a:pPr>
              <a:buNone/>
            </a:pPr>
            <a:r>
              <a:rPr lang="en-US" dirty="0"/>
              <a:t>Definition </a:t>
            </a:r>
          </a:p>
          <a:p>
            <a:r>
              <a:rPr lang="en-US" dirty="0"/>
              <a:t>A local sequential file system is one that cannot be accessed remotely. </a:t>
            </a:r>
          </a:p>
          <a:p>
            <a:r>
              <a:rPr lang="en-US" dirty="0"/>
              <a:t>Its operating system is the only client that can access it.</a:t>
            </a:r>
          </a:p>
          <a:p>
            <a:r>
              <a:rPr lang="en-US" dirty="0"/>
              <a:t> There is often no parallelism (many simultaneous accesses).</a:t>
            </a:r>
          </a:p>
        </p:txBody>
      </p:sp>
      <p:sp>
        <p:nvSpPr>
          <p:cNvPr id="5" name="Slide Number Placeholder 4"/>
          <p:cNvSpPr>
            <a:spLocks noGrp="1"/>
          </p:cNvSpPr>
          <p:nvPr>
            <p:ph type="sldNum" idx="12"/>
          </p:nvPr>
        </p:nvSpPr>
        <p:spPr/>
        <p:txBody>
          <a:bodyPr/>
          <a:lstStyle/>
          <a:p>
            <a:fld id="{00000000-1234-1234-1234-123412341234}" type="slidenum">
              <a:rPr lang="en" smtClean="0"/>
              <a:pPr/>
              <a:t>18</a:t>
            </a:fld>
            <a:endParaRPr lang="e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Structure a file on ext4 file system</a:t>
            </a:r>
          </a:p>
        </p:txBody>
      </p:sp>
      <p:sp>
        <p:nvSpPr>
          <p:cNvPr id="3" name="Text Placeholder 2"/>
          <p:cNvSpPr>
            <a:spLocks noGrp="1"/>
          </p:cNvSpPr>
          <p:nvPr>
            <p:ph type="body" idx="1"/>
          </p:nvPr>
        </p:nvSpPr>
        <p:spPr/>
        <p:txBody>
          <a:bodyPr/>
          <a:lstStyle/>
          <a:p>
            <a:endParaRPr lang="en-US" dirty="0"/>
          </a:p>
        </p:txBody>
      </p:sp>
      <p:sp>
        <p:nvSpPr>
          <p:cNvPr id="6" name="Slide Number Placeholder 5"/>
          <p:cNvSpPr>
            <a:spLocks noGrp="1"/>
          </p:cNvSpPr>
          <p:nvPr>
            <p:ph type="sldNum" idx="12"/>
          </p:nvPr>
        </p:nvSpPr>
        <p:spPr/>
        <p:txBody>
          <a:bodyPr/>
          <a:lstStyle/>
          <a:p>
            <a:fld id="{00000000-1234-1234-1234-123412341234}" type="slidenum">
              <a:rPr lang="en" smtClean="0"/>
              <a:pPr/>
              <a:t>19</a:t>
            </a:fld>
            <a:endParaRPr lang="en"/>
          </a:p>
        </p:txBody>
      </p:sp>
      <p:pic>
        <p:nvPicPr>
          <p:cNvPr id="95237" name="Picture 5"/>
          <p:cNvPicPr>
            <a:picLocks noChangeAspect="1" noChangeArrowheads="1"/>
          </p:cNvPicPr>
          <p:nvPr/>
        </p:nvPicPr>
        <p:blipFill>
          <a:blip r:embed="rId2"/>
          <a:srcRect/>
          <a:stretch>
            <a:fillRect/>
          </a:stretch>
        </p:blipFill>
        <p:spPr bwMode="auto">
          <a:xfrm>
            <a:off x="1582994" y="1575924"/>
            <a:ext cx="10349030" cy="4793326"/>
          </a:xfrm>
          <a:prstGeom prst="rect">
            <a:avLst/>
          </a:prstGeom>
          <a:noFill/>
          <a:ln w="9525">
            <a:noFill/>
            <a:miter lim="800000"/>
            <a:headEnd/>
            <a:tailEnd/>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Parallel File Systems </a:t>
            </a:r>
          </a:p>
        </p:txBody>
      </p:sp>
      <p:sp>
        <p:nvSpPr>
          <p:cNvPr id="3" name="Text Placeholder 2"/>
          <p:cNvSpPr>
            <a:spLocks noGrp="1"/>
          </p:cNvSpPr>
          <p:nvPr>
            <p:ph type="body" idx="1"/>
          </p:nvPr>
        </p:nvSpPr>
        <p:spPr/>
        <p:txBody>
          <a:bodyPr>
            <a:normAutofit fontScale="70000" lnSpcReduction="20000"/>
          </a:bodyPr>
          <a:lstStyle/>
          <a:p>
            <a:pPr algn="just">
              <a:lnSpc>
                <a:spcPct val="100000"/>
              </a:lnSpc>
              <a:buNone/>
            </a:pPr>
            <a:r>
              <a:rPr lang="en-US" sz="2133" dirty="0"/>
              <a:t>Definition:</a:t>
            </a:r>
          </a:p>
          <a:p>
            <a:pPr algn="just">
              <a:lnSpc>
                <a:spcPct val="150000"/>
              </a:lnSpc>
              <a:buNone/>
            </a:pPr>
            <a:r>
              <a:rPr lang="en-US" sz="2133" dirty="0"/>
              <a:t>A parallel file system is intended to allow several clients to access a file system at the same time. The level of parallelism differs from that of a basic shared file system: </a:t>
            </a:r>
          </a:p>
          <a:p>
            <a:pPr marL="685783" indent="-457189" algn="just">
              <a:lnSpc>
                <a:spcPct val="150000"/>
              </a:lnSpc>
            </a:pPr>
            <a:r>
              <a:rPr lang="en-US" sz="2133" dirty="0"/>
              <a:t>Multiple clients can read and write at the same time.</a:t>
            </a:r>
          </a:p>
          <a:p>
            <a:pPr marL="685783" indent="-457189" algn="just">
              <a:lnSpc>
                <a:spcPct val="150000"/>
              </a:lnSpc>
            </a:pPr>
            <a:r>
              <a:rPr lang="en-US" sz="2133" dirty="0"/>
              <a:t>The data distribution. If the data is dispersed among numerous data servers, the client will obtain high speed.</a:t>
            </a:r>
          </a:p>
          <a:p>
            <a:pPr algn="just">
              <a:lnSpc>
                <a:spcPct val="150000"/>
              </a:lnSpc>
              <a:buNone/>
            </a:pPr>
            <a:r>
              <a:rPr lang="en-US" sz="2133" dirty="0"/>
              <a:t>This parallelism is invisible to the client, who perceives the file system as if it were local. </a:t>
            </a:r>
          </a:p>
          <a:p>
            <a:pPr algn="just">
              <a:lnSpc>
                <a:spcPct val="150000"/>
              </a:lnSpc>
              <a:buNone/>
            </a:pPr>
            <a:r>
              <a:rPr lang="en-US" sz="2133" dirty="0"/>
              <a:t>A parallel file system must efficiently manage possible conflicts between several clients in addition to the functions of a local file system. The recommended method is to limit and control concurrent accesses to a certain file or directory by using locks.</a:t>
            </a:r>
          </a:p>
        </p:txBody>
      </p:sp>
      <p:sp>
        <p:nvSpPr>
          <p:cNvPr id="5" name="Slide Number Placeholder 4"/>
          <p:cNvSpPr>
            <a:spLocks noGrp="1"/>
          </p:cNvSpPr>
          <p:nvPr>
            <p:ph type="sldNum" idx="12"/>
          </p:nvPr>
        </p:nvSpPr>
        <p:spPr/>
        <p:txBody>
          <a:bodyPr/>
          <a:lstStyle/>
          <a:p>
            <a:fld id="{00000000-1234-1234-1234-123412341234}" type="slidenum">
              <a:rPr lang="en" smtClean="0"/>
              <a:pPr/>
              <a:t>20</a:t>
            </a:fld>
            <a:endParaRPr lang="e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 Parallel File System</a:t>
            </a:r>
          </a:p>
        </p:txBody>
      </p:sp>
      <p:sp>
        <p:nvSpPr>
          <p:cNvPr id="6" name="Slide Number Placeholder 5"/>
          <p:cNvSpPr>
            <a:spLocks noGrp="1"/>
          </p:cNvSpPr>
          <p:nvPr>
            <p:ph type="sldNum" idx="12"/>
          </p:nvPr>
        </p:nvSpPr>
        <p:spPr/>
        <p:txBody>
          <a:bodyPr/>
          <a:lstStyle/>
          <a:p>
            <a:fld id="{00000000-1234-1234-1234-123412341234}" type="slidenum">
              <a:rPr lang="en" smtClean="0"/>
              <a:pPr/>
              <a:t>21</a:t>
            </a:fld>
            <a:endParaRPr lang="en"/>
          </a:p>
        </p:txBody>
      </p:sp>
      <p:pic>
        <p:nvPicPr>
          <p:cNvPr id="96259" name="Picture 3"/>
          <p:cNvPicPr>
            <a:picLocks noChangeAspect="1" noChangeArrowheads="1"/>
          </p:cNvPicPr>
          <p:nvPr/>
        </p:nvPicPr>
        <p:blipFill>
          <a:blip r:embed="rId2"/>
          <a:srcRect/>
          <a:stretch>
            <a:fillRect/>
          </a:stretch>
        </p:blipFill>
        <p:spPr bwMode="auto">
          <a:xfrm>
            <a:off x="2271252" y="1434532"/>
            <a:ext cx="7399970" cy="4754978"/>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Typical architecture- Parallel File System</a:t>
            </a:r>
          </a:p>
        </p:txBody>
      </p:sp>
      <p:sp>
        <p:nvSpPr>
          <p:cNvPr id="3" name="Text Placeholder 2"/>
          <p:cNvSpPr>
            <a:spLocks noGrp="1"/>
          </p:cNvSpPr>
          <p:nvPr>
            <p:ph type="body" idx="1"/>
          </p:nvPr>
        </p:nvSpPr>
        <p:spPr/>
        <p:txBody>
          <a:bodyPr>
            <a:normAutofit fontScale="85000" lnSpcReduction="10000"/>
          </a:bodyPr>
          <a:lstStyle/>
          <a:p>
            <a:pPr algn="just">
              <a:lnSpc>
                <a:spcPct val="150000"/>
              </a:lnSpc>
              <a:buNone/>
            </a:pPr>
            <a:r>
              <a:rPr lang="en-US" sz="2133" dirty="0"/>
              <a:t>A parallel file system consists of :</a:t>
            </a:r>
          </a:p>
          <a:p>
            <a:pPr algn="just">
              <a:lnSpc>
                <a:spcPct val="150000"/>
              </a:lnSpc>
            </a:pPr>
            <a:r>
              <a:rPr lang="en-US" sz="2133" dirty="0"/>
              <a:t>Clients that read and write data to the file system</a:t>
            </a:r>
          </a:p>
          <a:p>
            <a:pPr algn="just">
              <a:lnSpc>
                <a:spcPct val="150000"/>
              </a:lnSpc>
            </a:pPr>
            <a:r>
              <a:rPr lang="en-US" sz="2133" dirty="0"/>
              <a:t>Metadata servers, They handle metadata and data placement on disks, as well as access control locks, to prevent clients from modifying the same area of a file at the same time</a:t>
            </a:r>
          </a:p>
          <a:p>
            <a:pPr algn="just">
              <a:lnSpc>
                <a:spcPct val="150000"/>
              </a:lnSpc>
            </a:pPr>
            <a:r>
              <a:rPr lang="en-US" sz="2133" dirty="0"/>
              <a:t>A number of data servers to store data. Data and metadata can be handled by the same server in some parallel file systems</a:t>
            </a:r>
          </a:p>
          <a:p>
            <a:pPr algn="just">
              <a:lnSpc>
                <a:spcPct val="150000"/>
              </a:lnSpc>
            </a:pPr>
            <a:r>
              <a:rPr lang="en-US" sz="2133" dirty="0"/>
              <a:t>One or more networks (dedicated or not) to connect these components.</a:t>
            </a:r>
          </a:p>
        </p:txBody>
      </p:sp>
      <p:sp>
        <p:nvSpPr>
          <p:cNvPr id="5" name="Slide Number Placeholder 4"/>
          <p:cNvSpPr>
            <a:spLocks noGrp="1"/>
          </p:cNvSpPr>
          <p:nvPr>
            <p:ph type="sldNum" idx="12"/>
          </p:nvPr>
        </p:nvSpPr>
        <p:spPr/>
        <p:txBody>
          <a:bodyPr/>
          <a:lstStyle/>
          <a:p>
            <a:fld id="{00000000-1234-1234-1234-123412341234}" type="slidenum">
              <a:rPr lang="en" smtClean="0"/>
              <a:pPr/>
              <a:t>22</a:t>
            </a:fld>
            <a:endParaRPr lang="e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 parallel file systems</a:t>
            </a:r>
          </a:p>
        </p:txBody>
      </p:sp>
      <p:sp>
        <p:nvSpPr>
          <p:cNvPr id="3" name="Text Placeholder 2"/>
          <p:cNvSpPr>
            <a:spLocks noGrp="1"/>
          </p:cNvSpPr>
          <p:nvPr>
            <p:ph type="body" idx="1"/>
          </p:nvPr>
        </p:nvSpPr>
        <p:spPr/>
        <p:txBody>
          <a:bodyPr/>
          <a:lstStyle/>
          <a:p>
            <a:pPr>
              <a:buNone/>
            </a:pPr>
            <a:r>
              <a:rPr lang="en-US" dirty="0"/>
              <a:t>The most commonly used parallel file systems in supercomputers are: </a:t>
            </a:r>
          </a:p>
          <a:p>
            <a:r>
              <a:rPr lang="en-US" dirty="0" err="1"/>
              <a:t>Lustre</a:t>
            </a:r>
            <a:r>
              <a:rPr lang="en-US" dirty="0"/>
              <a:t> </a:t>
            </a:r>
          </a:p>
          <a:p>
            <a:r>
              <a:rPr lang="en-US" dirty="0"/>
              <a:t>GPFS </a:t>
            </a:r>
          </a:p>
          <a:p>
            <a:r>
              <a:rPr lang="en-US" dirty="0"/>
              <a:t>PVFS2/</a:t>
            </a:r>
            <a:r>
              <a:rPr lang="en-US" dirty="0" err="1"/>
              <a:t>OrangeFS</a:t>
            </a:r>
            <a:r>
              <a:rPr lang="en-US" dirty="0"/>
              <a:t> </a:t>
            </a:r>
          </a:p>
          <a:p>
            <a:r>
              <a:rPr lang="en-US" dirty="0" err="1"/>
              <a:t>PanFS</a:t>
            </a:r>
            <a:r>
              <a:rPr lang="en-US" dirty="0"/>
              <a:t> </a:t>
            </a:r>
          </a:p>
        </p:txBody>
      </p:sp>
      <p:sp>
        <p:nvSpPr>
          <p:cNvPr id="5" name="Slide Number Placeholder 4"/>
          <p:cNvSpPr>
            <a:spLocks noGrp="1"/>
          </p:cNvSpPr>
          <p:nvPr>
            <p:ph type="sldNum" idx="12"/>
          </p:nvPr>
        </p:nvSpPr>
        <p:spPr/>
        <p:txBody>
          <a:bodyPr/>
          <a:lstStyle/>
          <a:p>
            <a:fld id="{00000000-1234-1234-1234-123412341234}" type="slidenum">
              <a:rPr lang="en" smtClean="0"/>
              <a:pPr/>
              <a:t>23</a:t>
            </a:fld>
            <a:endParaRPr lang="en"/>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Lustre</a:t>
            </a:r>
            <a:endParaRPr lang="en-US" dirty="0"/>
          </a:p>
        </p:txBody>
      </p:sp>
      <p:sp>
        <p:nvSpPr>
          <p:cNvPr id="3" name="Text Placeholder 2"/>
          <p:cNvSpPr>
            <a:spLocks noGrp="1"/>
          </p:cNvSpPr>
          <p:nvPr>
            <p:ph type="body" idx="1"/>
          </p:nvPr>
        </p:nvSpPr>
        <p:spPr/>
        <p:txBody>
          <a:bodyPr>
            <a:normAutofit fontScale="92500" lnSpcReduction="20000"/>
          </a:bodyPr>
          <a:lstStyle/>
          <a:p>
            <a:pPr algn="just">
              <a:lnSpc>
                <a:spcPct val="150000"/>
              </a:lnSpc>
              <a:buNone/>
            </a:pPr>
            <a:r>
              <a:rPr lang="en-US" sz="2133" dirty="0" err="1"/>
              <a:t>Lustre</a:t>
            </a:r>
            <a:r>
              <a:rPr lang="en-US" sz="2133" dirty="0"/>
              <a:t> architecture </a:t>
            </a:r>
          </a:p>
          <a:p>
            <a:pPr algn="just">
              <a:lnSpc>
                <a:spcPct val="150000"/>
              </a:lnSpc>
              <a:buNone/>
            </a:pPr>
            <a:r>
              <a:rPr lang="en-US" sz="2133" dirty="0" err="1"/>
              <a:t>Lustre</a:t>
            </a:r>
            <a:r>
              <a:rPr lang="en-US" sz="2133" dirty="0"/>
              <a:t> is an open source parallel file system. It runs on all major networks (</a:t>
            </a:r>
            <a:r>
              <a:rPr lang="en-US" sz="2133" dirty="0" err="1"/>
              <a:t>InfiniBand</a:t>
            </a:r>
            <a:r>
              <a:rPr lang="en-US" sz="2133" dirty="0"/>
              <a:t>, TCP/IP, etc.).</a:t>
            </a:r>
          </a:p>
          <a:p>
            <a:pPr algn="just">
              <a:lnSpc>
                <a:spcPct val="150000"/>
              </a:lnSpc>
              <a:buNone/>
            </a:pPr>
            <a:r>
              <a:rPr lang="en-US" sz="2133" dirty="0"/>
              <a:t> A </a:t>
            </a:r>
            <a:r>
              <a:rPr lang="en-US" sz="2133" dirty="0" err="1"/>
              <a:t>Lustre</a:t>
            </a:r>
            <a:r>
              <a:rPr lang="en-US" sz="2133" dirty="0"/>
              <a:t> system consists of the following components: </a:t>
            </a:r>
          </a:p>
          <a:p>
            <a:pPr marL="838179" indent="-609585" algn="just">
              <a:lnSpc>
                <a:spcPct val="150000"/>
              </a:lnSpc>
            </a:pPr>
            <a:r>
              <a:rPr lang="en-US" sz="2133" dirty="0"/>
              <a:t>Metadata servers (MDS) that maintain a Meta Data Target (MDT) file system</a:t>
            </a:r>
          </a:p>
          <a:p>
            <a:pPr marL="838179" indent="-609585" algn="just">
              <a:lnSpc>
                <a:spcPct val="150000"/>
              </a:lnSpc>
            </a:pPr>
            <a:r>
              <a:rPr lang="en-US" sz="2133" dirty="0"/>
              <a:t>A collection of data servers known as Object Storage Servers (OSS) that handle a number of Object Storage Targets (OST).</a:t>
            </a:r>
          </a:p>
          <a:p>
            <a:pPr algn="just">
              <a:lnSpc>
                <a:spcPct val="150000"/>
              </a:lnSpc>
              <a:buNone/>
            </a:pPr>
            <a:endParaRPr lang="en-US" sz="2133" dirty="0"/>
          </a:p>
        </p:txBody>
      </p:sp>
      <p:sp>
        <p:nvSpPr>
          <p:cNvPr id="5" name="Slide Number Placeholder 4"/>
          <p:cNvSpPr>
            <a:spLocks noGrp="1"/>
          </p:cNvSpPr>
          <p:nvPr>
            <p:ph type="sldNum" idx="12"/>
          </p:nvPr>
        </p:nvSpPr>
        <p:spPr/>
        <p:txBody>
          <a:bodyPr/>
          <a:lstStyle/>
          <a:p>
            <a:fld id="{00000000-1234-1234-1234-123412341234}" type="slidenum">
              <a:rPr lang="en" smtClean="0"/>
              <a:pPr/>
              <a:t>24</a:t>
            </a:fld>
            <a:endParaRPr lang="en"/>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Architecture - Luster </a:t>
            </a:r>
          </a:p>
        </p:txBody>
      </p:sp>
      <p:sp>
        <p:nvSpPr>
          <p:cNvPr id="6" name="Slide Number Placeholder 5"/>
          <p:cNvSpPr>
            <a:spLocks noGrp="1"/>
          </p:cNvSpPr>
          <p:nvPr>
            <p:ph type="sldNum" idx="12"/>
          </p:nvPr>
        </p:nvSpPr>
        <p:spPr/>
        <p:txBody>
          <a:bodyPr/>
          <a:lstStyle/>
          <a:p>
            <a:fld id="{00000000-1234-1234-1234-123412341234}" type="slidenum">
              <a:rPr lang="en" smtClean="0"/>
              <a:pPr/>
              <a:t>25</a:t>
            </a:fld>
            <a:endParaRPr lang="en"/>
          </a:p>
        </p:txBody>
      </p:sp>
      <p:pic>
        <p:nvPicPr>
          <p:cNvPr id="97284" name="Picture 4"/>
          <p:cNvPicPr>
            <a:picLocks noChangeAspect="1" noChangeArrowheads="1"/>
          </p:cNvPicPr>
          <p:nvPr/>
        </p:nvPicPr>
        <p:blipFill>
          <a:blip r:embed="rId2"/>
          <a:srcRect/>
          <a:stretch>
            <a:fillRect/>
          </a:stretch>
        </p:blipFill>
        <p:spPr bwMode="auto">
          <a:xfrm>
            <a:off x="2389239" y="1496322"/>
            <a:ext cx="8162844" cy="4979502"/>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Lustre</a:t>
            </a:r>
            <a:endParaRPr lang="en-US" dirty="0"/>
          </a:p>
        </p:txBody>
      </p:sp>
      <p:sp>
        <p:nvSpPr>
          <p:cNvPr id="3" name="Text Placeholder 2"/>
          <p:cNvSpPr>
            <a:spLocks noGrp="1"/>
          </p:cNvSpPr>
          <p:nvPr>
            <p:ph type="body" idx="1"/>
          </p:nvPr>
        </p:nvSpPr>
        <p:spPr/>
        <p:txBody>
          <a:bodyPr>
            <a:normAutofit fontScale="92500" lnSpcReduction="20000"/>
          </a:bodyPr>
          <a:lstStyle/>
          <a:p>
            <a:pPr algn="just">
              <a:lnSpc>
                <a:spcPct val="150000"/>
              </a:lnSpc>
              <a:buNone/>
            </a:pPr>
            <a:r>
              <a:rPr lang="en-US" sz="2133" dirty="0"/>
              <a:t>How does </a:t>
            </a:r>
            <a:r>
              <a:rPr lang="en-US" sz="2133" dirty="0" err="1"/>
              <a:t>Lustre</a:t>
            </a:r>
            <a:r>
              <a:rPr lang="en-US" sz="2133" dirty="0"/>
              <a:t> work?</a:t>
            </a:r>
          </a:p>
          <a:p>
            <a:pPr algn="just">
              <a:lnSpc>
                <a:spcPct val="150000"/>
              </a:lnSpc>
              <a:buNone/>
            </a:pPr>
            <a:r>
              <a:rPr lang="en-US" sz="2133" dirty="0"/>
              <a:t>When a client needs to access a file, it contacts the MDS, which gives information on the OSTs that contain the data or on which it will be able to write; the MDS modifies metadata as needed; and the client then connects directly with the OSSs to read or write data. </a:t>
            </a:r>
          </a:p>
          <a:p>
            <a:pPr algn="just">
              <a:lnSpc>
                <a:spcPct val="150000"/>
              </a:lnSpc>
              <a:buNone/>
            </a:pPr>
            <a:endParaRPr lang="en-US" sz="2133" dirty="0"/>
          </a:p>
          <a:p>
            <a:pPr algn="just">
              <a:lnSpc>
                <a:spcPct val="150000"/>
              </a:lnSpc>
              <a:buNone/>
            </a:pPr>
            <a:r>
              <a:rPr lang="en-US" sz="2133" dirty="0"/>
              <a:t>The OSSs maintain the locks, which are set at byte intervals on each OST. </a:t>
            </a:r>
          </a:p>
        </p:txBody>
      </p:sp>
      <p:sp>
        <p:nvSpPr>
          <p:cNvPr id="5" name="Slide Number Placeholder 4"/>
          <p:cNvSpPr>
            <a:spLocks noGrp="1"/>
          </p:cNvSpPr>
          <p:nvPr>
            <p:ph type="sldNum" idx="12"/>
          </p:nvPr>
        </p:nvSpPr>
        <p:spPr/>
        <p:txBody>
          <a:bodyPr/>
          <a:lstStyle/>
          <a:p>
            <a:fld id="{00000000-1234-1234-1234-123412341234}" type="slidenum">
              <a:rPr lang="en" smtClean="0"/>
              <a:pPr/>
              <a:t>26</a:t>
            </a:fld>
            <a:endParaRPr lang="en"/>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2544" y="2595127"/>
            <a:ext cx="10515600" cy="939600"/>
          </a:xfrm>
        </p:spPr>
        <p:txBody>
          <a:bodyPr>
            <a:noAutofit/>
          </a:bodyPr>
          <a:lstStyle/>
          <a:p>
            <a:pPr algn="ctr"/>
            <a:r>
              <a:rPr lang="en-US" sz="6000" dirty="0"/>
              <a:t>Performance Parameters for supercomputers</a:t>
            </a:r>
          </a:p>
        </p:txBody>
      </p:sp>
      <p:sp>
        <p:nvSpPr>
          <p:cNvPr id="5" name="Slide Number Placeholder 4"/>
          <p:cNvSpPr>
            <a:spLocks noGrp="1"/>
          </p:cNvSpPr>
          <p:nvPr>
            <p:ph type="sldNum" idx="12"/>
          </p:nvPr>
        </p:nvSpPr>
        <p:spPr/>
        <p:txBody>
          <a:bodyPr/>
          <a:lstStyle/>
          <a:p>
            <a:fld id="{00000000-1234-1234-1234-123412341234}" type="slidenum">
              <a:rPr lang="en" smtClean="0"/>
              <a:pPr/>
              <a:t>27</a:t>
            </a:fld>
            <a:endParaRPr lang="e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Performance Parameters for supercomputers</a:t>
            </a:r>
          </a:p>
        </p:txBody>
      </p:sp>
      <p:sp>
        <p:nvSpPr>
          <p:cNvPr id="3" name="Text Placeholder 2"/>
          <p:cNvSpPr>
            <a:spLocks noGrp="1"/>
          </p:cNvSpPr>
          <p:nvPr>
            <p:ph type="body" idx="1"/>
          </p:nvPr>
        </p:nvSpPr>
        <p:spPr/>
        <p:txBody>
          <a:bodyPr>
            <a:normAutofit fontScale="70000" lnSpcReduction="20000"/>
          </a:bodyPr>
          <a:lstStyle/>
          <a:p>
            <a:pPr algn="just">
              <a:lnSpc>
                <a:spcPct val="150000"/>
              </a:lnSpc>
            </a:pPr>
            <a:r>
              <a:rPr lang="en-US" sz="2133" dirty="0"/>
              <a:t>Supercomputer performance is represented using a standard rate that indicates the number of floating-point arithmetic computations a system can complete per second. </a:t>
            </a:r>
          </a:p>
          <a:p>
            <a:pPr algn="just">
              <a:lnSpc>
                <a:spcPct val="150000"/>
              </a:lnSpc>
            </a:pPr>
            <a:r>
              <a:rPr lang="en-US" sz="2133" dirty="0"/>
              <a:t>FLOPS is an abbreviation for floating-point operations per second. The letter "S" in the acronym "FLOPS" stands for "second" and is used in conjunction with the letter "P" (for "per") to represent a rate,  gigabits per second (</a:t>
            </a:r>
            <a:r>
              <a:rPr lang="en-US" sz="2133" dirty="0" err="1"/>
              <a:t>Gbps</a:t>
            </a:r>
            <a:r>
              <a:rPr lang="en-US" sz="2133" dirty="0"/>
              <a:t>). </a:t>
            </a:r>
          </a:p>
          <a:p>
            <a:pPr algn="just">
              <a:lnSpc>
                <a:spcPct val="150000"/>
              </a:lnSpc>
            </a:pPr>
            <a:r>
              <a:rPr lang="en-US" sz="2133" dirty="0"/>
              <a:t>The theoretical peak performance (</a:t>
            </a:r>
            <a:r>
              <a:rPr lang="en-US" sz="2133" dirty="0" err="1"/>
              <a:t>Rpeak</a:t>
            </a:r>
            <a:r>
              <a:rPr lang="en-US" sz="2133" dirty="0"/>
              <a:t>) capabilities of their systems, represented in FLOPS. The </a:t>
            </a:r>
            <a:r>
              <a:rPr lang="en-US" sz="2133" dirty="0" err="1"/>
              <a:t>Rpeak</a:t>
            </a:r>
            <a:r>
              <a:rPr lang="en-US" sz="2133" dirty="0"/>
              <a:t> of a system is calculated by multiplying the number of processors by their clock speed, and then multiplying that product by the number of floating-point operations the processors can perform in one second on standard benchmark programs like the LINPACK DP TPP and HPC Challenge (HPCC), as well as the SPEC integer and floating-point benchmarks.</a:t>
            </a:r>
          </a:p>
        </p:txBody>
      </p:sp>
      <p:sp>
        <p:nvSpPr>
          <p:cNvPr id="5" name="Slide Number Placeholder 4"/>
          <p:cNvSpPr>
            <a:spLocks noGrp="1"/>
          </p:cNvSpPr>
          <p:nvPr>
            <p:ph type="sldNum" idx="12"/>
          </p:nvPr>
        </p:nvSpPr>
        <p:spPr/>
        <p:txBody>
          <a:bodyPr/>
          <a:lstStyle/>
          <a:p>
            <a:fld id="{00000000-1234-1234-1234-123412341234}" type="slidenum">
              <a:rPr lang="en" smtClean="0"/>
              <a:pPr/>
              <a:t>28</a:t>
            </a:fld>
            <a:endParaRPr lang="e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0827" y="272236"/>
            <a:ext cx="10515600" cy="939600"/>
          </a:xfrm>
        </p:spPr>
        <p:txBody>
          <a:bodyPr>
            <a:noAutofit/>
          </a:bodyPr>
          <a:lstStyle/>
          <a:p>
            <a:r>
              <a:rPr lang="en-US" b="1" dirty="0"/>
              <a:t>HPL - A Portable Implementation of the High-Performance </a:t>
            </a:r>
            <a:r>
              <a:rPr lang="en-US" b="1" dirty="0" err="1"/>
              <a:t>Linpack</a:t>
            </a:r>
            <a:r>
              <a:rPr lang="en-US" b="1" dirty="0"/>
              <a:t> Benchmark</a:t>
            </a:r>
            <a:endParaRPr lang="en-US" dirty="0"/>
          </a:p>
        </p:txBody>
      </p:sp>
      <p:sp>
        <p:nvSpPr>
          <p:cNvPr id="3" name="Text Placeholder 2"/>
          <p:cNvSpPr>
            <a:spLocks noGrp="1"/>
          </p:cNvSpPr>
          <p:nvPr>
            <p:ph type="body" idx="1"/>
          </p:nvPr>
        </p:nvSpPr>
        <p:spPr>
          <a:xfrm>
            <a:off x="838200" y="1545465"/>
            <a:ext cx="10515600" cy="4815715"/>
          </a:xfrm>
        </p:spPr>
        <p:txBody>
          <a:bodyPr>
            <a:normAutofit/>
          </a:bodyPr>
          <a:lstStyle/>
          <a:p>
            <a:pPr algn="just">
              <a:lnSpc>
                <a:spcPct val="150000"/>
              </a:lnSpc>
            </a:pPr>
            <a:r>
              <a:rPr lang="en-US" sz="2133" dirty="0"/>
              <a:t>HPL stands for High-Performance </a:t>
            </a:r>
            <a:r>
              <a:rPr lang="en-US" sz="2133" dirty="0" err="1"/>
              <a:t>Linpack</a:t>
            </a:r>
            <a:r>
              <a:rPr lang="en-US" sz="2133" dirty="0"/>
              <a:t> benchmark. The code solves a uniformly random system of linear equations and returns the time and floating-point execution rate using a standard operation count algorithm.</a:t>
            </a:r>
          </a:p>
          <a:p>
            <a:pPr algn="just">
              <a:lnSpc>
                <a:spcPct val="150000"/>
              </a:lnSpc>
            </a:pPr>
            <a:r>
              <a:rPr lang="en-US" sz="2133" dirty="0"/>
              <a:t>HPL is developed in portable ANSI C and requires both an MPI implementation and a BLAS or VSIPL library. HPL's choice of software dependencies provides portability as well as performance.</a:t>
            </a:r>
          </a:p>
          <a:p>
            <a:pPr algn="just">
              <a:lnSpc>
                <a:spcPct val="150000"/>
              </a:lnSpc>
            </a:pPr>
            <a:r>
              <a:rPr lang="en-US" sz="2133" dirty="0"/>
              <a:t>HPL is frequently one of the first programs run on big computer installations to get a result suitable for submission to TOP500.</a:t>
            </a:r>
          </a:p>
        </p:txBody>
      </p:sp>
      <p:sp>
        <p:nvSpPr>
          <p:cNvPr id="5" name="Slide Number Placeholder 4"/>
          <p:cNvSpPr>
            <a:spLocks noGrp="1"/>
          </p:cNvSpPr>
          <p:nvPr>
            <p:ph type="sldNum" idx="12"/>
          </p:nvPr>
        </p:nvSpPr>
        <p:spPr/>
        <p:txBody>
          <a:bodyPr/>
          <a:lstStyle/>
          <a:p>
            <a:fld id="{00000000-1234-1234-1234-123412341234}" type="slidenum">
              <a:rPr lang="en" smtClean="0"/>
              <a:pPr/>
              <a:t>29</a:t>
            </a:fld>
            <a:endParaRPr lang="e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HPL</a:t>
            </a:r>
          </a:p>
        </p:txBody>
      </p:sp>
      <p:sp>
        <p:nvSpPr>
          <p:cNvPr id="3" name="Text Placeholder 2"/>
          <p:cNvSpPr>
            <a:spLocks noGrp="1"/>
          </p:cNvSpPr>
          <p:nvPr>
            <p:ph type="body" idx="1"/>
          </p:nvPr>
        </p:nvSpPr>
        <p:spPr/>
        <p:txBody>
          <a:bodyPr>
            <a:normAutofit fontScale="70000" lnSpcReduction="20000"/>
          </a:bodyPr>
          <a:lstStyle/>
          <a:p>
            <a:pPr algn="just">
              <a:lnSpc>
                <a:spcPct val="150000"/>
              </a:lnSpc>
            </a:pPr>
            <a:r>
              <a:rPr lang="en-US" sz="2133" dirty="0"/>
              <a:t>On distributed-memory computers, </a:t>
            </a:r>
            <a:r>
              <a:rPr lang="en-US" sz="2133" b="1" dirty="0"/>
              <a:t>HPL</a:t>
            </a:r>
            <a:r>
              <a:rPr lang="en-US" sz="2133" dirty="0"/>
              <a:t> is a software package that solves a (random) dense linear system in double precision (64 bits) arithmetic. As a result, it may be considered a portable and freely accessible implementation of the High Performance Computing </a:t>
            </a:r>
            <a:r>
              <a:rPr lang="en-US" sz="2133" dirty="0" err="1"/>
              <a:t>Linpack</a:t>
            </a:r>
            <a:r>
              <a:rPr lang="en-US" sz="2133" dirty="0"/>
              <a:t> Benchmark.</a:t>
            </a:r>
          </a:p>
          <a:p>
            <a:pPr algn="just">
              <a:lnSpc>
                <a:spcPct val="150000"/>
              </a:lnSpc>
            </a:pPr>
            <a:r>
              <a:rPr lang="en-US" sz="2133" b="1" dirty="0"/>
              <a:t>Precision, performance, and scalability</a:t>
            </a:r>
          </a:p>
          <a:p>
            <a:pPr algn="just">
              <a:lnSpc>
                <a:spcPct val="150000"/>
              </a:lnSpc>
            </a:pPr>
            <a:r>
              <a:rPr lang="en-US" sz="2133" dirty="0"/>
              <a:t>The HPL package includes a testing and timing tool that allows you to assess the correctness of the answer as well as the time it took to compute it. The optimum performance that this program can achieve on your machine is determined by a number of variables. Nonetheless, with some restrictions on the interconnection network, the algorithm presented here and its attached implementation are scalable in the sense that their parallel efficiency is constant in relation to the per processor memory usage.</a:t>
            </a:r>
          </a:p>
          <a:p>
            <a:endParaRPr lang="en-US" dirty="0"/>
          </a:p>
        </p:txBody>
      </p:sp>
      <p:sp>
        <p:nvSpPr>
          <p:cNvPr id="5" name="Slide Number Placeholder 4"/>
          <p:cNvSpPr>
            <a:spLocks noGrp="1"/>
          </p:cNvSpPr>
          <p:nvPr>
            <p:ph type="sldNum" idx="12"/>
          </p:nvPr>
        </p:nvSpPr>
        <p:spPr/>
        <p:txBody>
          <a:bodyPr/>
          <a:lstStyle/>
          <a:p>
            <a:fld id="{00000000-1234-1234-1234-123412341234}" type="slidenum">
              <a:rPr lang="en" smtClean="0"/>
              <a:pPr/>
              <a:t>30</a:t>
            </a:fld>
            <a:endParaRPr lang="e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0927" y="2586541"/>
            <a:ext cx="10515600" cy="939600"/>
          </a:xfrm>
        </p:spPr>
        <p:txBody>
          <a:bodyPr>
            <a:noAutofit/>
          </a:bodyPr>
          <a:lstStyle/>
          <a:p>
            <a:pPr algn="ctr"/>
            <a:r>
              <a:rPr lang="en-US" sz="6000" dirty="0"/>
              <a:t>Cluster Design and network considerations</a:t>
            </a:r>
          </a:p>
        </p:txBody>
      </p:sp>
      <p:sp>
        <p:nvSpPr>
          <p:cNvPr id="5" name="Slide Number Placeholder 4"/>
          <p:cNvSpPr>
            <a:spLocks noGrp="1"/>
          </p:cNvSpPr>
          <p:nvPr>
            <p:ph type="sldNum" idx="12"/>
          </p:nvPr>
        </p:nvSpPr>
        <p:spPr/>
        <p:txBody>
          <a:bodyPr/>
          <a:lstStyle/>
          <a:p>
            <a:fld id="{00000000-1234-1234-1234-123412341234}" type="slidenum">
              <a:rPr lang="en" smtClean="0"/>
              <a:pPr/>
              <a:t>31</a:t>
            </a:fld>
            <a:endParaRPr lang="e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 Design and network considerations </a:t>
            </a:r>
          </a:p>
        </p:txBody>
      </p:sp>
      <p:sp>
        <p:nvSpPr>
          <p:cNvPr id="3" name="Text Placeholder 2"/>
          <p:cNvSpPr>
            <a:spLocks noGrp="1"/>
          </p:cNvSpPr>
          <p:nvPr>
            <p:ph type="body" idx="1"/>
          </p:nvPr>
        </p:nvSpPr>
        <p:spPr/>
        <p:txBody>
          <a:bodyPr>
            <a:normAutofit/>
          </a:bodyPr>
          <a:lstStyle/>
          <a:p>
            <a:pPr algn="just">
              <a:lnSpc>
                <a:spcPct val="150000"/>
              </a:lnSpc>
              <a:buNone/>
            </a:pPr>
            <a:r>
              <a:rPr lang="en-US" sz="2133" dirty="0"/>
              <a:t>The major requirements while designing a cluster is </a:t>
            </a:r>
          </a:p>
          <a:p>
            <a:pPr lvl="1" algn="just">
              <a:lnSpc>
                <a:spcPct val="150000"/>
              </a:lnSpc>
            </a:pPr>
            <a:r>
              <a:rPr lang="en-US" sz="2133" dirty="0"/>
              <a:t>Physical facilities to house the cluster. </a:t>
            </a:r>
          </a:p>
          <a:p>
            <a:pPr lvl="1" algn="just">
              <a:lnSpc>
                <a:spcPct val="150000"/>
              </a:lnSpc>
            </a:pPr>
            <a:r>
              <a:rPr lang="en-US" sz="2133" dirty="0"/>
              <a:t>Hardware requirements.</a:t>
            </a:r>
          </a:p>
          <a:p>
            <a:pPr lvl="1" algn="just">
              <a:lnSpc>
                <a:spcPct val="150000"/>
              </a:lnSpc>
            </a:pPr>
            <a:r>
              <a:rPr lang="en-US" sz="2133" dirty="0"/>
              <a:t>Software requirements.</a:t>
            </a:r>
          </a:p>
        </p:txBody>
      </p:sp>
      <p:sp>
        <p:nvSpPr>
          <p:cNvPr id="6" name="Slide Number Placeholder 5"/>
          <p:cNvSpPr>
            <a:spLocks noGrp="1"/>
          </p:cNvSpPr>
          <p:nvPr>
            <p:ph type="sldNum" idx="12"/>
          </p:nvPr>
        </p:nvSpPr>
        <p:spPr/>
        <p:txBody>
          <a:bodyPr/>
          <a:lstStyle/>
          <a:p>
            <a:fld id="{00000000-1234-1234-1234-123412341234}" type="slidenum">
              <a:rPr lang="en" smtClean="0"/>
              <a:pPr/>
              <a:t>32</a:t>
            </a:fld>
            <a:endParaRPr lang="e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Facilities requirements.</a:t>
            </a:r>
          </a:p>
        </p:txBody>
      </p:sp>
      <p:sp>
        <p:nvSpPr>
          <p:cNvPr id="3" name="Text Placeholder 2"/>
          <p:cNvSpPr>
            <a:spLocks noGrp="1"/>
          </p:cNvSpPr>
          <p:nvPr>
            <p:ph type="body" idx="1"/>
          </p:nvPr>
        </p:nvSpPr>
        <p:spPr/>
        <p:txBody>
          <a:bodyPr>
            <a:normAutofit lnSpcReduction="10000"/>
          </a:bodyPr>
          <a:lstStyle/>
          <a:p>
            <a:pPr marL="609585" lvl="2" algn="just">
              <a:lnSpc>
                <a:spcPct val="150000"/>
              </a:lnSpc>
              <a:spcBef>
                <a:spcPts val="933"/>
              </a:spcBef>
            </a:pPr>
            <a:r>
              <a:rPr lang="en-US" sz="2133" dirty="0"/>
              <a:t>In cluster design and implementation, </a:t>
            </a:r>
            <a:r>
              <a:rPr lang="en-US" sz="2133" b="1" dirty="0"/>
              <a:t>facilities</a:t>
            </a:r>
            <a:r>
              <a:rPr lang="en-US" sz="2133" dirty="0"/>
              <a:t> are frequently the most decisive aspect.</a:t>
            </a:r>
          </a:p>
          <a:p>
            <a:pPr algn="just">
              <a:lnSpc>
                <a:spcPct val="150000"/>
              </a:lnSpc>
            </a:pPr>
            <a:r>
              <a:rPr lang="en-US" sz="2133" dirty="0"/>
              <a:t> To implement HPC, we require</a:t>
            </a:r>
          </a:p>
          <a:p>
            <a:pPr lvl="1" algn="just">
              <a:lnSpc>
                <a:spcPct val="150000"/>
              </a:lnSpc>
            </a:pPr>
            <a:r>
              <a:rPr lang="en-US" sz="2133" dirty="0"/>
              <a:t>Physical Area</a:t>
            </a:r>
          </a:p>
          <a:p>
            <a:pPr lvl="2" algn="just">
              <a:lnSpc>
                <a:spcPct val="150000"/>
              </a:lnSpc>
            </a:pPr>
            <a:r>
              <a:rPr lang="en-US" sz="2133" dirty="0"/>
              <a:t>Adequate physical floor space to house the server racks, with enough space between them for safety, and the necessary supports to hold the racks of additional servers.</a:t>
            </a:r>
          </a:p>
          <a:p>
            <a:pPr lvl="2" algn="just">
              <a:lnSpc>
                <a:spcPct val="150000"/>
              </a:lnSpc>
            </a:pPr>
            <a:endParaRPr lang="en-US" sz="2133" dirty="0"/>
          </a:p>
          <a:p>
            <a:pPr algn="just"/>
            <a:endParaRPr lang="en-US" dirty="0"/>
          </a:p>
        </p:txBody>
      </p:sp>
      <p:sp>
        <p:nvSpPr>
          <p:cNvPr id="5" name="Slide Number Placeholder 4"/>
          <p:cNvSpPr>
            <a:spLocks noGrp="1"/>
          </p:cNvSpPr>
          <p:nvPr>
            <p:ph type="sldNum" idx="12"/>
          </p:nvPr>
        </p:nvSpPr>
        <p:spPr/>
        <p:txBody>
          <a:bodyPr/>
          <a:lstStyle/>
          <a:p>
            <a:fld id="{00000000-1234-1234-1234-123412341234}" type="slidenum">
              <a:rPr lang="en" smtClean="0"/>
              <a:pPr/>
              <a:t>33</a:t>
            </a:fld>
            <a:endParaRPr lang="e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Facilities requirements.</a:t>
            </a:r>
          </a:p>
        </p:txBody>
      </p:sp>
      <p:sp>
        <p:nvSpPr>
          <p:cNvPr id="3" name="Text Placeholder 2"/>
          <p:cNvSpPr>
            <a:spLocks noGrp="1"/>
          </p:cNvSpPr>
          <p:nvPr>
            <p:ph type="body" idx="1"/>
          </p:nvPr>
        </p:nvSpPr>
        <p:spPr>
          <a:xfrm>
            <a:off x="838200" y="1013139"/>
            <a:ext cx="10515600" cy="5227839"/>
          </a:xfrm>
        </p:spPr>
        <p:txBody>
          <a:bodyPr>
            <a:normAutofit fontScale="92500" lnSpcReduction="20000"/>
          </a:bodyPr>
          <a:lstStyle/>
          <a:p>
            <a:pPr algn="just">
              <a:lnSpc>
                <a:spcPct val="150000"/>
              </a:lnSpc>
            </a:pPr>
            <a:r>
              <a:rPr lang="en-US" sz="2133" dirty="0"/>
              <a:t>Power Supply</a:t>
            </a:r>
          </a:p>
          <a:p>
            <a:pPr lvl="1" algn="just">
              <a:lnSpc>
                <a:spcPct val="150000"/>
              </a:lnSpc>
            </a:pPr>
            <a:r>
              <a:rPr lang="en-US" sz="2133" dirty="0"/>
              <a:t>Uninterrupted power supply to operate the servers, cooling, to avoid any potential data loss.</a:t>
            </a:r>
          </a:p>
          <a:p>
            <a:pPr lvl="1" algn="just">
              <a:lnSpc>
                <a:spcPct val="150000"/>
              </a:lnSpc>
            </a:pPr>
            <a:r>
              <a:rPr lang="en-US" sz="2133" dirty="0"/>
              <a:t>Redundant power supply in the event of an emergency to ensure all servers are operating at optimum capacity.</a:t>
            </a:r>
          </a:p>
          <a:p>
            <a:pPr algn="just">
              <a:lnSpc>
                <a:spcPct val="150000"/>
              </a:lnSpc>
            </a:pPr>
            <a:r>
              <a:rPr lang="en-US" sz="2133" dirty="0"/>
              <a:t>Adequate cooling capacity to manage heat.</a:t>
            </a:r>
          </a:p>
          <a:p>
            <a:pPr lvl="1" algn="just">
              <a:lnSpc>
                <a:spcPct val="150000"/>
              </a:lnSpc>
            </a:pPr>
            <a:r>
              <a:rPr lang="en-US" sz="2133" dirty="0"/>
              <a:t>Proper cooling of all the servers including the storage servers in order to ensure that the data centre operates at a nominal temperature.</a:t>
            </a:r>
          </a:p>
          <a:p>
            <a:pPr lvl="1" algn="just">
              <a:lnSpc>
                <a:spcPct val="150000"/>
              </a:lnSpc>
            </a:pPr>
            <a:r>
              <a:rPr lang="en-US" sz="2133" dirty="0"/>
              <a:t>Servers operating 24X7 give out a lot of heat, it is very essential to ensure that they are brought down to a nominal temperature,  otherwise the servers might overheat and we might see a performance drop.</a:t>
            </a:r>
          </a:p>
          <a:p>
            <a:endParaRPr lang="en-US" dirty="0"/>
          </a:p>
        </p:txBody>
      </p:sp>
      <p:sp>
        <p:nvSpPr>
          <p:cNvPr id="5" name="Slide Number Placeholder 4"/>
          <p:cNvSpPr>
            <a:spLocks noGrp="1"/>
          </p:cNvSpPr>
          <p:nvPr>
            <p:ph type="sldNum" idx="12"/>
          </p:nvPr>
        </p:nvSpPr>
        <p:spPr/>
        <p:txBody>
          <a:bodyPr/>
          <a:lstStyle/>
          <a:p>
            <a:fld id="{00000000-1234-1234-1234-123412341234}" type="slidenum">
              <a:rPr lang="en" smtClean="0"/>
              <a:pPr/>
              <a:t>34</a:t>
            </a:fld>
            <a:endParaRPr lang="e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Facilities requirements.</a:t>
            </a:r>
          </a:p>
        </p:txBody>
      </p:sp>
      <p:sp>
        <p:nvSpPr>
          <p:cNvPr id="3" name="Text Placeholder 2"/>
          <p:cNvSpPr>
            <a:spLocks noGrp="1"/>
          </p:cNvSpPr>
          <p:nvPr>
            <p:ph type="body" idx="1"/>
          </p:nvPr>
        </p:nvSpPr>
        <p:spPr/>
        <p:txBody>
          <a:bodyPr>
            <a:normAutofit fontScale="92500" lnSpcReduction="20000"/>
          </a:bodyPr>
          <a:lstStyle/>
          <a:p>
            <a:pPr marL="457189" lvl="1" indent="-457189" algn="just">
              <a:lnSpc>
                <a:spcPct val="150000"/>
              </a:lnSpc>
              <a:buFont typeface="Arial" pitchFamily="34" charset="0"/>
              <a:buChar char="•"/>
            </a:pPr>
            <a:r>
              <a:rPr lang="en-US" sz="2133" dirty="0"/>
              <a:t>Ample security from physical threats.</a:t>
            </a:r>
          </a:p>
          <a:p>
            <a:pPr lvl="1" algn="just">
              <a:lnSpc>
                <a:spcPct val="150000"/>
              </a:lnSpc>
            </a:pPr>
            <a:r>
              <a:rPr lang="en-US" sz="2133" dirty="0"/>
              <a:t>Physical security is required to protect the data centre from intruders and other threats.</a:t>
            </a:r>
          </a:p>
          <a:p>
            <a:pPr lvl="1" algn="just">
              <a:lnSpc>
                <a:spcPct val="150000"/>
              </a:lnSpc>
            </a:pPr>
            <a:r>
              <a:rPr lang="en-US" sz="2133" dirty="0"/>
              <a:t>Proper safety measures for safety hazards such as fires, natural disasters and such things need to be taken into consideration and implemented.</a:t>
            </a:r>
          </a:p>
          <a:p>
            <a:pPr lvl="1" algn="just">
              <a:lnSpc>
                <a:spcPct val="150000"/>
              </a:lnSpc>
            </a:pPr>
            <a:r>
              <a:rPr lang="en-US" sz="2133" dirty="0"/>
              <a:t>A BMS(building management system) needs to be integrated to control and maintain all the facilities required to run a cluster.</a:t>
            </a:r>
          </a:p>
          <a:p>
            <a:endParaRPr lang="en-US" dirty="0"/>
          </a:p>
        </p:txBody>
      </p:sp>
      <p:sp>
        <p:nvSpPr>
          <p:cNvPr id="5" name="Slide Number Placeholder 4"/>
          <p:cNvSpPr>
            <a:spLocks noGrp="1"/>
          </p:cNvSpPr>
          <p:nvPr>
            <p:ph type="sldNum" idx="12"/>
          </p:nvPr>
        </p:nvSpPr>
        <p:spPr/>
        <p:txBody>
          <a:bodyPr/>
          <a:lstStyle/>
          <a:p>
            <a:fld id="{00000000-1234-1234-1234-123412341234}" type="slidenum">
              <a:rPr lang="en" smtClean="0"/>
              <a:pPr/>
              <a:t>35</a:t>
            </a:fld>
            <a:endParaRPr lang="e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 requirements</a:t>
            </a:r>
            <a:r>
              <a:rPr lang="en-US" b="1" dirty="0"/>
              <a:t>. </a:t>
            </a:r>
            <a:endParaRPr lang="en-US" dirty="0"/>
          </a:p>
        </p:txBody>
      </p:sp>
      <p:sp>
        <p:nvSpPr>
          <p:cNvPr id="3" name="Text Placeholder 2"/>
          <p:cNvSpPr>
            <a:spLocks noGrp="1"/>
          </p:cNvSpPr>
          <p:nvPr>
            <p:ph type="body" idx="1"/>
          </p:nvPr>
        </p:nvSpPr>
        <p:spPr/>
        <p:txBody>
          <a:bodyPr>
            <a:normAutofit fontScale="77500" lnSpcReduction="20000"/>
          </a:bodyPr>
          <a:lstStyle/>
          <a:p>
            <a:pPr algn="just">
              <a:lnSpc>
                <a:spcPct val="150000"/>
              </a:lnSpc>
            </a:pPr>
            <a:r>
              <a:rPr lang="en-US" sz="2133" dirty="0"/>
              <a:t>Building an HPC cluster requires various things:</a:t>
            </a:r>
          </a:p>
          <a:p>
            <a:pPr lvl="1" algn="just">
              <a:lnSpc>
                <a:spcPct val="150000"/>
              </a:lnSpc>
            </a:pPr>
            <a:r>
              <a:rPr lang="en-US" sz="2133" dirty="0"/>
              <a:t>Servers</a:t>
            </a:r>
          </a:p>
          <a:p>
            <a:pPr lvl="2" algn="just">
              <a:lnSpc>
                <a:spcPct val="150000"/>
              </a:lnSpc>
            </a:pPr>
            <a:r>
              <a:rPr lang="en-US" sz="2133" dirty="0"/>
              <a:t>Servers can be based on the requirements of the cluster and can be a normal CPU server, or it can also be specialized servers with high memory or with GPU cards</a:t>
            </a:r>
          </a:p>
          <a:p>
            <a:pPr lvl="2" algn="just">
              <a:lnSpc>
                <a:spcPct val="150000"/>
              </a:lnSpc>
            </a:pPr>
            <a:r>
              <a:rPr lang="en-US" sz="2133" dirty="0"/>
              <a:t>A typical cluster requires at the minimum 3 types of nodes, Head Nodes, Compute Nodes and Login/Client Nodes.</a:t>
            </a:r>
          </a:p>
          <a:p>
            <a:pPr lvl="2" algn="just">
              <a:lnSpc>
                <a:spcPct val="150000"/>
              </a:lnSpc>
            </a:pPr>
            <a:r>
              <a:rPr lang="en-US" sz="2133" dirty="0"/>
              <a:t>All these must be kept in mind while designing any cluster, and based on your requirements and available physical facilities. </a:t>
            </a:r>
          </a:p>
          <a:p>
            <a:pPr algn="just">
              <a:lnSpc>
                <a:spcPct val="150000"/>
              </a:lnSpc>
            </a:pPr>
            <a:endParaRPr lang="en-US" sz="2133" dirty="0"/>
          </a:p>
        </p:txBody>
      </p:sp>
      <p:sp>
        <p:nvSpPr>
          <p:cNvPr id="5" name="Slide Number Placeholder 4"/>
          <p:cNvSpPr>
            <a:spLocks noGrp="1"/>
          </p:cNvSpPr>
          <p:nvPr>
            <p:ph type="sldNum" idx="12"/>
          </p:nvPr>
        </p:nvSpPr>
        <p:spPr/>
        <p:txBody>
          <a:bodyPr/>
          <a:lstStyle/>
          <a:p>
            <a:fld id="{00000000-1234-1234-1234-123412341234}" type="slidenum">
              <a:rPr lang="en" smtClean="0"/>
              <a:pPr/>
              <a:t>36</a:t>
            </a:fld>
            <a:endParaRPr lang="e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 requirements</a:t>
            </a:r>
          </a:p>
        </p:txBody>
      </p:sp>
      <p:sp>
        <p:nvSpPr>
          <p:cNvPr id="3" name="Text Placeholder 2"/>
          <p:cNvSpPr>
            <a:spLocks noGrp="1"/>
          </p:cNvSpPr>
          <p:nvPr>
            <p:ph type="body" idx="1"/>
          </p:nvPr>
        </p:nvSpPr>
        <p:spPr/>
        <p:txBody>
          <a:bodyPr>
            <a:normAutofit fontScale="85000" lnSpcReduction="20000"/>
          </a:bodyPr>
          <a:lstStyle/>
          <a:p>
            <a:pPr algn="just">
              <a:lnSpc>
                <a:spcPct val="150000"/>
              </a:lnSpc>
            </a:pPr>
            <a:r>
              <a:rPr lang="en-US" sz="2133" dirty="0"/>
              <a:t>Storage</a:t>
            </a:r>
          </a:p>
          <a:p>
            <a:pPr lvl="1" algn="just">
              <a:lnSpc>
                <a:spcPct val="150000"/>
              </a:lnSpc>
            </a:pPr>
            <a:r>
              <a:rPr lang="en-US" sz="2133" dirty="0"/>
              <a:t>In terms of storage, depending on the requirements, ample amount of storage for running required applications must be mounted on the servers.</a:t>
            </a:r>
          </a:p>
          <a:p>
            <a:pPr lvl="1" algn="just">
              <a:lnSpc>
                <a:spcPct val="150000"/>
              </a:lnSpc>
            </a:pPr>
            <a:r>
              <a:rPr lang="en-US" sz="2133" dirty="0"/>
              <a:t>Since this is a cluster, a shared parallel file system is a must, to ensure all the users can simultaneously access their files from storage.</a:t>
            </a:r>
          </a:p>
          <a:p>
            <a:pPr lvl="1" algn="just">
              <a:lnSpc>
                <a:spcPct val="150000"/>
              </a:lnSpc>
            </a:pPr>
            <a:r>
              <a:rPr lang="en-US" sz="2133" dirty="0"/>
              <a:t>The storage servers need to be connected through high speed network for running applications so high bandwidth storage media like SSD can be considered in a RAID volume. </a:t>
            </a:r>
          </a:p>
          <a:p>
            <a:endParaRPr lang="en-US" dirty="0"/>
          </a:p>
        </p:txBody>
      </p:sp>
      <p:sp>
        <p:nvSpPr>
          <p:cNvPr id="5" name="Slide Number Placeholder 4"/>
          <p:cNvSpPr>
            <a:spLocks noGrp="1"/>
          </p:cNvSpPr>
          <p:nvPr>
            <p:ph type="sldNum" idx="12"/>
          </p:nvPr>
        </p:nvSpPr>
        <p:spPr/>
        <p:txBody>
          <a:bodyPr/>
          <a:lstStyle/>
          <a:p>
            <a:fld id="{00000000-1234-1234-1234-123412341234}" type="slidenum">
              <a:rPr lang="en" smtClean="0"/>
              <a:pPr/>
              <a:t>37</a:t>
            </a:fld>
            <a:endParaRPr lang="e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 requirements</a:t>
            </a:r>
          </a:p>
        </p:txBody>
      </p:sp>
      <p:sp>
        <p:nvSpPr>
          <p:cNvPr id="3" name="Text Placeholder 2"/>
          <p:cNvSpPr>
            <a:spLocks noGrp="1"/>
          </p:cNvSpPr>
          <p:nvPr>
            <p:ph type="body" idx="1"/>
          </p:nvPr>
        </p:nvSpPr>
        <p:spPr/>
        <p:txBody>
          <a:bodyPr>
            <a:normAutofit fontScale="85000" lnSpcReduction="20000"/>
          </a:bodyPr>
          <a:lstStyle/>
          <a:p>
            <a:pPr marL="457189" lvl="1" indent="-457189" algn="just">
              <a:lnSpc>
                <a:spcPct val="150000"/>
              </a:lnSpc>
              <a:buFont typeface="Arial" pitchFamily="34" charset="0"/>
              <a:buChar char="•"/>
            </a:pPr>
            <a:r>
              <a:rPr lang="en-US" sz="2133" dirty="0"/>
              <a:t>A Dedicated network</a:t>
            </a:r>
          </a:p>
          <a:p>
            <a:pPr lvl="1" algn="just">
              <a:lnSpc>
                <a:spcPct val="150000"/>
              </a:lnSpc>
            </a:pPr>
            <a:r>
              <a:rPr lang="en-US" sz="2133" dirty="0"/>
              <a:t>All nodes need to be connected to each other and to the storage through high speed internet, in order to facilitate the smooth running of large applications like real time weather simulations.</a:t>
            </a:r>
          </a:p>
          <a:p>
            <a:pPr lvl="1" algn="just">
              <a:lnSpc>
                <a:spcPct val="150000"/>
              </a:lnSpc>
            </a:pPr>
            <a:r>
              <a:rPr lang="en-US" sz="2133" dirty="0"/>
              <a:t>Best case would be to use </a:t>
            </a:r>
            <a:r>
              <a:rPr lang="en-US" sz="2133" dirty="0" err="1"/>
              <a:t>Infiniband</a:t>
            </a:r>
            <a:r>
              <a:rPr lang="en-US" sz="2133" dirty="0"/>
              <a:t> connections for high speed interconnections, but it will depend on the budget, if that is viable option or a proper Fiber Channel cable to connect them is a must.</a:t>
            </a:r>
          </a:p>
          <a:p>
            <a:pPr lvl="1" algn="just">
              <a:lnSpc>
                <a:spcPct val="150000"/>
              </a:lnSpc>
            </a:pPr>
            <a:r>
              <a:rPr lang="en-US" sz="2133" dirty="0"/>
              <a:t>Most importantly a backup network switch must be placed at strategic points to avoid point of failure and ensure network doesn’t collapses. </a:t>
            </a:r>
          </a:p>
          <a:p>
            <a:endParaRPr lang="en-US" dirty="0"/>
          </a:p>
        </p:txBody>
      </p:sp>
      <p:sp>
        <p:nvSpPr>
          <p:cNvPr id="5" name="Slide Number Placeholder 4"/>
          <p:cNvSpPr>
            <a:spLocks noGrp="1"/>
          </p:cNvSpPr>
          <p:nvPr>
            <p:ph type="sldNum" idx="12"/>
          </p:nvPr>
        </p:nvSpPr>
        <p:spPr/>
        <p:txBody>
          <a:bodyPr/>
          <a:lstStyle/>
          <a:p>
            <a:fld id="{00000000-1234-1234-1234-123412341234}" type="slidenum">
              <a:rPr lang="en" smtClean="0"/>
              <a:pPr/>
              <a:t>38</a:t>
            </a:fld>
            <a:endParaRPr lang="e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requirements. </a:t>
            </a:r>
          </a:p>
        </p:txBody>
      </p:sp>
      <p:sp>
        <p:nvSpPr>
          <p:cNvPr id="3" name="Text Placeholder 2"/>
          <p:cNvSpPr>
            <a:spLocks noGrp="1"/>
          </p:cNvSpPr>
          <p:nvPr>
            <p:ph type="body" idx="1"/>
          </p:nvPr>
        </p:nvSpPr>
        <p:spPr/>
        <p:txBody>
          <a:bodyPr>
            <a:normAutofit fontScale="70000" lnSpcReduction="20000"/>
          </a:bodyPr>
          <a:lstStyle/>
          <a:p>
            <a:pPr algn="just">
              <a:lnSpc>
                <a:spcPct val="150000"/>
              </a:lnSpc>
            </a:pPr>
            <a:r>
              <a:rPr lang="en-US" sz="2133" dirty="0"/>
              <a:t>A cluster for HPC should have a wide range of libraries to support various applications. One of the most popular open source software repository is </a:t>
            </a:r>
            <a:r>
              <a:rPr lang="en-US" sz="2133" dirty="0" err="1"/>
              <a:t>OpenHPC</a:t>
            </a:r>
            <a:r>
              <a:rPr lang="en-US" sz="2133" dirty="0"/>
              <a:t>. It contains a wide array of applications and libraries for various Linux systems, including but not limited to,</a:t>
            </a:r>
          </a:p>
          <a:p>
            <a:pPr lvl="1" algn="just">
              <a:lnSpc>
                <a:spcPct val="150000"/>
              </a:lnSpc>
            </a:pPr>
            <a:r>
              <a:rPr lang="en-IN" sz="2133" dirty="0"/>
              <a:t>Cluster Provisioning tools </a:t>
            </a:r>
          </a:p>
          <a:p>
            <a:pPr lvl="1" algn="just">
              <a:lnSpc>
                <a:spcPct val="150000"/>
              </a:lnSpc>
            </a:pPr>
            <a:r>
              <a:rPr lang="en-US" sz="2133" dirty="0"/>
              <a:t>System Resource Manager</a:t>
            </a:r>
          </a:p>
          <a:p>
            <a:pPr lvl="1" algn="just">
              <a:lnSpc>
                <a:spcPct val="150000"/>
              </a:lnSpc>
            </a:pPr>
            <a:r>
              <a:rPr lang="en-US" sz="2133" dirty="0"/>
              <a:t>System Management tools</a:t>
            </a:r>
          </a:p>
          <a:p>
            <a:pPr lvl="1" algn="just">
              <a:lnSpc>
                <a:spcPct val="150000"/>
              </a:lnSpc>
            </a:pPr>
            <a:r>
              <a:rPr lang="en-US" sz="2133" dirty="0"/>
              <a:t>MPI packages</a:t>
            </a:r>
          </a:p>
          <a:p>
            <a:pPr lvl="1" algn="just">
              <a:lnSpc>
                <a:spcPct val="150000"/>
              </a:lnSpc>
            </a:pPr>
            <a:r>
              <a:rPr lang="en-US" sz="2133" dirty="0"/>
              <a:t>Intel and GNU compilers</a:t>
            </a:r>
          </a:p>
          <a:p>
            <a:pPr lvl="1" algn="just">
              <a:lnSpc>
                <a:spcPct val="150000"/>
              </a:lnSpc>
            </a:pPr>
            <a:r>
              <a:rPr lang="en-US" sz="2133" dirty="0"/>
              <a:t>Debuggers and Profilers</a:t>
            </a:r>
          </a:p>
        </p:txBody>
      </p:sp>
      <p:sp>
        <p:nvSpPr>
          <p:cNvPr id="5" name="Slide Number Placeholder 4"/>
          <p:cNvSpPr>
            <a:spLocks noGrp="1"/>
          </p:cNvSpPr>
          <p:nvPr>
            <p:ph type="sldNum" idx="12"/>
          </p:nvPr>
        </p:nvSpPr>
        <p:spPr/>
        <p:txBody>
          <a:bodyPr/>
          <a:lstStyle/>
          <a:p>
            <a:fld id="{00000000-1234-1234-1234-123412341234}" type="slidenum">
              <a:rPr lang="en" smtClean="0"/>
              <a:pPr/>
              <a:t>39</a:t>
            </a:fld>
            <a:endParaRPr lang="en"/>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Considerations</a:t>
            </a:r>
          </a:p>
        </p:txBody>
      </p:sp>
      <p:sp>
        <p:nvSpPr>
          <p:cNvPr id="3" name="Text Placeholder 2"/>
          <p:cNvSpPr>
            <a:spLocks noGrp="1"/>
          </p:cNvSpPr>
          <p:nvPr>
            <p:ph type="body" idx="1"/>
          </p:nvPr>
        </p:nvSpPr>
        <p:spPr/>
        <p:txBody>
          <a:bodyPr>
            <a:normAutofit fontScale="70000" lnSpcReduction="20000"/>
          </a:bodyPr>
          <a:lstStyle/>
          <a:p>
            <a:pPr algn="just">
              <a:lnSpc>
                <a:spcPct val="150000"/>
              </a:lnSpc>
            </a:pPr>
            <a:r>
              <a:rPr lang="en-US" sz="2133" dirty="0"/>
              <a:t>While designing a cluster, one should take into considerations the network requirements and what provisions can be made, </a:t>
            </a:r>
          </a:p>
          <a:p>
            <a:pPr lvl="1" algn="just">
              <a:lnSpc>
                <a:spcPct val="150000"/>
              </a:lnSpc>
            </a:pPr>
            <a:r>
              <a:rPr lang="en-US" sz="2133" dirty="0"/>
              <a:t>What type of network interface would be best ?</a:t>
            </a:r>
          </a:p>
          <a:p>
            <a:pPr lvl="1" algn="just">
              <a:lnSpc>
                <a:spcPct val="150000"/>
              </a:lnSpc>
            </a:pPr>
            <a:r>
              <a:rPr lang="en-US" sz="2133" dirty="0"/>
              <a:t>How many points of failures are there ?</a:t>
            </a:r>
          </a:p>
          <a:p>
            <a:pPr lvl="1" algn="just">
              <a:lnSpc>
                <a:spcPct val="150000"/>
              </a:lnSpc>
            </a:pPr>
            <a:r>
              <a:rPr lang="en-US" sz="2133" dirty="0"/>
              <a:t>What type of network media would be most viable ?</a:t>
            </a:r>
          </a:p>
          <a:p>
            <a:pPr algn="just">
              <a:lnSpc>
                <a:spcPct val="150000"/>
              </a:lnSpc>
            </a:pPr>
            <a:r>
              <a:rPr lang="en-US" sz="2133" dirty="0"/>
              <a:t>Keeping these in mind, enough network switches must be placed strategically to ensure no network disruption.</a:t>
            </a:r>
          </a:p>
          <a:p>
            <a:pPr algn="just">
              <a:lnSpc>
                <a:spcPct val="150000"/>
              </a:lnSpc>
            </a:pPr>
            <a:r>
              <a:rPr lang="en-US" sz="2133" dirty="0"/>
              <a:t>FC or </a:t>
            </a:r>
            <a:r>
              <a:rPr lang="en-US" sz="2133" dirty="0" err="1"/>
              <a:t>Infiniband</a:t>
            </a:r>
            <a:r>
              <a:rPr lang="en-US" sz="2133" dirty="0"/>
              <a:t> are the most commonly used network mediums in a cluster as they can provide higher network bandwidth than a normal Ethernet medium can provide.</a:t>
            </a:r>
          </a:p>
          <a:p>
            <a:pPr>
              <a:buNone/>
            </a:pPr>
            <a:endParaRPr lang="en-US" dirty="0"/>
          </a:p>
        </p:txBody>
      </p:sp>
      <p:sp>
        <p:nvSpPr>
          <p:cNvPr id="5" name="Slide Number Placeholder 4"/>
          <p:cNvSpPr>
            <a:spLocks noGrp="1"/>
          </p:cNvSpPr>
          <p:nvPr>
            <p:ph type="sldNum" idx="12"/>
          </p:nvPr>
        </p:nvSpPr>
        <p:spPr/>
        <p:txBody>
          <a:bodyPr/>
          <a:lstStyle/>
          <a:p>
            <a:fld id="{00000000-1234-1234-1234-123412341234}" type="slidenum">
              <a:rPr lang="en" smtClean="0"/>
              <a:pPr/>
              <a:t>40</a:t>
            </a:fld>
            <a:endParaRPr lang="e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8099" y="2921392"/>
            <a:ext cx="10515600" cy="939600"/>
          </a:xfrm>
        </p:spPr>
        <p:txBody>
          <a:bodyPr>
            <a:noAutofit/>
          </a:bodyPr>
          <a:lstStyle/>
          <a:p>
            <a:pPr algn="ctr"/>
            <a:r>
              <a:rPr lang="en-US" sz="5867" dirty="0"/>
              <a:t>Components of supercomputer Network</a:t>
            </a:r>
          </a:p>
        </p:txBody>
      </p:sp>
      <p:sp>
        <p:nvSpPr>
          <p:cNvPr id="5" name="Slide Number Placeholder 4"/>
          <p:cNvSpPr>
            <a:spLocks noGrp="1"/>
          </p:cNvSpPr>
          <p:nvPr>
            <p:ph type="sldNum" idx="12"/>
          </p:nvPr>
        </p:nvSpPr>
        <p:spPr/>
        <p:txBody>
          <a:bodyPr/>
          <a:lstStyle/>
          <a:p>
            <a:fld id="{00000000-1234-1234-1234-123412341234}" type="slidenum">
              <a:rPr lang="en" smtClean="0"/>
              <a:pPr/>
              <a:t>41</a:t>
            </a:fld>
            <a:endParaRPr lang="en"/>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 networks</a:t>
            </a:r>
          </a:p>
        </p:txBody>
      </p:sp>
      <p:sp>
        <p:nvSpPr>
          <p:cNvPr id="3" name="Text Placeholder 2"/>
          <p:cNvSpPr>
            <a:spLocks noGrp="1"/>
          </p:cNvSpPr>
          <p:nvPr>
            <p:ph type="body" idx="1"/>
          </p:nvPr>
        </p:nvSpPr>
        <p:spPr/>
        <p:txBody>
          <a:bodyPr>
            <a:normAutofit fontScale="55000" lnSpcReduction="20000"/>
          </a:bodyPr>
          <a:lstStyle/>
          <a:p>
            <a:pPr algn="just">
              <a:lnSpc>
                <a:spcPct val="160000"/>
              </a:lnSpc>
            </a:pPr>
            <a:r>
              <a:rPr lang="en-US" sz="2267" dirty="0"/>
              <a:t>A computer network is a collection of computers that share resources that are located on or provided by network nodes. To interact with one another, computers employ standard communication protocols across digital links. These linkages are made up of telecommunication network technologies based on physical linkage, optical, and wireless radio-frequency means, which may be configured in a number of network topologies.</a:t>
            </a:r>
          </a:p>
          <a:p>
            <a:pPr algn="just">
              <a:lnSpc>
                <a:spcPct val="160000"/>
              </a:lnSpc>
            </a:pPr>
            <a:r>
              <a:rPr lang="en-US" sz="2267" dirty="0"/>
              <a:t>A computer network's nodes can be personal computers, servers, networking devices, or other specialized or general-purpose hosts. They are recognized by network addresses and maybe by hostnames. Hostnames function as node labels and are seldom modified after initial assignment. Network addresses are used by communication protocols such as the Internet Protocol to locate and identify nodes.</a:t>
            </a:r>
          </a:p>
          <a:p>
            <a:pPr algn="just">
              <a:lnSpc>
                <a:spcPct val="160000"/>
              </a:lnSpc>
            </a:pPr>
            <a:r>
              <a:rPr lang="en-US" sz="2267" dirty="0"/>
              <a:t>Many characteristics may be used to classify computer networks, including the transmission media used to convey signals, bandwidth, communications protocols used to arrange network traffic, network size, topology, traffic management techniques, and organizational goal.</a:t>
            </a:r>
          </a:p>
          <a:p>
            <a:endParaRPr lang="en-US" dirty="0"/>
          </a:p>
        </p:txBody>
      </p:sp>
      <p:sp>
        <p:nvSpPr>
          <p:cNvPr id="5" name="Slide Number Placeholder 4"/>
          <p:cNvSpPr>
            <a:spLocks noGrp="1"/>
          </p:cNvSpPr>
          <p:nvPr>
            <p:ph type="sldNum" idx="12"/>
          </p:nvPr>
        </p:nvSpPr>
        <p:spPr/>
        <p:txBody>
          <a:bodyPr/>
          <a:lstStyle/>
          <a:p>
            <a:fld id="{00000000-1234-1234-1234-123412341234}" type="slidenum">
              <a:rPr lang="en" smtClean="0"/>
              <a:pPr/>
              <a:t>42</a:t>
            </a:fld>
            <a:endParaRPr lang="e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Components of Supercomputer Network</a:t>
            </a:r>
          </a:p>
        </p:txBody>
      </p:sp>
      <p:sp>
        <p:nvSpPr>
          <p:cNvPr id="3" name="Text Placeholder 2"/>
          <p:cNvSpPr>
            <a:spLocks noGrp="1"/>
          </p:cNvSpPr>
          <p:nvPr>
            <p:ph type="body" idx="1"/>
          </p:nvPr>
        </p:nvSpPr>
        <p:spPr/>
        <p:txBody>
          <a:bodyPr/>
          <a:lstStyle/>
          <a:p>
            <a:pPr algn="just">
              <a:lnSpc>
                <a:spcPct val="150000"/>
              </a:lnSpc>
            </a:pPr>
            <a:r>
              <a:rPr lang="en-US" sz="2133" dirty="0"/>
              <a:t>NIC</a:t>
            </a:r>
          </a:p>
          <a:p>
            <a:pPr algn="just">
              <a:lnSpc>
                <a:spcPct val="150000"/>
              </a:lnSpc>
            </a:pPr>
            <a:r>
              <a:rPr lang="en-US" sz="2133" dirty="0"/>
              <a:t>Switches</a:t>
            </a:r>
          </a:p>
          <a:p>
            <a:pPr algn="just">
              <a:lnSpc>
                <a:spcPct val="150000"/>
              </a:lnSpc>
            </a:pPr>
            <a:r>
              <a:rPr lang="en-US" sz="2133" dirty="0"/>
              <a:t>Firewalls</a:t>
            </a:r>
          </a:p>
          <a:p>
            <a:pPr algn="just">
              <a:lnSpc>
                <a:spcPct val="150000"/>
              </a:lnSpc>
            </a:pPr>
            <a:r>
              <a:rPr lang="en-US" sz="2133" dirty="0"/>
              <a:t>Network Mediums</a:t>
            </a:r>
          </a:p>
          <a:p>
            <a:endParaRPr lang="en-US" dirty="0"/>
          </a:p>
        </p:txBody>
      </p:sp>
      <p:sp>
        <p:nvSpPr>
          <p:cNvPr id="5" name="Slide Number Placeholder 4"/>
          <p:cNvSpPr>
            <a:spLocks noGrp="1"/>
          </p:cNvSpPr>
          <p:nvPr>
            <p:ph type="sldNum" idx="12"/>
          </p:nvPr>
        </p:nvSpPr>
        <p:spPr/>
        <p:txBody>
          <a:bodyPr/>
          <a:lstStyle/>
          <a:p>
            <a:fld id="{00000000-1234-1234-1234-123412341234}" type="slidenum">
              <a:rPr lang="en" smtClean="0"/>
              <a:pPr/>
              <a:t>43</a:t>
            </a:fld>
            <a:endParaRPr lang="e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Interface Cards (NIC)</a:t>
            </a:r>
          </a:p>
        </p:txBody>
      </p:sp>
      <p:sp>
        <p:nvSpPr>
          <p:cNvPr id="3" name="Text Placeholder 2"/>
          <p:cNvSpPr>
            <a:spLocks noGrp="1"/>
          </p:cNvSpPr>
          <p:nvPr>
            <p:ph type="body" idx="1"/>
          </p:nvPr>
        </p:nvSpPr>
        <p:spPr/>
        <p:txBody>
          <a:bodyPr>
            <a:normAutofit/>
          </a:bodyPr>
          <a:lstStyle/>
          <a:p>
            <a:pPr algn="just">
              <a:lnSpc>
                <a:spcPct val="150000"/>
              </a:lnSpc>
            </a:pPr>
            <a:r>
              <a:rPr lang="en-US" sz="2133" dirty="0"/>
              <a:t>A network interface controller (NIC) is a piece of computer hardware that links the computer to network media and interpret low-level network information. For example, the NIC may have a cable connector for wired transmissions or an antenna for wireless transmission and receiving, as well as the related circuitry.</a:t>
            </a:r>
          </a:p>
        </p:txBody>
      </p:sp>
      <p:sp>
        <p:nvSpPr>
          <p:cNvPr id="5" name="Slide Number Placeholder 4"/>
          <p:cNvSpPr>
            <a:spLocks noGrp="1"/>
          </p:cNvSpPr>
          <p:nvPr>
            <p:ph type="sldNum" idx="12"/>
          </p:nvPr>
        </p:nvSpPr>
        <p:spPr/>
        <p:txBody>
          <a:bodyPr/>
          <a:lstStyle/>
          <a:p>
            <a:fld id="{00000000-1234-1234-1234-123412341234}" type="slidenum">
              <a:rPr lang="en" smtClean="0"/>
              <a:pPr/>
              <a:t>44</a:t>
            </a:fld>
            <a:endParaRPr lang="e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Switches</a:t>
            </a:r>
          </a:p>
        </p:txBody>
      </p:sp>
      <p:sp>
        <p:nvSpPr>
          <p:cNvPr id="3" name="Text Placeholder 2"/>
          <p:cNvSpPr>
            <a:spLocks noGrp="1"/>
          </p:cNvSpPr>
          <p:nvPr>
            <p:ph type="body" idx="1"/>
          </p:nvPr>
        </p:nvSpPr>
        <p:spPr/>
        <p:txBody>
          <a:bodyPr>
            <a:noAutofit/>
          </a:bodyPr>
          <a:lstStyle/>
          <a:p>
            <a:pPr algn="just">
              <a:lnSpc>
                <a:spcPct val="170000"/>
              </a:lnSpc>
            </a:pPr>
            <a:r>
              <a:rPr lang="en-US" sz="1600" dirty="0"/>
              <a:t>Network switches differ from hubs in that they forward frames exclusively to the ports participating in the connection, whereas hubs transmit frames to all ports. Switches often feature a large number of ports, allowing for device star topology and the cascading of more switches.</a:t>
            </a:r>
          </a:p>
          <a:p>
            <a:pPr algn="just">
              <a:lnSpc>
                <a:spcPct val="170000"/>
              </a:lnSpc>
            </a:pPr>
            <a:r>
              <a:rPr lang="en-US" sz="1600" dirty="0"/>
              <a:t>Switches function at the OSI model's data connection layer (layer 2), bridging traffic between two or more network segments to form a single local network. It routes data frames between ports depending on the target MAC address in each frame. By studying the source addresses of incoming frames, it learns the relationship of physical ports to MAC addresses and only forwards the frame when necessary. If an unknown destination MAC is specified, the device broadcasts the request to all ports except the source, and the location is determined from the response.</a:t>
            </a:r>
          </a:p>
          <a:p>
            <a:pPr algn="just">
              <a:lnSpc>
                <a:spcPct val="170000"/>
              </a:lnSpc>
            </a:pPr>
            <a:r>
              <a:rPr lang="en-US" sz="1600" dirty="0"/>
              <a:t>Switches separate the collision domain of the network while maintaining a single broadcast domain. Network segmentation through switching assists in breaking down a big, congested network into an aggregation of smaller, more efficient networks.</a:t>
            </a:r>
          </a:p>
        </p:txBody>
      </p:sp>
      <p:sp>
        <p:nvSpPr>
          <p:cNvPr id="5" name="Slide Number Placeholder 4"/>
          <p:cNvSpPr>
            <a:spLocks noGrp="1"/>
          </p:cNvSpPr>
          <p:nvPr>
            <p:ph type="sldNum" idx="12"/>
          </p:nvPr>
        </p:nvSpPr>
        <p:spPr/>
        <p:txBody>
          <a:bodyPr/>
          <a:lstStyle/>
          <a:p>
            <a:fld id="{00000000-1234-1234-1234-123412341234}" type="slidenum">
              <a:rPr lang="en" smtClean="0"/>
              <a:pPr/>
              <a:t>45</a:t>
            </a:fld>
            <a:endParaRPr lang="e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Firewall</a:t>
            </a:r>
          </a:p>
        </p:txBody>
      </p:sp>
      <p:sp>
        <p:nvSpPr>
          <p:cNvPr id="3" name="Text Placeholder 2"/>
          <p:cNvSpPr>
            <a:spLocks noGrp="1"/>
          </p:cNvSpPr>
          <p:nvPr>
            <p:ph type="body" idx="1"/>
          </p:nvPr>
        </p:nvSpPr>
        <p:spPr/>
        <p:txBody>
          <a:bodyPr>
            <a:normAutofit fontScale="92500" lnSpcReduction="20000"/>
          </a:bodyPr>
          <a:lstStyle/>
          <a:p>
            <a:pPr algn="just">
              <a:lnSpc>
                <a:spcPct val="150000"/>
              </a:lnSpc>
            </a:pPr>
            <a:r>
              <a:rPr lang="en-US" dirty="0"/>
              <a:t>A firewall is a network hardware or piece of software that manages network security and access regulations. Firewalls are used to protect connections between safe internal networks and potentially vulnerable external networks like the Internet. Firewalls are commonly set to deny unrecognized access requests while permitting activities from recognized sources. The importance of firewalls in network security develops in tandem with the steady increase in cyber threats.</a:t>
            </a:r>
          </a:p>
          <a:p>
            <a:pPr algn="just">
              <a:lnSpc>
                <a:spcPct val="150000"/>
              </a:lnSpc>
            </a:pPr>
            <a:r>
              <a:rPr lang="en-US" dirty="0"/>
              <a:t>There are two types of firewalls</a:t>
            </a:r>
          </a:p>
          <a:p>
            <a:pPr lvl="1" algn="just">
              <a:lnSpc>
                <a:spcPct val="150000"/>
              </a:lnSpc>
            </a:pPr>
            <a:r>
              <a:rPr lang="en-US" dirty="0"/>
              <a:t>Hardware firewalls</a:t>
            </a:r>
          </a:p>
          <a:p>
            <a:pPr lvl="1" algn="just">
              <a:lnSpc>
                <a:spcPct val="150000"/>
              </a:lnSpc>
            </a:pPr>
            <a:r>
              <a:rPr lang="en-US" dirty="0"/>
              <a:t>Software firewalls</a:t>
            </a:r>
          </a:p>
          <a:p>
            <a:endParaRPr lang="en-US" dirty="0"/>
          </a:p>
        </p:txBody>
      </p:sp>
      <p:sp>
        <p:nvSpPr>
          <p:cNvPr id="5" name="Slide Number Placeholder 4"/>
          <p:cNvSpPr>
            <a:spLocks noGrp="1"/>
          </p:cNvSpPr>
          <p:nvPr>
            <p:ph type="sldNum" idx="12"/>
          </p:nvPr>
        </p:nvSpPr>
        <p:spPr/>
        <p:txBody>
          <a:bodyPr/>
          <a:lstStyle/>
          <a:p>
            <a:fld id="{00000000-1234-1234-1234-123412341234}" type="slidenum">
              <a:rPr lang="en" smtClean="0"/>
              <a:pPr/>
              <a:t>46</a:t>
            </a:fld>
            <a:endParaRPr lang="e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Network medium	</a:t>
            </a:r>
          </a:p>
        </p:txBody>
      </p:sp>
      <p:sp>
        <p:nvSpPr>
          <p:cNvPr id="3" name="Text Placeholder 2"/>
          <p:cNvSpPr>
            <a:spLocks noGrp="1"/>
          </p:cNvSpPr>
          <p:nvPr>
            <p:ph type="body" idx="1"/>
          </p:nvPr>
        </p:nvSpPr>
        <p:spPr/>
        <p:txBody>
          <a:bodyPr/>
          <a:lstStyle/>
          <a:p>
            <a:r>
              <a:rPr lang="en-US" dirty="0"/>
              <a:t>There are many types of network mediums available today, the most commonly used ones are as follows,</a:t>
            </a:r>
          </a:p>
          <a:p>
            <a:pPr lvl="1"/>
            <a:r>
              <a:rPr lang="en-US" dirty="0"/>
              <a:t>Ethernet</a:t>
            </a:r>
          </a:p>
          <a:p>
            <a:pPr lvl="1"/>
            <a:r>
              <a:rPr lang="en-US" dirty="0"/>
              <a:t>FC</a:t>
            </a:r>
          </a:p>
          <a:p>
            <a:pPr lvl="1"/>
            <a:r>
              <a:rPr lang="en-US" dirty="0" err="1"/>
              <a:t>Infiniband</a:t>
            </a:r>
            <a:r>
              <a:rPr lang="en-US" dirty="0"/>
              <a:t> </a:t>
            </a:r>
          </a:p>
          <a:p>
            <a:endParaRPr lang="en-US" dirty="0"/>
          </a:p>
        </p:txBody>
      </p:sp>
      <p:sp>
        <p:nvSpPr>
          <p:cNvPr id="5" name="Slide Number Placeholder 4"/>
          <p:cNvSpPr>
            <a:spLocks noGrp="1"/>
          </p:cNvSpPr>
          <p:nvPr>
            <p:ph type="sldNum" idx="12"/>
          </p:nvPr>
        </p:nvSpPr>
        <p:spPr/>
        <p:txBody>
          <a:bodyPr/>
          <a:lstStyle/>
          <a:p>
            <a:fld id="{00000000-1234-1234-1234-123412341234}" type="slidenum">
              <a:rPr lang="en" smtClean="0"/>
              <a:pPr/>
              <a:t>47</a:t>
            </a:fld>
            <a:endParaRPr lang="e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Ethernet</a:t>
            </a:r>
          </a:p>
        </p:txBody>
      </p:sp>
      <p:sp>
        <p:nvSpPr>
          <p:cNvPr id="3" name="Text Placeholder 2"/>
          <p:cNvSpPr>
            <a:spLocks noGrp="1"/>
          </p:cNvSpPr>
          <p:nvPr>
            <p:ph type="body" idx="1"/>
          </p:nvPr>
        </p:nvSpPr>
        <p:spPr/>
        <p:txBody>
          <a:bodyPr>
            <a:normAutofit fontScale="62500" lnSpcReduction="20000"/>
          </a:bodyPr>
          <a:lstStyle/>
          <a:p>
            <a:pPr algn="just">
              <a:lnSpc>
                <a:spcPct val="150000"/>
              </a:lnSpc>
            </a:pPr>
            <a:r>
              <a:rPr lang="en-US" sz="2133" dirty="0"/>
              <a:t>It was originally commercially available in 1980 and was first standardized as IEEE 802.3 in 1983. Since then, Ethernet has been modified to handle larger data rates, a greater number of nodes, and longer network distances while retaining a high degree of backward compatibility. Ethernet has essentially substituted rival wired LAN technologies such as Token Ring, FDDI, and ARCNET over time.</a:t>
            </a:r>
          </a:p>
          <a:p>
            <a:pPr algn="just">
              <a:lnSpc>
                <a:spcPct val="150000"/>
              </a:lnSpc>
            </a:pPr>
            <a:r>
              <a:rPr lang="en-US" sz="2133" dirty="0"/>
              <a:t>As a shared medium, the original 10BASE5 Ethernet employs a thick coaxial wire. 10BASE2, which employed a smaller and more flexible cable that was both cheaper and easier to use, primarily replaced this. Twisted pair and fiber optic lines are used in combination with switches in more contemporary Ethernet variations. Ethernet data transmission rates have risen throughout time, from 2.94 </a:t>
            </a:r>
            <a:r>
              <a:rPr lang="en-US" sz="2133" dirty="0" err="1"/>
              <a:t>Mbit</a:t>
            </a:r>
            <a:r>
              <a:rPr lang="en-US" sz="2133" dirty="0"/>
              <a:t>/s to the most recent 400 </a:t>
            </a:r>
            <a:r>
              <a:rPr lang="en-US" sz="2133" dirty="0" err="1"/>
              <a:t>Gbit</a:t>
            </a:r>
            <a:r>
              <a:rPr lang="en-US" sz="2133" dirty="0"/>
              <a:t>/s, with speeds up to 1.6 </a:t>
            </a:r>
            <a:r>
              <a:rPr lang="en-US" sz="2133" dirty="0" err="1"/>
              <a:t>Tbit</a:t>
            </a:r>
            <a:r>
              <a:rPr lang="en-US" sz="2133" dirty="0"/>
              <a:t>/s under development. Several wiring and signaling versions of the OSI physical layer are included in the Ethernet specifications.</a:t>
            </a:r>
          </a:p>
          <a:p>
            <a:pPr>
              <a:lnSpc>
                <a:spcPct val="150000"/>
              </a:lnSpc>
            </a:pPr>
            <a:endParaRPr lang="en-US" sz="2133" dirty="0"/>
          </a:p>
        </p:txBody>
      </p:sp>
      <p:sp>
        <p:nvSpPr>
          <p:cNvPr id="5" name="Slide Number Placeholder 4"/>
          <p:cNvSpPr>
            <a:spLocks noGrp="1"/>
          </p:cNvSpPr>
          <p:nvPr>
            <p:ph type="sldNum" idx="12"/>
          </p:nvPr>
        </p:nvSpPr>
        <p:spPr/>
        <p:txBody>
          <a:bodyPr/>
          <a:lstStyle/>
          <a:p>
            <a:fld id="{00000000-1234-1234-1234-123412341234}" type="slidenum">
              <a:rPr lang="en" smtClean="0"/>
              <a:pPr/>
              <a:t>48</a:t>
            </a:fld>
            <a:endParaRPr lang="en"/>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Fiber Channel</a:t>
            </a:r>
          </a:p>
        </p:txBody>
      </p:sp>
      <p:sp>
        <p:nvSpPr>
          <p:cNvPr id="3" name="Text Placeholder 2"/>
          <p:cNvSpPr>
            <a:spLocks noGrp="1"/>
          </p:cNvSpPr>
          <p:nvPr>
            <p:ph type="body" idx="1"/>
          </p:nvPr>
        </p:nvSpPr>
        <p:spPr/>
        <p:txBody>
          <a:bodyPr>
            <a:normAutofit fontScale="70000" lnSpcReduction="20000"/>
          </a:bodyPr>
          <a:lstStyle/>
          <a:p>
            <a:pPr algn="just">
              <a:lnSpc>
                <a:spcPct val="100000"/>
              </a:lnSpc>
            </a:pPr>
            <a:r>
              <a:rPr lang="en-US" sz="2133" dirty="0" err="1"/>
              <a:t>Fibre</a:t>
            </a:r>
            <a:r>
              <a:rPr lang="en-US" sz="2133" dirty="0"/>
              <a:t> Channel (FC) is a high-speed data transport system that delivers raw block data in order and without </a:t>
            </a:r>
            <a:r>
              <a:rPr lang="en-US" sz="2133" dirty="0" err="1"/>
              <a:t>loss.Fibre</a:t>
            </a:r>
            <a:r>
              <a:rPr lang="en-US" sz="2133" dirty="0"/>
              <a:t> Channel is usually utilized to connect computer data storage to servers in commercial data centers through storage area networks (SAN).</a:t>
            </a:r>
          </a:p>
          <a:p>
            <a:pPr algn="just">
              <a:lnSpc>
                <a:spcPct val="100000"/>
              </a:lnSpc>
            </a:pPr>
            <a:r>
              <a:rPr lang="en-US" sz="2133" dirty="0"/>
              <a:t>Because the switches in a network act in together as one huge switch, </a:t>
            </a:r>
            <a:r>
              <a:rPr lang="en-US" sz="2133" dirty="0" err="1"/>
              <a:t>Fibre</a:t>
            </a:r>
            <a:r>
              <a:rPr lang="en-US" sz="2133" dirty="0"/>
              <a:t> Channel networks form a switched fabric. </a:t>
            </a:r>
            <a:r>
              <a:rPr lang="en-US" sz="2133" dirty="0" err="1"/>
              <a:t>Fibre</a:t>
            </a:r>
            <a:r>
              <a:rPr lang="en-US" sz="2133" dirty="0"/>
              <a:t> Channel is usually transmitted through optical fiber cables within and between data centers, but it can also be carried over copper cabling. Data rates supported include 1, 2, 4, 8, 16, 32, 64, and 128 gigabits per second as a result of advancements in succeeding technology generations. This is currently known as Gigabit </a:t>
            </a:r>
            <a:r>
              <a:rPr lang="en-US" sz="2133" dirty="0" err="1"/>
              <a:t>Fibre</a:t>
            </a:r>
            <a:r>
              <a:rPr lang="en-US" sz="2133" dirty="0"/>
              <a:t> Channel (GFC) in the industry.</a:t>
            </a:r>
          </a:p>
          <a:p>
            <a:pPr algn="just">
              <a:lnSpc>
                <a:spcPct val="100000"/>
              </a:lnSpc>
            </a:pPr>
            <a:r>
              <a:rPr lang="en-US" sz="2133" dirty="0" err="1"/>
              <a:t>Fibre</a:t>
            </a:r>
            <a:r>
              <a:rPr lang="en-US" sz="2133" dirty="0"/>
              <a:t> Channel has several upper-level protocols, including two for block </a:t>
            </a:r>
            <a:r>
              <a:rPr lang="en-US" sz="2133" dirty="0" err="1"/>
              <a:t>storage.Fibre</a:t>
            </a:r>
            <a:r>
              <a:rPr lang="en-US" sz="2133" dirty="0"/>
              <a:t> Channel Protocol (FCP) is a protocol used to transfer SCSI commands over </a:t>
            </a:r>
            <a:r>
              <a:rPr lang="en-US" sz="2133" dirty="0" err="1"/>
              <a:t>Fibre</a:t>
            </a:r>
            <a:r>
              <a:rPr lang="en-US" sz="2133" dirty="0"/>
              <a:t> Channel </a:t>
            </a:r>
            <a:r>
              <a:rPr lang="en-US" sz="2133" dirty="0" err="1"/>
              <a:t>networks.FICON</a:t>
            </a:r>
            <a:r>
              <a:rPr lang="en-US" sz="2133" dirty="0"/>
              <a:t> is a </a:t>
            </a:r>
            <a:r>
              <a:rPr lang="en-US" sz="2133" dirty="0" err="1"/>
              <a:t>Fibre</a:t>
            </a:r>
            <a:r>
              <a:rPr lang="en-US" sz="2133" dirty="0"/>
              <a:t> Channel protocol that delivers ESCON commands used by IBM mainframe systems. By conveying </a:t>
            </a:r>
            <a:r>
              <a:rPr lang="en-US" sz="2133" dirty="0" err="1"/>
              <a:t>NVMe</a:t>
            </a:r>
            <a:r>
              <a:rPr lang="en-US" sz="2133" dirty="0"/>
              <a:t> protocol directives, </a:t>
            </a:r>
            <a:r>
              <a:rPr lang="en-US" sz="2133" dirty="0" err="1"/>
              <a:t>Fibre</a:t>
            </a:r>
            <a:r>
              <a:rPr lang="en-US" sz="2133" dirty="0"/>
              <a:t> Channel may be utilized to transport data from storage systems that employ solid-state flash memory storage media.</a:t>
            </a:r>
          </a:p>
          <a:p>
            <a:pPr algn="just">
              <a:lnSpc>
                <a:spcPct val="100000"/>
              </a:lnSpc>
            </a:pPr>
            <a:endParaRPr lang="en-US" sz="2133" dirty="0"/>
          </a:p>
          <a:p>
            <a:pPr algn="just">
              <a:lnSpc>
                <a:spcPct val="100000"/>
              </a:lnSpc>
            </a:pPr>
            <a:endParaRPr lang="en-US" sz="2133" dirty="0"/>
          </a:p>
        </p:txBody>
      </p:sp>
      <p:sp>
        <p:nvSpPr>
          <p:cNvPr id="5" name="Slide Number Placeholder 4"/>
          <p:cNvSpPr>
            <a:spLocks noGrp="1"/>
          </p:cNvSpPr>
          <p:nvPr>
            <p:ph type="sldNum" idx="12"/>
          </p:nvPr>
        </p:nvSpPr>
        <p:spPr/>
        <p:txBody>
          <a:bodyPr/>
          <a:lstStyle/>
          <a:p>
            <a:fld id="{00000000-1234-1234-1234-123412341234}" type="slidenum">
              <a:rPr lang="en" smtClean="0"/>
              <a:pPr/>
              <a:t>49</a:t>
            </a:fld>
            <a:endParaRPr lang="e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Infiniband</a:t>
            </a:r>
            <a:endParaRPr lang="en-US" dirty="0"/>
          </a:p>
        </p:txBody>
      </p:sp>
      <p:sp>
        <p:nvSpPr>
          <p:cNvPr id="3" name="Text Placeholder 2"/>
          <p:cNvSpPr>
            <a:spLocks noGrp="1"/>
          </p:cNvSpPr>
          <p:nvPr>
            <p:ph type="body" idx="1"/>
          </p:nvPr>
        </p:nvSpPr>
        <p:spPr/>
        <p:txBody>
          <a:bodyPr>
            <a:normAutofit fontScale="70000" lnSpcReduction="20000"/>
          </a:bodyPr>
          <a:lstStyle/>
          <a:p>
            <a:pPr algn="just">
              <a:lnSpc>
                <a:spcPct val="150000"/>
              </a:lnSpc>
            </a:pPr>
            <a:r>
              <a:rPr lang="en-US" sz="2133" dirty="0" err="1"/>
              <a:t>InfiniBand</a:t>
            </a:r>
            <a:r>
              <a:rPr lang="en-US" sz="2133" dirty="0"/>
              <a:t> (IB) is a high-performance computing networking communications technology with extremely high throughput and low latency. It is used to link data between and inside computers. </a:t>
            </a:r>
            <a:r>
              <a:rPr lang="en-US" sz="2133" dirty="0" err="1"/>
              <a:t>InfiniBand</a:t>
            </a:r>
            <a:r>
              <a:rPr lang="en-US" sz="2133" dirty="0"/>
              <a:t> is also utilized as a direct or switched connectivity between servers and storage systems, as well as a storage-to-storage link. It is scalable and has a switched fabric network topology. Until around 2016, it was the most regularly utilized interconnect in the TOP500 ranking of supercomputers.</a:t>
            </a:r>
          </a:p>
          <a:p>
            <a:pPr algn="just">
              <a:lnSpc>
                <a:spcPct val="150000"/>
              </a:lnSpc>
            </a:pPr>
            <a:r>
              <a:rPr lang="en-US" sz="2133" dirty="0" err="1"/>
              <a:t>Mellanox</a:t>
            </a:r>
            <a:r>
              <a:rPr lang="en-US" sz="2133" dirty="0"/>
              <a:t> (bought by </a:t>
            </a:r>
            <a:r>
              <a:rPr lang="en-US" sz="2133" dirty="0" err="1"/>
              <a:t>Nvidia</a:t>
            </a:r>
            <a:r>
              <a:rPr lang="en-US" sz="2133" dirty="0"/>
              <a:t>) makes </a:t>
            </a:r>
            <a:r>
              <a:rPr lang="en-US" sz="2133" dirty="0" err="1"/>
              <a:t>InfiniBand</a:t>
            </a:r>
            <a:r>
              <a:rPr lang="en-US" sz="2133" dirty="0"/>
              <a:t> host bus adapters and network switches, which are utilized in the product lines of significant computer system and database suppliers. IB competes with Ethernet, </a:t>
            </a:r>
            <a:r>
              <a:rPr lang="en-US" sz="2133" dirty="0" err="1"/>
              <a:t>Fibre</a:t>
            </a:r>
            <a:r>
              <a:rPr lang="en-US" sz="2133" dirty="0"/>
              <a:t> Channel, and Intel Omni-Path as a computer cluster connection.</a:t>
            </a:r>
          </a:p>
        </p:txBody>
      </p:sp>
      <p:sp>
        <p:nvSpPr>
          <p:cNvPr id="5" name="Slide Number Placeholder 4"/>
          <p:cNvSpPr>
            <a:spLocks noGrp="1"/>
          </p:cNvSpPr>
          <p:nvPr>
            <p:ph type="sldNum" idx="12"/>
          </p:nvPr>
        </p:nvSpPr>
        <p:spPr/>
        <p:txBody>
          <a:bodyPr/>
          <a:lstStyle/>
          <a:p>
            <a:fld id="{00000000-1234-1234-1234-123412341234}" type="slidenum">
              <a:rPr lang="en" smtClean="0"/>
              <a:pPr/>
              <a:t>50</a:t>
            </a:fld>
            <a:endParaRPr lang="e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8504" y="2698160"/>
            <a:ext cx="10515600" cy="939600"/>
          </a:xfrm>
        </p:spPr>
        <p:txBody>
          <a:bodyPr>
            <a:normAutofit fontScale="90000"/>
          </a:bodyPr>
          <a:lstStyle/>
          <a:p>
            <a:pPr algn="ctr"/>
            <a:r>
              <a:rPr lang="en-US" sz="5867" dirty="0"/>
              <a:t>Building a Linux cluster </a:t>
            </a:r>
          </a:p>
        </p:txBody>
      </p:sp>
      <p:sp>
        <p:nvSpPr>
          <p:cNvPr id="4" name="Slide Number Placeholder 3"/>
          <p:cNvSpPr>
            <a:spLocks noGrp="1"/>
          </p:cNvSpPr>
          <p:nvPr>
            <p:ph type="sldNum" idx="12"/>
          </p:nvPr>
        </p:nvSpPr>
        <p:spPr/>
        <p:txBody>
          <a:bodyPr/>
          <a:lstStyle/>
          <a:p>
            <a:fld id="{00000000-1234-1234-1234-123412341234}" type="slidenum">
              <a:rPr lang="en" smtClean="0"/>
              <a:pPr/>
              <a:t>51</a:t>
            </a:fld>
            <a:endParaRPr lang="e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 Linux cluster – Hardware</a:t>
            </a:r>
          </a:p>
        </p:txBody>
      </p:sp>
      <p:sp>
        <p:nvSpPr>
          <p:cNvPr id="3" name="Text Placeholder 2"/>
          <p:cNvSpPr>
            <a:spLocks noGrp="1"/>
          </p:cNvSpPr>
          <p:nvPr>
            <p:ph type="body" idx="1"/>
          </p:nvPr>
        </p:nvSpPr>
        <p:spPr/>
        <p:txBody>
          <a:bodyPr>
            <a:normAutofit fontScale="62500" lnSpcReduction="20000"/>
          </a:bodyPr>
          <a:lstStyle/>
          <a:p>
            <a:pPr marL="838179" indent="-609585">
              <a:buFont typeface="+mj-lt"/>
              <a:buAutoNum type="arabicPeriod"/>
            </a:pPr>
            <a:r>
              <a:rPr lang="en-US" b="1" dirty="0"/>
              <a:t>Determine the hardware components and resources required first.</a:t>
            </a:r>
          </a:p>
          <a:p>
            <a:pPr marL="1447764" lvl="1" indent="-609585"/>
            <a:r>
              <a:rPr lang="en-US" dirty="0"/>
              <a:t>One head node, at least a dozen identical compute nodes, an Ethernet switch, a power distribution unit, and a rack are all necessary. Determine the amount of electricity, cooling, and space necessary accordingly.. </a:t>
            </a:r>
          </a:p>
          <a:p>
            <a:pPr marL="1447764" lvl="1" indent="-609585" algn="just"/>
            <a:r>
              <a:rPr lang="en-US" dirty="0"/>
              <a:t>Decide IP address you want for your private networks,  the nodes name, what software packages you want installed, and what technology you want to give parallel computing capabilities </a:t>
            </a:r>
          </a:p>
          <a:p>
            <a:pPr marL="838179" indent="-609585" algn="just">
              <a:buFont typeface="+mj-lt"/>
              <a:buAutoNum type="arabicPeriod"/>
            </a:pPr>
            <a:r>
              <a:rPr lang="en-US" b="1" dirty="0"/>
              <a:t>Build the compute nodes.</a:t>
            </a:r>
          </a:p>
          <a:p>
            <a:pPr marL="1447764" lvl="1" indent="-609585"/>
            <a:r>
              <a:rPr lang="en-US" dirty="0"/>
              <a:t>You must assemble the computing nodes or purchase pre-built servers. For the entire system to function properly, all processors, network adapters, and motherboards must be similar.    </a:t>
            </a:r>
          </a:p>
          <a:p>
            <a:pPr marL="838179" indent="-609585">
              <a:buFont typeface="+mj-lt"/>
              <a:buAutoNum type="arabicPeriod"/>
            </a:pPr>
            <a:r>
              <a:rPr lang="en-US" b="1" dirty="0"/>
              <a:t>Install the servers into the rack. </a:t>
            </a:r>
          </a:p>
          <a:p>
            <a:pPr marL="1447764" lvl="1" indent="-609585"/>
            <a:r>
              <a:rPr lang="en-US" dirty="0"/>
              <a:t>Begin from the bottom to prevent the rack from becoming top heavy. </a:t>
            </a:r>
          </a:p>
          <a:p>
            <a:pPr marL="1447764" lvl="1" indent="-609585"/>
            <a:r>
              <a:rPr lang="en-US" dirty="0"/>
              <a:t>Install the Ethernet switch on the server's roof.</a:t>
            </a:r>
          </a:p>
          <a:p>
            <a:pPr marL="838179" indent="-609585">
              <a:buFont typeface="+mj-lt"/>
              <a:buAutoNum type="arabicPeriod"/>
            </a:pPr>
            <a:r>
              <a:rPr lang="en-US" b="1" dirty="0"/>
              <a:t>Install the Ethernet switch above the server chassis.</a:t>
            </a:r>
          </a:p>
          <a:p>
            <a:pPr lvl="1"/>
            <a:r>
              <a:rPr lang="en-US" dirty="0"/>
              <a:t>Configure the switch: change the IP address to the static address you chose in step 1, and disable unneeded routing protocols like SMTP Snooping.</a:t>
            </a:r>
          </a:p>
          <a:p>
            <a:pPr marL="838179" indent="-609585">
              <a:buFont typeface="+mj-lt"/>
              <a:buAutoNum type="arabicPeriod"/>
            </a:pPr>
            <a:r>
              <a:rPr lang="en-US" b="1" dirty="0"/>
              <a:t>Install the PDU (Power Distribution Unit).</a:t>
            </a:r>
          </a:p>
          <a:p>
            <a:pPr marL="1447764" lvl="1" indent="-609585"/>
            <a:r>
              <a:rPr lang="en-US" dirty="0"/>
              <a:t>Depending on how much current your nodes use at maximum load, 220 volts may be required for high performance computation.</a:t>
            </a:r>
          </a:p>
        </p:txBody>
      </p:sp>
      <p:sp>
        <p:nvSpPr>
          <p:cNvPr id="5" name="Slide Number Placeholder 4"/>
          <p:cNvSpPr>
            <a:spLocks noGrp="1"/>
          </p:cNvSpPr>
          <p:nvPr>
            <p:ph type="sldNum" idx="12"/>
          </p:nvPr>
        </p:nvSpPr>
        <p:spPr/>
        <p:txBody>
          <a:bodyPr/>
          <a:lstStyle/>
          <a:p>
            <a:fld id="{00000000-1234-1234-1234-123412341234}" type="slidenum">
              <a:rPr lang="en" smtClean="0"/>
              <a:pPr/>
              <a:t>52</a:t>
            </a:fld>
            <a:endParaRPr lang="en"/>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 Linux cluster - Software</a:t>
            </a:r>
          </a:p>
        </p:txBody>
      </p:sp>
      <p:sp>
        <p:nvSpPr>
          <p:cNvPr id="3" name="Text Placeholder 2"/>
          <p:cNvSpPr>
            <a:spLocks noGrp="1"/>
          </p:cNvSpPr>
          <p:nvPr>
            <p:ph type="body" idx="1"/>
          </p:nvPr>
        </p:nvSpPr>
        <p:spPr/>
        <p:txBody>
          <a:bodyPr>
            <a:normAutofit fontScale="70000" lnSpcReduction="20000"/>
          </a:bodyPr>
          <a:lstStyle/>
          <a:p>
            <a:pPr marL="838179" indent="-609585">
              <a:buFont typeface="+mj-lt"/>
              <a:buAutoNum type="arabicPeriod"/>
            </a:pPr>
            <a:r>
              <a:rPr lang="en-US" b="1" dirty="0"/>
              <a:t>With  all the hardware setup you can begin the software configuration process.</a:t>
            </a:r>
          </a:p>
          <a:p>
            <a:pPr marL="1447764" lvl="1" indent="-609585">
              <a:buNone/>
            </a:pPr>
            <a:r>
              <a:rPr lang="en-US" dirty="0"/>
              <a:t>Not only is Linux the de facto operating system for HPC clusters, but it is also the best platform for scientific computing.</a:t>
            </a:r>
          </a:p>
          <a:p>
            <a:pPr marL="1447764" lvl="1" indent="-609585"/>
            <a:r>
              <a:rPr lang="en-US" dirty="0"/>
              <a:t>Begin by updating the motherboard BIOS and firmware, which should be the same across all nodes.</a:t>
            </a:r>
          </a:p>
          <a:p>
            <a:pPr marL="1447764" lvl="1" indent="-609585"/>
            <a:r>
              <a:rPr lang="en-US" dirty="0"/>
              <a:t>Install your choice Linux distribution on each node, with a graphical user interface for the master node.</a:t>
            </a:r>
          </a:p>
          <a:p>
            <a:pPr marL="838179" indent="-609585">
              <a:buFont typeface="+mj-lt"/>
              <a:buAutoNum type="arabicPeriod"/>
            </a:pPr>
            <a:r>
              <a:rPr lang="en-US" b="1" dirty="0"/>
              <a:t>Connect the computing nodes via a network.</a:t>
            </a:r>
          </a:p>
          <a:p>
            <a:pPr marL="1447764" lvl="1" indent="-609585"/>
            <a:r>
              <a:rPr lang="en-US" dirty="0"/>
              <a:t>Connect all nodes in the cluster using a private Ethernet network.</a:t>
            </a:r>
          </a:p>
          <a:p>
            <a:pPr marL="1447764" lvl="1" indent="-609585"/>
            <a:r>
              <a:rPr lang="en-US" dirty="0"/>
              <a:t>The head node can also serve as an NFS, PXE, DHCP, or TFTP server.</a:t>
            </a:r>
          </a:p>
          <a:p>
            <a:pPr marL="838179" indent="-609585">
              <a:buFont typeface="+mj-lt"/>
              <a:buAutoNum type="arabicPeriod"/>
            </a:pPr>
            <a:r>
              <a:rPr lang="en-US" b="1" dirty="0"/>
              <a:t>Install the message-passing interface, resource-manager, and other necessary libraries.</a:t>
            </a:r>
            <a:endParaRPr lang="en-US" dirty="0"/>
          </a:p>
          <a:p>
            <a:pPr marL="1447764" lvl="1" indent="-609585"/>
            <a:r>
              <a:rPr lang="en-US" dirty="0"/>
              <a:t>First you will need a portable bash management system, such as the </a:t>
            </a:r>
            <a:r>
              <a:rPr lang="en-US" dirty="0" err="1"/>
              <a:t>Slurm</a:t>
            </a:r>
            <a:r>
              <a:rPr lang="en-US" dirty="0"/>
              <a:t> Resource Manager, which allows you to break-up and distribute tasks to multiple machines.</a:t>
            </a:r>
          </a:p>
          <a:p>
            <a:pPr marL="1447764" lvl="1" indent="-609585"/>
            <a:r>
              <a:rPr lang="en-US" dirty="0"/>
              <a:t>Next you will need to install the message passing interface, necessary for the individual processes on the separate compute nodes to share the same data. </a:t>
            </a:r>
          </a:p>
          <a:p>
            <a:pPr marL="1447764" lvl="1" indent="-609585"/>
            <a:r>
              <a:rPr lang="en-US" dirty="0"/>
              <a:t>the multi-threading math libraries and compilers to build your parallel computing programs.</a:t>
            </a:r>
          </a:p>
          <a:p>
            <a:pPr marL="838179" indent="-609585">
              <a:buFont typeface="+mj-lt"/>
              <a:buAutoNum type="arabicPeriod"/>
            </a:pPr>
            <a:r>
              <a:rPr lang="en-US" b="1" dirty="0"/>
              <a:t>Test the cluster by running some applications on it.</a:t>
            </a:r>
            <a:endParaRPr lang="en-US" dirty="0"/>
          </a:p>
        </p:txBody>
      </p:sp>
      <p:sp>
        <p:nvSpPr>
          <p:cNvPr id="5" name="Slide Number Placeholder 4"/>
          <p:cNvSpPr>
            <a:spLocks noGrp="1"/>
          </p:cNvSpPr>
          <p:nvPr>
            <p:ph type="sldNum" idx="12"/>
          </p:nvPr>
        </p:nvSpPr>
        <p:spPr/>
        <p:txBody>
          <a:bodyPr/>
          <a:lstStyle/>
          <a:p>
            <a:fld id="{00000000-1234-1234-1234-123412341234}" type="slidenum">
              <a:rPr lang="en" smtClean="0"/>
              <a:pPr/>
              <a:t>53</a:t>
            </a:fld>
            <a:endParaRPr lang="e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63957" y="2964321"/>
            <a:ext cx="10515600" cy="939600"/>
          </a:xfrm>
        </p:spPr>
        <p:txBody>
          <a:bodyPr>
            <a:normAutofit fontScale="90000"/>
          </a:bodyPr>
          <a:lstStyle/>
          <a:p>
            <a:pPr algn="ctr"/>
            <a:r>
              <a:rPr lang="en-US" sz="5867" dirty="0"/>
              <a:t>HPC cluster security</a:t>
            </a:r>
          </a:p>
        </p:txBody>
      </p:sp>
      <p:sp>
        <p:nvSpPr>
          <p:cNvPr id="5" name="Slide Number Placeholder 4"/>
          <p:cNvSpPr>
            <a:spLocks noGrp="1"/>
          </p:cNvSpPr>
          <p:nvPr>
            <p:ph type="sldNum" idx="12"/>
          </p:nvPr>
        </p:nvSpPr>
        <p:spPr/>
        <p:txBody>
          <a:bodyPr/>
          <a:lstStyle/>
          <a:p>
            <a:fld id="{00000000-1234-1234-1234-123412341234}" type="slidenum">
              <a:rPr lang="en" smtClean="0"/>
              <a:pPr/>
              <a:t>54</a:t>
            </a:fld>
            <a:endParaRPr lang="en"/>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HPC cluster security </a:t>
            </a:r>
          </a:p>
        </p:txBody>
      </p:sp>
      <p:sp>
        <p:nvSpPr>
          <p:cNvPr id="3" name="Text Placeholder 2"/>
          <p:cNvSpPr>
            <a:spLocks noGrp="1"/>
          </p:cNvSpPr>
          <p:nvPr>
            <p:ph type="body" idx="1"/>
          </p:nvPr>
        </p:nvSpPr>
        <p:spPr/>
        <p:txBody>
          <a:bodyPr>
            <a:normAutofit fontScale="92500" lnSpcReduction="20000"/>
          </a:bodyPr>
          <a:lstStyle/>
          <a:p>
            <a:pPr algn="just">
              <a:lnSpc>
                <a:spcPct val="150000"/>
              </a:lnSpc>
            </a:pPr>
            <a:r>
              <a:rPr lang="en-US" altLang="en-US" sz="2133" dirty="0">
                <a:latin typeface="Calibri" pitchFamily="34" charset="0"/>
                <a:cs typeface="Calibri" pitchFamily="34" charset="0"/>
              </a:rPr>
              <a:t>Perimeter Firewall (UTM)</a:t>
            </a:r>
          </a:p>
          <a:p>
            <a:pPr algn="just">
              <a:lnSpc>
                <a:spcPct val="150000"/>
              </a:lnSpc>
            </a:pPr>
            <a:r>
              <a:rPr lang="en-US" altLang="en-US" sz="2133" dirty="0">
                <a:latin typeface="Calibri" pitchFamily="34" charset="0"/>
                <a:cs typeface="Calibri" pitchFamily="34" charset="0"/>
              </a:rPr>
              <a:t>Cluster Firewall ( HA load balancer and IPS )</a:t>
            </a:r>
          </a:p>
          <a:p>
            <a:pPr algn="just">
              <a:lnSpc>
                <a:spcPct val="150000"/>
              </a:lnSpc>
            </a:pPr>
            <a:r>
              <a:rPr lang="en-US" altLang="en-US" sz="2133" dirty="0">
                <a:latin typeface="Calibri" pitchFamily="34" charset="0"/>
                <a:cs typeface="Calibri" pitchFamily="34" charset="0"/>
              </a:rPr>
              <a:t>Geographical filtering </a:t>
            </a:r>
          </a:p>
          <a:p>
            <a:pPr algn="just">
              <a:lnSpc>
                <a:spcPct val="150000"/>
              </a:lnSpc>
            </a:pPr>
            <a:r>
              <a:rPr lang="en-US" altLang="en-US" sz="2133" dirty="0">
                <a:latin typeface="Calibri" pitchFamily="34" charset="0"/>
                <a:cs typeface="Calibri" pitchFamily="34" charset="0"/>
              </a:rPr>
              <a:t>Isolated Network</a:t>
            </a:r>
          </a:p>
          <a:p>
            <a:pPr algn="just">
              <a:lnSpc>
                <a:spcPct val="150000"/>
              </a:lnSpc>
            </a:pPr>
            <a:r>
              <a:rPr lang="en-US" altLang="en-US" sz="2133" dirty="0">
                <a:latin typeface="Calibri" pitchFamily="34" charset="0"/>
                <a:cs typeface="Calibri" pitchFamily="34" charset="0"/>
              </a:rPr>
              <a:t>Secured authentication</a:t>
            </a:r>
          </a:p>
          <a:p>
            <a:pPr algn="just">
              <a:lnSpc>
                <a:spcPct val="150000"/>
              </a:lnSpc>
            </a:pPr>
            <a:r>
              <a:rPr lang="en-US" altLang="en-US" sz="2133" dirty="0">
                <a:latin typeface="Calibri" pitchFamily="34" charset="0"/>
                <a:cs typeface="Calibri" pitchFamily="34" charset="0"/>
              </a:rPr>
              <a:t>Physical security with ACS(access control system)</a:t>
            </a:r>
          </a:p>
          <a:p>
            <a:pPr algn="just">
              <a:lnSpc>
                <a:spcPct val="150000"/>
              </a:lnSpc>
            </a:pPr>
            <a:r>
              <a:rPr lang="en-US" altLang="en-US" sz="2133" dirty="0">
                <a:latin typeface="Calibri" pitchFamily="34" charset="0"/>
                <a:cs typeface="Calibri" pitchFamily="34" charset="0"/>
              </a:rPr>
              <a:t>CCTV surveillance(24/7)</a:t>
            </a:r>
            <a:endParaRPr lang="en-IN" altLang="en-US" sz="2133" dirty="0">
              <a:latin typeface="Calibri" pitchFamily="34" charset="0"/>
              <a:cs typeface="Calibri" pitchFamily="34" charset="0"/>
            </a:endParaRPr>
          </a:p>
        </p:txBody>
      </p:sp>
      <p:sp>
        <p:nvSpPr>
          <p:cNvPr id="5" name="Slide Number Placeholder 4"/>
          <p:cNvSpPr>
            <a:spLocks noGrp="1"/>
          </p:cNvSpPr>
          <p:nvPr>
            <p:ph type="sldNum" idx="12"/>
          </p:nvPr>
        </p:nvSpPr>
        <p:spPr/>
        <p:txBody>
          <a:bodyPr/>
          <a:lstStyle/>
          <a:p>
            <a:fld id="{00000000-1234-1234-1234-123412341234}" type="slidenum">
              <a:rPr lang="en" smtClean="0"/>
              <a:pPr/>
              <a:t>55</a:t>
            </a:fld>
            <a:endParaRPr lang="en"/>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Calibri" pitchFamily="34" charset="0"/>
                <a:cs typeface="Calibri" pitchFamily="34" charset="0"/>
              </a:rPr>
              <a:t>Perimeter Firewall-UTM</a:t>
            </a:r>
            <a:endParaRPr lang="en-US" dirty="0"/>
          </a:p>
        </p:txBody>
      </p:sp>
      <p:sp>
        <p:nvSpPr>
          <p:cNvPr id="3" name="Text Placeholder 2"/>
          <p:cNvSpPr>
            <a:spLocks noGrp="1"/>
          </p:cNvSpPr>
          <p:nvPr>
            <p:ph type="body" idx="1"/>
          </p:nvPr>
        </p:nvSpPr>
        <p:spPr>
          <a:xfrm>
            <a:off x="724175" y="1275949"/>
            <a:ext cx="10515600" cy="4912400"/>
          </a:xfrm>
        </p:spPr>
        <p:txBody>
          <a:bodyPr>
            <a:normAutofit lnSpcReduction="10000"/>
          </a:bodyPr>
          <a:lstStyle/>
          <a:p>
            <a:pPr algn="just">
              <a:lnSpc>
                <a:spcPct val="100000"/>
              </a:lnSpc>
            </a:pPr>
            <a:r>
              <a:rPr lang="en-US" sz="2133" dirty="0"/>
              <a:t>A perimeter firewall is a security application that protects the boundary between a private and public network. Its purpose is to keep undesired or suspicious data packets out of the network. By scanning each data packet that attempts to enter the network, it defends against cyber attacks and other malicious traffic.</a:t>
            </a:r>
          </a:p>
          <a:p>
            <a:pPr algn="just">
              <a:lnSpc>
                <a:spcPct val="100000"/>
              </a:lnSpc>
            </a:pPr>
            <a:r>
              <a:rPr lang="en-US" sz="2133" dirty="0"/>
              <a:t>A perimeter firewall can also serve as a proxy service, acting as a middleman between clients and the internet, allowing an administrator more access control. </a:t>
            </a:r>
          </a:p>
          <a:p>
            <a:pPr algn="just">
              <a:lnSpc>
                <a:spcPct val="100000"/>
              </a:lnSpc>
            </a:pPr>
            <a:r>
              <a:rPr lang="en-US" sz="2133" dirty="0"/>
              <a:t>A perimeter firewall can identifies if a data packet contains a threat by examining the information in the packet's header and the payload of the packet itself. </a:t>
            </a:r>
          </a:p>
          <a:p>
            <a:pPr algn="just">
              <a:lnSpc>
                <a:spcPct val="100000"/>
              </a:lnSpc>
            </a:pPr>
            <a:r>
              <a:rPr lang="en-US" sz="2133" dirty="0"/>
              <a:t>The term </a:t>
            </a:r>
            <a:r>
              <a:rPr lang="en-US" sz="2133" b="1" dirty="0"/>
              <a:t>UTM firewall</a:t>
            </a:r>
            <a:r>
              <a:rPr lang="en-US" sz="2133" dirty="0"/>
              <a:t>, or simply UTM (Unified Threat management), refers to a hardware or software device capable of assembling various security functions such as packet filtering, proxy, intrusion detection and prevention systems, malware protection, and application control, among others..</a:t>
            </a:r>
          </a:p>
          <a:p>
            <a:pPr algn="just">
              <a:lnSpc>
                <a:spcPct val="100000"/>
              </a:lnSpc>
            </a:pPr>
            <a:endParaRPr lang="en-US" sz="2133" dirty="0"/>
          </a:p>
        </p:txBody>
      </p:sp>
      <p:sp>
        <p:nvSpPr>
          <p:cNvPr id="5" name="Slide Number Placeholder 4"/>
          <p:cNvSpPr>
            <a:spLocks noGrp="1"/>
          </p:cNvSpPr>
          <p:nvPr>
            <p:ph type="sldNum" idx="12"/>
          </p:nvPr>
        </p:nvSpPr>
        <p:spPr/>
        <p:txBody>
          <a:bodyPr/>
          <a:lstStyle/>
          <a:p>
            <a:fld id="{00000000-1234-1234-1234-123412341234}" type="slidenum">
              <a:rPr lang="en" smtClean="0"/>
              <a:pPr/>
              <a:t>56</a:t>
            </a:fld>
            <a:endParaRPr lang="e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latin typeface="Calibri" pitchFamily="34" charset="0"/>
                <a:cs typeface="Calibri" pitchFamily="34" charset="0"/>
              </a:rPr>
              <a:t>Cluster Firewall ( HA load balancer and IPS )</a:t>
            </a:r>
            <a:endParaRPr lang="en-US" dirty="0"/>
          </a:p>
        </p:txBody>
      </p:sp>
      <p:sp>
        <p:nvSpPr>
          <p:cNvPr id="3" name="Text Placeholder 2"/>
          <p:cNvSpPr>
            <a:spLocks noGrp="1"/>
          </p:cNvSpPr>
          <p:nvPr>
            <p:ph type="body" idx="1"/>
          </p:nvPr>
        </p:nvSpPr>
        <p:spPr/>
        <p:txBody>
          <a:bodyPr>
            <a:normAutofit fontScale="85000" lnSpcReduction="20000"/>
          </a:bodyPr>
          <a:lstStyle/>
          <a:p>
            <a:pPr algn="just">
              <a:lnSpc>
                <a:spcPct val="150000"/>
              </a:lnSpc>
            </a:pPr>
            <a:r>
              <a:rPr lang="en-US" sz="2133" dirty="0"/>
              <a:t>Instead of employing a single firewall to defend the network, two or more firewalls are deployed in a cluster. These firewalls synchronize with one another through a heartbeat connection, which notifies one firewall if the other goes down.</a:t>
            </a:r>
          </a:p>
          <a:p>
            <a:pPr algn="just">
              <a:lnSpc>
                <a:spcPct val="150000"/>
              </a:lnSpc>
            </a:pPr>
            <a:r>
              <a:rPr lang="en-US" sz="2133" dirty="0"/>
              <a:t>Through SYN cookies and delayed binding, highly available load balancers safeguard your firm from Distributed Denial of Service (DDOS) attacks. They also do frequent health checks to guarantee that your applications and servers are still capable of handling the number of transaction requests. They divert traffic to application copies and backup servers when they detect an impending failure.</a:t>
            </a:r>
          </a:p>
        </p:txBody>
      </p:sp>
      <p:sp>
        <p:nvSpPr>
          <p:cNvPr id="5" name="Slide Number Placeholder 4"/>
          <p:cNvSpPr>
            <a:spLocks noGrp="1"/>
          </p:cNvSpPr>
          <p:nvPr>
            <p:ph type="sldNum" idx="12"/>
          </p:nvPr>
        </p:nvSpPr>
        <p:spPr/>
        <p:txBody>
          <a:bodyPr/>
          <a:lstStyle/>
          <a:p>
            <a:fld id="{00000000-1234-1234-1234-123412341234}" type="slidenum">
              <a:rPr lang="en" smtClean="0"/>
              <a:pPr/>
              <a:t>57</a:t>
            </a:fld>
            <a:endParaRPr lang="en"/>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latin typeface="Calibri" pitchFamily="34" charset="0"/>
                <a:cs typeface="Calibri" pitchFamily="34" charset="0"/>
              </a:rPr>
              <a:t>Geographical filtering &amp; Isolated Network</a:t>
            </a:r>
            <a:endParaRPr lang="en-US" dirty="0"/>
          </a:p>
        </p:txBody>
      </p:sp>
      <p:sp>
        <p:nvSpPr>
          <p:cNvPr id="3" name="Text Placeholder 2"/>
          <p:cNvSpPr>
            <a:spLocks noGrp="1"/>
          </p:cNvSpPr>
          <p:nvPr>
            <p:ph type="body" idx="1"/>
          </p:nvPr>
        </p:nvSpPr>
        <p:spPr/>
        <p:txBody>
          <a:bodyPr>
            <a:normAutofit fontScale="85000" lnSpcReduction="10000"/>
          </a:bodyPr>
          <a:lstStyle/>
          <a:p>
            <a:pPr algn="just">
              <a:lnSpc>
                <a:spcPct val="150000"/>
              </a:lnSpc>
            </a:pPr>
            <a:r>
              <a:rPr lang="en-US" sz="2133" dirty="0"/>
              <a:t>Geo-blocking, </a:t>
            </a:r>
            <a:r>
              <a:rPr lang="en-US" sz="2133" dirty="0" err="1"/>
              <a:t>geoblocking</a:t>
            </a:r>
            <a:r>
              <a:rPr lang="en-US" sz="2133" dirty="0"/>
              <a:t>, or </a:t>
            </a:r>
            <a:r>
              <a:rPr lang="en-US" sz="2133" dirty="0" err="1"/>
              <a:t>geolocking</a:t>
            </a:r>
            <a:r>
              <a:rPr lang="en-US" sz="2133" dirty="0"/>
              <a:t> is a technique that limits Internet access depending on the user's geographical location.</a:t>
            </a:r>
          </a:p>
          <a:p>
            <a:pPr algn="just">
              <a:lnSpc>
                <a:spcPct val="150000"/>
              </a:lnSpc>
            </a:pPr>
            <a:r>
              <a:rPr lang="en-US" sz="2133" dirty="0"/>
              <a:t>An isolated local network is made up of servers that are linked in an environment that is not connected to any other network. There is no network link to a bigger internal network or the Internet with this approach. </a:t>
            </a:r>
          </a:p>
          <a:p>
            <a:pPr algn="just">
              <a:lnSpc>
                <a:spcPct val="150000"/>
              </a:lnSpc>
            </a:pPr>
            <a:r>
              <a:rPr lang="en-US" sz="2133" dirty="0"/>
              <a:t>This isolated environment provides well-defined physical, network, and security features since there is no possibility of remote exploitation from a huge number of unknown sources.</a:t>
            </a:r>
          </a:p>
          <a:p>
            <a:endParaRPr lang="en-US" dirty="0"/>
          </a:p>
        </p:txBody>
      </p:sp>
      <p:sp>
        <p:nvSpPr>
          <p:cNvPr id="5" name="Slide Number Placeholder 4"/>
          <p:cNvSpPr>
            <a:spLocks noGrp="1"/>
          </p:cNvSpPr>
          <p:nvPr>
            <p:ph type="sldNum" idx="12"/>
          </p:nvPr>
        </p:nvSpPr>
        <p:spPr/>
        <p:txBody>
          <a:bodyPr/>
          <a:lstStyle/>
          <a:p>
            <a:fld id="{00000000-1234-1234-1234-123412341234}" type="slidenum">
              <a:rPr lang="en" smtClean="0"/>
              <a:pPr/>
              <a:t>58</a:t>
            </a:fld>
            <a:endParaRPr lang="e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dirty="0">
                <a:latin typeface="Calibri" pitchFamily="34" charset="0"/>
                <a:cs typeface="Calibri" pitchFamily="34" charset="0"/>
              </a:rPr>
              <a:t>Secured authentication &amp; ACS</a:t>
            </a:r>
            <a:endParaRPr lang="en-US" dirty="0"/>
          </a:p>
        </p:txBody>
      </p:sp>
      <p:sp>
        <p:nvSpPr>
          <p:cNvPr id="3" name="Text Placeholder 2"/>
          <p:cNvSpPr>
            <a:spLocks noGrp="1"/>
          </p:cNvSpPr>
          <p:nvPr>
            <p:ph type="body" idx="1"/>
          </p:nvPr>
        </p:nvSpPr>
        <p:spPr/>
        <p:txBody>
          <a:bodyPr>
            <a:normAutofit fontScale="70000" lnSpcReduction="20000"/>
          </a:bodyPr>
          <a:lstStyle/>
          <a:p>
            <a:pPr algn="just">
              <a:lnSpc>
                <a:spcPct val="150000"/>
              </a:lnSpc>
            </a:pPr>
            <a:r>
              <a:rPr lang="en-US" sz="2133" dirty="0"/>
              <a:t>In order to ensure safe access to online accounts and resources, user authentication is required.</a:t>
            </a:r>
          </a:p>
          <a:p>
            <a:pPr algn="just">
              <a:lnSpc>
                <a:spcPct val="150000"/>
              </a:lnSpc>
            </a:pPr>
            <a:r>
              <a:rPr lang="en-US" sz="2133" dirty="0"/>
              <a:t>CAPTCHA stands for the Completely Automated Public Turing Test to Distinguish Between Computers and Humans. CAPTCHAs are technologies that may be used to distinguish between real users and automated users such as bots.</a:t>
            </a:r>
          </a:p>
          <a:p>
            <a:pPr algn="just">
              <a:lnSpc>
                <a:spcPct val="150000"/>
              </a:lnSpc>
              <a:buNone/>
            </a:pPr>
            <a:r>
              <a:rPr lang="en-US" sz="2133" dirty="0"/>
              <a:t>ACS</a:t>
            </a:r>
          </a:p>
          <a:p>
            <a:pPr algn="just">
              <a:lnSpc>
                <a:spcPct val="150000"/>
              </a:lnSpc>
            </a:pPr>
            <a:r>
              <a:rPr lang="en-US" sz="2133" dirty="0"/>
              <a:t>Access control is a method of controlling who enters a facility, and we normally refer to an electronic security system when we talk about a physical access control system. To authorize someone to enter specified places, they often utilize an identification such as an access card. It also give provide valuable data to help track how your buildings and sites are being used.</a:t>
            </a:r>
          </a:p>
        </p:txBody>
      </p:sp>
      <p:sp>
        <p:nvSpPr>
          <p:cNvPr id="5" name="Slide Number Placeholder 4"/>
          <p:cNvSpPr>
            <a:spLocks noGrp="1"/>
          </p:cNvSpPr>
          <p:nvPr>
            <p:ph type="sldNum" idx="12"/>
          </p:nvPr>
        </p:nvSpPr>
        <p:spPr/>
        <p:txBody>
          <a:bodyPr/>
          <a:lstStyle/>
          <a:p>
            <a:fld id="{00000000-1234-1234-1234-123412341234}" type="slidenum">
              <a:rPr lang="en" smtClean="0"/>
              <a:pPr/>
              <a:t>59</a:t>
            </a:fld>
            <a:endParaRPr lang="en"/>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9615" y="2680988"/>
            <a:ext cx="10515600" cy="939600"/>
          </a:xfrm>
        </p:spPr>
        <p:txBody>
          <a:bodyPr>
            <a:noAutofit/>
          </a:bodyPr>
          <a:lstStyle/>
          <a:p>
            <a:pPr algn="ctr"/>
            <a:r>
              <a:rPr lang="en-US" sz="5867" dirty="0"/>
              <a:t>Supercomputer details with images </a:t>
            </a:r>
          </a:p>
        </p:txBody>
      </p:sp>
      <p:sp>
        <p:nvSpPr>
          <p:cNvPr id="5" name="Slide Number Placeholder 4"/>
          <p:cNvSpPr>
            <a:spLocks noGrp="1"/>
          </p:cNvSpPr>
          <p:nvPr>
            <p:ph type="sldNum" idx="12"/>
          </p:nvPr>
        </p:nvSpPr>
        <p:spPr/>
        <p:txBody>
          <a:bodyPr/>
          <a:lstStyle/>
          <a:p>
            <a:fld id="{00000000-1234-1234-1234-123412341234}" type="slidenum">
              <a:rPr lang="en" smtClean="0"/>
              <a:pPr/>
              <a:t>60</a:t>
            </a:fld>
            <a:endParaRPr lang="e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9789" y="457201"/>
            <a:ext cx="3932400" cy="899375"/>
          </a:xfrm>
        </p:spPr>
        <p:txBody>
          <a:bodyPr>
            <a:normAutofit/>
          </a:bodyPr>
          <a:lstStyle/>
          <a:p>
            <a:r>
              <a:rPr lang="en-US" sz="4267" dirty="0"/>
              <a:t>PARAM </a:t>
            </a:r>
            <a:r>
              <a:rPr lang="en-US" sz="4267" dirty="0" err="1"/>
              <a:t>Shivay</a:t>
            </a:r>
            <a:endParaRPr lang="en-US" sz="4267" dirty="0"/>
          </a:p>
        </p:txBody>
      </p:sp>
      <p:sp>
        <p:nvSpPr>
          <p:cNvPr id="6" name="Picture Placeholder 5"/>
          <p:cNvSpPr>
            <a:spLocks noGrp="1"/>
          </p:cNvSpPr>
          <p:nvPr>
            <p:ph type="pic" idx="2"/>
          </p:nvPr>
        </p:nvSpPr>
        <p:spPr/>
      </p:sp>
      <p:sp>
        <p:nvSpPr>
          <p:cNvPr id="5" name="Text Placeholder 4"/>
          <p:cNvSpPr>
            <a:spLocks noGrp="1"/>
          </p:cNvSpPr>
          <p:nvPr>
            <p:ph type="body" idx="1"/>
          </p:nvPr>
        </p:nvSpPr>
        <p:spPr>
          <a:xfrm>
            <a:off x="839789" y="1777285"/>
            <a:ext cx="3932400" cy="4091716"/>
          </a:xfrm>
        </p:spPr>
        <p:txBody>
          <a:bodyPr>
            <a:noAutofit/>
          </a:bodyPr>
          <a:lstStyle/>
          <a:p>
            <a:pPr>
              <a:lnSpc>
                <a:spcPct val="150000"/>
              </a:lnSpc>
              <a:buFont typeface="Arial" pitchFamily="34" charset="0"/>
              <a:buChar char="•"/>
            </a:pPr>
            <a:r>
              <a:rPr lang="en-US" sz="2133" dirty="0"/>
              <a:t>The supercomputer with a capacity of </a:t>
            </a:r>
            <a:r>
              <a:rPr lang="en-US" sz="2133" b="1" dirty="0"/>
              <a:t>837 TFLOPS </a:t>
            </a:r>
            <a:r>
              <a:rPr lang="en-US" sz="2133" dirty="0"/>
              <a:t>was created at the Indian </a:t>
            </a:r>
            <a:r>
              <a:rPr lang="en-US" sz="2133" b="1" dirty="0"/>
              <a:t>Institute of Technology (IIT), Banaras Hindu University (BHU), </a:t>
            </a:r>
            <a:r>
              <a:rPr lang="en-US" sz="2133" dirty="0"/>
              <a:t>at a cost of Rs 32.5 </a:t>
            </a:r>
            <a:r>
              <a:rPr lang="en-US" sz="2133" dirty="0" err="1"/>
              <a:t>crore</a:t>
            </a:r>
            <a:r>
              <a:rPr lang="en-US" sz="2133" dirty="0"/>
              <a:t> as part of the National Super Computing Mission.</a:t>
            </a:r>
          </a:p>
        </p:txBody>
      </p:sp>
      <p:pic>
        <p:nvPicPr>
          <p:cNvPr id="98306" name="Picture 2"/>
          <p:cNvPicPr>
            <a:picLocks noChangeAspect="1" noChangeArrowheads="1"/>
          </p:cNvPicPr>
          <p:nvPr/>
        </p:nvPicPr>
        <p:blipFill>
          <a:blip r:embed="rId2"/>
          <a:srcRect/>
          <a:stretch>
            <a:fillRect/>
          </a:stretch>
        </p:blipFill>
        <p:spPr bwMode="auto">
          <a:xfrm>
            <a:off x="5220237" y="1010188"/>
            <a:ext cx="6156103" cy="4828235"/>
          </a:xfrm>
          <a:prstGeom prst="rect">
            <a:avLst/>
          </a:prstGeom>
          <a:noFill/>
          <a:ln w="9525">
            <a:noFill/>
            <a:miter lim="800000"/>
            <a:headEnd/>
            <a:tailEnd/>
          </a:ln>
          <a:effectLst/>
        </p:spPr>
      </p:pic>
      <p:sp>
        <p:nvSpPr>
          <p:cNvPr id="9" name="Slide Number Placeholder 8"/>
          <p:cNvSpPr>
            <a:spLocks noGrp="1"/>
          </p:cNvSpPr>
          <p:nvPr>
            <p:ph type="sldNum" idx="12"/>
          </p:nvPr>
        </p:nvSpPr>
        <p:spPr/>
        <p:txBody>
          <a:bodyPr/>
          <a:lstStyle/>
          <a:p>
            <a:fld id="{00000000-1234-1234-1234-123412341234}" type="slidenum">
              <a:rPr lang="en" smtClean="0"/>
              <a:pPr/>
              <a:t>61</a:t>
            </a:fld>
            <a:endParaRPr lang="e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9789" y="457201"/>
            <a:ext cx="3932400" cy="985233"/>
          </a:xfrm>
        </p:spPr>
        <p:txBody>
          <a:bodyPr>
            <a:normAutofit/>
          </a:bodyPr>
          <a:lstStyle/>
          <a:p>
            <a:r>
              <a:rPr lang="en-US" sz="4267" dirty="0"/>
              <a:t>PARAM </a:t>
            </a:r>
            <a:r>
              <a:rPr lang="en-US" sz="4267" dirty="0" err="1"/>
              <a:t>Shakti</a:t>
            </a:r>
            <a:endParaRPr lang="en-US" sz="4267" dirty="0"/>
          </a:p>
        </p:txBody>
      </p:sp>
      <p:sp>
        <p:nvSpPr>
          <p:cNvPr id="5" name="Text Placeholder 4"/>
          <p:cNvSpPr>
            <a:spLocks noGrp="1"/>
          </p:cNvSpPr>
          <p:nvPr>
            <p:ph type="body" idx="1"/>
          </p:nvPr>
        </p:nvSpPr>
        <p:spPr>
          <a:xfrm>
            <a:off x="839789" y="1639909"/>
            <a:ext cx="3932400" cy="4229091"/>
          </a:xfrm>
        </p:spPr>
        <p:txBody>
          <a:bodyPr>
            <a:normAutofit fontScale="92500" lnSpcReduction="20000"/>
          </a:bodyPr>
          <a:lstStyle/>
          <a:p>
            <a:pPr algn="just">
              <a:lnSpc>
                <a:spcPct val="150000"/>
              </a:lnSpc>
              <a:buFont typeface="Arial" pitchFamily="34" charset="0"/>
              <a:buChar char="•"/>
            </a:pPr>
            <a:r>
              <a:rPr lang="en-US" dirty="0"/>
              <a:t>The cutting-edge supercomputing system is a supercomputing facility developed at IIT </a:t>
            </a:r>
            <a:r>
              <a:rPr lang="en-US" dirty="0" err="1"/>
              <a:t>Kharagpur</a:t>
            </a:r>
            <a:r>
              <a:rPr lang="en-US" dirty="0"/>
              <a:t> as part of the NSM, having a peak computing capacity of </a:t>
            </a:r>
            <a:r>
              <a:rPr lang="en-US" b="1" dirty="0"/>
              <a:t>1.66 </a:t>
            </a:r>
            <a:r>
              <a:rPr lang="en-US" b="1" dirty="0" err="1"/>
              <a:t>PetaFlops</a:t>
            </a:r>
            <a:r>
              <a:rPr lang="en-US" dirty="0"/>
              <a:t>. </a:t>
            </a:r>
          </a:p>
          <a:p>
            <a:pPr algn="just">
              <a:lnSpc>
                <a:spcPct val="150000"/>
              </a:lnSpc>
              <a:buFont typeface="Arial" pitchFamily="34" charset="0"/>
              <a:buChar char="•"/>
            </a:pPr>
            <a:r>
              <a:rPr lang="en-US" dirty="0"/>
              <a:t>PARAM </a:t>
            </a:r>
            <a:r>
              <a:rPr lang="en-US" dirty="0" err="1"/>
              <a:t>Shakti</a:t>
            </a:r>
            <a:r>
              <a:rPr lang="en-US" dirty="0"/>
              <a:t> was created and commissioned by C-DAC to meet the computing demands of </a:t>
            </a:r>
            <a:r>
              <a:rPr lang="en-US" b="1" dirty="0"/>
              <a:t>IIT </a:t>
            </a:r>
            <a:r>
              <a:rPr lang="en-US" b="1" dirty="0" err="1"/>
              <a:t>Kharagpur</a:t>
            </a:r>
            <a:r>
              <a:rPr lang="en-US" b="1" dirty="0"/>
              <a:t> </a:t>
            </a:r>
            <a:r>
              <a:rPr lang="en-US" dirty="0"/>
              <a:t>and the region's neighboring research, engineering, and scientific establishments. </a:t>
            </a:r>
          </a:p>
        </p:txBody>
      </p:sp>
      <p:pic>
        <p:nvPicPr>
          <p:cNvPr id="99330" name="Picture 2"/>
          <p:cNvPicPr>
            <a:picLocks noGrp="1" noChangeAspect="1" noChangeArrowheads="1"/>
          </p:cNvPicPr>
          <p:nvPr>
            <p:ph type="pic" idx="2"/>
          </p:nvPr>
        </p:nvPicPr>
        <p:blipFill>
          <a:blip r:embed="rId2"/>
          <a:srcRect l="2454" r="2454"/>
          <a:stretch>
            <a:fillRect/>
          </a:stretch>
        </p:blipFill>
        <p:spPr bwMode="auto">
          <a:prstGeom prst="rect">
            <a:avLst/>
          </a:prstGeom>
          <a:noFill/>
          <a:ln w="9525">
            <a:noFill/>
            <a:miter lim="800000"/>
            <a:headEnd/>
            <a:tailEnd/>
          </a:ln>
          <a:effectLst/>
        </p:spPr>
      </p:pic>
      <p:sp>
        <p:nvSpPr>
          <p:cNvPr id="8" name="Slide Number Placeholder 7"/>
          <p:cNvSpPr>
            <a:spLocks noGrp="1"/>
          </p:cNvSpPr>
          <p:nvPr>
            <p:ph type="sldNum" idx="12"/>
          </p:nvPr>
        </p:nvSpPr>
        <p:spPr/>
        <p:txBody>
          <a:bodyPr/>
          <a:lstStyle/>
          <a:p>
            <a:fld id="{00000000-1234-1234-1234-123412341234}" type="slidenum">
              <a:rPr lang="en" smtClean="0"/>
              <a:pPr/>
              <a:t>62</a:t>
            </a:fld>
            <a:endParaRPr lang="en"/>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400" cy="1371600"/>
          </a:xfrm>
        </p:spPr>
        <p:txBody>
          <a:bodyPr>
            <a:normAutofit/>
          </a:bodyPr>
          <a:lstStyle/>
          <a:p>
            <a:r>
              <a:rPr lang="en-US" sz="4267" b="1" dirty="0"/>
              <a:t>PARAM </a:t>
            </a:r>
            <a:r>
              <a:rPr lang="en-US" sz="4267" b="1" dirty="0" err="1"/>
              <a:t>Sanganak</a:t>
            </a:r>
            <a:endParaRPr lang="en-US" sz="4267" dirty="0"/>
          </a:p>
        </p:txBody>
      </p:sp>
      <p:sp>
        <p:nvSpPr>
          <p:cNvPr id="4" name="Text Placeholder 3"/>
          <p:cNvSpPr>
            <a:spLocks noGrp="1"/>
          </p:cNvSpPr>
          <p:nvPr>
            <p:ph type="body" idx="1"/>
          </p:nvPr>
        </p:nvSpPr>
        <p:spPr>
          <a:xfrm>
            <a:off x="839789" y="2057399"/>
            <a:ext cx="3932400" cy="4536583"/>
          </a:xfrm>
        </p:spPr>
        <p:txBody>
          <a:bodyPr>
            <a:noAutofit/>
          </a:bodyPr>
          <a:lstStyle/>
          <a:p>
            <a:pPr>
              <a:buFont typeface="Arial" pitchFamily="34" charset="0"/>
              <a:buChar char="•"/>
            </a:pPr>
            <a:r>
              <a:rPr lang="en-US" sz="1867" dirty="0"/>
              <a:t>The supercomputing facility developed under the National Supercomputing Mission's construction method, with a peak computing capacity of </a:t>
            </a:r>
            <a:r>
              <a:rPr lang="en-US" sz="1867" b="1" dirty="0"/>
              <a:t>1.67 </a:t>
            </a:r>
            <a:r>
              <a:rPr lang="en-US" sz="1867" b="1" dirty="0" err="1"/>
              <a:t>PetaFlops</a:t>
            </a:r>
            <a:r>
              <a:rPr lang="en-US" sz="1867" b="1" dirty="0"/>
              <a:t>. </a:t>
            </a:r>
          </a:p>
          <a:p>
            <a:pPr>
              <a:buFont typeface="Arial" pitchFamily="34" charset="0"/>
              <a:buChar char="•"/>
            </a:pPr>
            <a:r>
              <a:rPr lang="en-US" sz="1867" dirty="0"/>
              <a:t>C-DAC constructed and commissioned PARAM </a:t>
            </a:r>
            <a:r>
              <a:rPr lang="en-US" sz="1867" dirty="0" err="1"/>
              <a:t>Sanganak</a:t>
            </a:r>
            <a:r>
              <a:rPr lang="en-US" sz="1867" dirty="0"/>
              <a:t> to meet the computing demands of </a:t>
            </a:r>
            <a:r>
              <a:rPr lang="en-US" sz="1867" b="1" dirty="0"/>
              <a:t>IIT Kanpur </a:t>
            </a:r>
            <a:r>
              <a:rPr lang="en-US" sz="1867" dirty="0"/>
              <a:t>and other regional research and engineering institutes. </a:t>
            </a:r>
          </a:p>
          <a:p>
            <a:pPr>
              <a:buFont typeface="Arial" pitchFamily="34" charset="0"/>
              <a:buChar char="•"/>
            </a:pPr>
            <a:r>
              <a:rPr lang="en-US" sz="1867" dirty="0"/>
              <a:t>It is powered by Intel Xeon Cascade Lake CPUs, and NVIDIA Tesla V100 and HDR100 graphics cards. </a:t>
            </a:r>
          </a:p>
        </p:txBody>
      </p:sp>
      <p:pic>
        <p:nvPicPr>
          <p:cNvPr id="102402" name="Picture 2"/>
          <p:cNvPicPr>
            <a:picLocks noGrp="1" noChangeAspect="1" noChangeArrowheads="1"/>
          </p:cNvPicPr>
          <p:nvPr>
            <p:ph type="pic" idx="2"/>
          </p:nvPr>
        </p:nvPicPr>
        <p:blipFill>
          <a:blip r:embed="rId2"/>
          <a:srcRect l="2366" r="2366"/>
          <a:stretch>
            <a:fillRect/>
          </a:stretch>
        </p:blipFill>
        <p:spPr bwMode="auto">
          <a:prstGeom prst="rect">
            <a:avLst/>
          </a:prstGeom>
          <a:noFill/>
          <a:ln w="9525">
            <a:noFill/>
            <a:miter lim="800000"/>
            <a:headEnd/>
            <a:tailEnd/>
          </a:ln>
          <a:effectLst/>
        </p:spPr>
      </p:pic>
      <p:sp>
        <p:nvSpPr>
          <p:cNvPr id="7" name="Slide Number Placeholder 6"/>
          <p:cNvSpPr>
            <a:spLocks noGrp="1"/>
          </p:cNvSpPr>
          <p:nvPr>
            <p:ph type="sldNum" idx="12"/>
          </p:nvPr>
        </p:nvSpPr>
        <p:spPr/>
        <p:txBody>
          <a:bodyPr/>
          <a:lstStyle/>
          <a:p>
            <a:fld id="{00000000-1234-1234-1234-123412341234}" type="slidenum">
              <a:rPr lang="en" smtClean="0"/>
              <a:pPr/>
              <a:t>63</a:t>
            </a:fld>
            <a:endParaRPr lang="en"/>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400" cy="916547"/>
          </a:xfrm>
        </p:spPr>
        <p:txBody>
          <a:bodyPr>
            <a:normAutofit fontScale="90000"/>
          </a:bodyPr>
          <a:lstStyle/>
          <a:p>
            <a:r>
              <a:rPr lang="en-US" sz="4267" dirty="0"/>
              <a:t>PARAM </a:t>
            </a:r>
            <a:r>
              <a:rPr lang="en-US" sz="4267" dirty="0" err="1"/>
              <a:t>Pravega</a:t>
            </a:r>
            <a:endParaRPr lang="en-US" dirty="0"/>
          </a:p>
        </p:txBody>
      </p:sp>
      <p:sp>
        <p:nvSpPr>
          <p:cNvPr id="4" name="Text Placeholder 3"/>
          <p:cNvSpPr>
            <a:spLocks noGrp="1"/>
          </p:cNvSpPr>
          <p:nvPr>
            <p:ph type="body" idx="1"/>
          </p:nvPr>
        </p:nvSpPr>
        <p:spPr>
          <a:xfrm>
            <a:off x="839789" y="1493949"/>
            <a:ext cx="3932400" cy="4375051"/>
          </a:xfrm>
        </p:spPr>
        <p:txBody>
          <a:bodyPr>
            <a:normAutofit fontScale="92500"/>
          </a:bodyPr>
          <a:lstStyle/>
          <a:p>
            <a:pPr algn="just">
              <a:buFont typeface="Arial" pitchFamily="34" charset="0"/>
              <a:buChar char="•"/>
            </a:pPr>
            <a:r>
              <a:rPr lang="en-US" sz="1867" dirty="0"/>
              <a:t>The supercomputing facility is developed under the National Supercomputing Mission,  with a peak computing capability of </a:t>
            </a:r>
            <a:r>
              <a:rPr lang="en-US" sz="1867" b="1" dirty="0"/>
              <a:t>3.3 </a:t>
            </a:r>
            <a:r>
              <a:rPr lang="en-US" sz="1867" b="1" dirty="0" err="1"/>
              <a:t>PetaFlops</a:t>
            </a:r>
            <a:r>
              <a:rPr lang="en-US" sz="1867" b="1" dirty="0"/>
              <a:t>. </a:t>
            </a:r>
          </a:p>
          <a:p>
            <a:pPr algn="just">
              <a:buFont typeface="Arial" pitchFamily="34" charset="0"/>
              <a:buChar char="•"/>
            </a:pPr>
            <a:r>
              <a:rPr lang="en-US" sz="1867" dirty="0"/>
              <a:t>C-DAC built and commissioned </a:t>
            </a:r>
            <a:r>
              <a:rPr lang="en-US" sz="1867" dirty="0" err="1"/>
              <a:t>Param</a:t>
            </a:r>
            <a:r>
              <a:rPr lang="en-US" sz="1867" dirty="0"/>
              <a:t> </a:t>
            </a:r>
            <a:r>
              <a:rPr lang="en-US" sz="1867" dirty="0" err="1"/>
              <a:t>Pravega</a:t>
            </a:r>
            <a:r>
              <a:rPr lang="en-US" sz="1867" dirty="0"/>
              <a:t> to meet the computing demands of </a:t>
            </a:r>
            <a:r>
              <a:rPr lang="en-US" sz="1867" b="1" dirty="0" err="1"/>
              <a:t>IISc</a:t>
            </a:r>
            <a:r>
              <a:rPr lang="en-US" sz="1867" b="1" dirty="0"/>
              <a:t>, </a:t>
            </a:r>
            <a:r>
              <a:rPr lang="en-US" sz="1867" b="1" dirty="0" err="1"/>
              <a:t>Bengaluru</a:t>
            </a:r>
            <a:r>
              <a:rPr lang="en-US" sz="1867" b="1" dirty="0"/>
              <a:t>. </a:t>
            </a:r>
          </a:p>
          <a:p>
            <a:pPr algn="just">
              <a:buFont typeface="Arial" pitchFamily="34" charset="0"/>
              <a:buChar char="•"/>
            </a:pPr>
            <a:r>
              <a:rPr lang="en-US" sz="1867" dirty="0"/>
              <a:t>It is powered by Intel Xeon Cascade Lake CPUs and NVIDIA V100 SXM2 graphics. The system is constructed using cutting-edge hardware and software technologies. </a:t>
            </a:r>
          </a:p>
        </p:txBody>
      </p:sp>
      <p:pic>
        <p:nvPicPr>
          <p:cNvPr id="103426" name="Picture 2"/>
          <p:cNvPicPr>
            <a:picLocks noGrp="1" noChangeAspect="1" noChangeArrowheads="1"/>
          </p:cNvPicPr>
          <p:nvPr>
            <p:ph type="pic" idx="2"/>
          </p:nvPr>
        </p:nvPicPr>
        <p:blipFill>
          <a:blip r:embed="rId2"/>
          <a:srcRect l="2182" r="2182"/>
          <a:stretch>
            <a:fillRect/>
          </a:stretch>
        </p:blipFill>
        <p:spPr bwMode="auto">
          <a:prstGeom prst="rect">
            <a:avLst/>
          </a:prstGeom>
          <a:noFill/>
          <a:ln w="9525">
            <a:noFill/>
            <a:miter lim="800000"/>
            <a:headEnd/>
            <a:tailEnd/>
          </a:ln>
          <a:effectLst/>
        </p:spPr>
      </p:pic>
      <p:sp>
        <p:nvSpPr>
          <p:cNvPr id="7" name="Slide Number Placeholder 6"/>
          <p:cNvSpPr>
            <a:spLocks noGrp="1"/>
          </p:cNvSpPr>
          <p:nvPr>
            <p:ph type="sldNum" idx="12"/>
          </p:nvPr>
        </p:nvSpPr>
        <p:spPr/>
        <p:txBody>
          <a:bodyPr/>
          <a:lstStyle/>
          <a:p>
            <a:fld id="{00000000-1234-1234-1234-123412341234}" type="slidenum">
              <a:rPr lang="en" smtClean="0"/>
              <a:pPr/>
              <a:t>64</a:t>
            </a:fld>
            <a:endParaRPr lang="en"/>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789" y="457200"/>
            <a:ext cx="3932400" cy="787757"/>
          </a:xfrm>
        </p:spPr>
        <p:txBody>
          <a:bodyPr>
            <a:normAutofit fontScale="90000"/>
          </a:bodyPr>
          <a:lstStyle/>
          <a:p>
            <a:r>
              <a:rPr lang="en-US" sz="4267" dirty="0"/>
              <a:t>PARAM </a:t>
            </a:r>
            <a:r>
              <a:rPr lang="en-US" sz="4267" dirty="0" err="1"/>
              <a:t>Utkarsh</a:t>
            </a:r>
            <a:endParaRPr lang="en-US" sz="4267" dirty="0"/>
          </a:p>
        </p:txBody>
      </p:sp>
      <p:sp>
        <p:nvSpPr>
          <p:cNvPr id="4" name="Text Placeholder 3"/>
          <p:cNvSpPr>
            <a:spLocks noGrp="1"/>
          </p:cNvSpPr>
          <p:nvPr>
            <p:ph type="body" idx="1"/>
          </p:nvPr>
        </p:nvSpPr>
        <p:spPr>
          <a:xfrm>
            <a:off x="839789" y="1399504"/>
            <a:ext cx="3932400" cy="4469496"/>
          </a:xfrm>
        </p:spPr>
        <p:txBody>
          <a:bodyPr>
            <a:normAutofit fontScale="92500"/>
          </a:bodyPr>
          <a:lstStyle/>
          <a:p>
            <a:pPr algn="just">
              <a:lnSpc>
                <a:spcPct val="110000"/>
              </a:lnSpc>
              <a:buFont typeface="Arial" pitchFamily="34" charset="0"/>
              <a:buChar char="•"/>
            </a:pPr>
            <a:r>
              <a:rPr lang="en-US" dirty="0"/>
              <a:t>PARAM </a:t>
            </a:r>
            <a:r>
              <a:rPr lang="en-US" dirty="0" err="1"/>
              <a:t>Utkarsh</a:t>
            </a:r>
            <a:r>
              <a:rPr lang="en-US" dirty="0"/>
              <a:t> is a High Performance Computing System hosted at </a:t>
            </a:r>
            <a:r>
              <a:rPr lang="en-US" b="1" dirty="0"/>
              <a:t>C-DAC, Bangalore</a:t>
            </a:r>
            <a:r>
              <a:rPr lang="en-US" dirty="0"/>
              <a:t> by the Government of India's National Supercomputing Mission (NSM). </a:t>
            </a:r>
          </a:p>
          <a:p>
            <a:pPr algn="just">
              <a:lnSpc>
                <a:spcPct val="110000"/>
              </a:lnSpc>
              <a:buFont typeface="Arial" pitchFamily="34" charset="0"/>
              <a:buChar char="•"/>
            </a:pPr>
            <a:r>
              <a:rPr lang="en-US" dirty="0"/>
              <a:t>PARAM </a:t>
            </a:r>
            <a:r>
              <a:rPr lang="en-US" dirty="0" err="1"/>
              <a:t>Utkarsh</a:t>
            </a:r>
            <a:r>
              <a:rPr lang="en-US" dirty="0"/>
              <a:t> is powered by an Intel Cascade Lake processor and an NVIDIA Tesla V100 GPU with a 100Gbps non-blocking </a:t>
            </a:r>
            <a:r>
              <a:rPr lang="en-US" dirty="0" err="1"/>
              <a:t>infiniband</a:t>
            </a:r>
            <a:r>
              <a:rPr lang="en-US" dirty="0"/>
              <a:t> connection. it is equipped with 50,000+ compute cores (CPU &amp; GPU) and a liquid cooling system.</a:t>
            </a:r>
          </a:p>
          <a:p>
            <a:pPr algn="just">
              <a:lnSpc>
                <a:spcPct val="110000"/>
              </a:lnSpc>
              <a:buFont typeface="Arial" pitchFamily="34" charset="0"/>
              <a:buChar char="•"/>
            </a:pPr>
            <a:r>
              <a:rPr lang="en-US" dirty="0"/>
              <a:t>PARAM </a:t>
            </a:r>
            <a:r>
              <a:rPr lang="en-US" dirty="0" err="1"/>
              <a:t>Utkarsh</a:t>
            </a:r>
            <a:r>
              <a:rPr lang="en-US" dirty="0"/>
              <a:t> has a maximum computational power of </a:t>
            </a:r>
            <a:r>
              <a:rPr lang="en-US" b="1" dirty="0"/>
              <a:t>838 Teraflops.</a:t>
            </a:r>
          </a:p>
        </p:txBody>
      </p:sp>
      <p:pic>
        <p:nvPicPr>
          <p:cNvPr id="106498" name="Picture 2"/>
          <p:cNvPicPr>
            <a:picLocks noGrp="1" noChangeAspect="1" noChangeArrowheads="1"/>
          </p:cNvPicPr>
          <p:nvPr>
            <p:ph type="pic" idx="2"/>
          </p:nvPr>
        </p:nvPicPr>
        <p:blipFill>
          <a:blip r:embed="rId2"/>
          <a:srcRect l="2940" r="2940"/>
          <a:stretch>
            <a:fillRect/>
          </a:stretch>
        </p:blipFill>
        <p:spPr bwMode="auto">
          <a:prstGeom prst="rect">
            <a:avLst/>
          </a:prstGeom>
          <a:noFill/>
          <a:ln w="9525">
            <a:noFill/>
            <a:miter lim="800000"/>
            <a:headEnd/>
            <a:tailEnd/>
          </a:ln>
          <a:effectLst/>
        </p:spPr>
      </p:pic>
      <p:sp>
        <p:nvSpPr>
          <p:cNvPr id="7" name="Slide Number Placeholder 6"/>
          <p:cNvSpPr>
            <a:spLocks noGrp="1"/>
          </p:cNvSpPr>
          <p:nvPr>
            <p:ph type="sldNum" idx="12"/>
          </p:nvPr>
        </p:nvSpPr>
        <p:spPr/>
        <p:txBody>
          <a:bodyPr/>
          <a:lstStyle/>
          <a:p>
            <a:fld id="{00000000-1234-1234-1234-123412341234}" type="slidenum">
              <a:rPr lang="en" smtClean="0"/>
              <a:pPr/>
              <a:t>65</a:t>
            </a:fld>
            <a:endParaRPr lang="en"/>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9800" y="2666140"/>
            <a:ext cx="10515600" cy="939600"/>
          </a:xfrm>
        </p:spPr>
        <p:txBody>
          <a:bodyPr>
            <a:normAutofit fontScale="90000"/>
          </a:bodyPr>
          <a:lstStyle/>
          <a:p>
            <a:pPr lvl="0" algn="ctr"/>
            <a:r>
              <a:rPr lang="en-US" sz="6533" dirty="0"/>
              <a:t>Access Remote HPC Cluster</a:t>
            </a:r>
            <a:br>
              <a:rPr lang="en-US" dirty="0"/>
            </a:br>
            <a:endParaRPr lang="en-US" dirty="0"/>
          </a:p>
        </p:txBody>
      </p:sp>
      <p:sp>
        <p:nvSpPr>
          <p:cNvPr id="5" name="Slide Number Placeholder 4"/>
          <p:cNvSpPr>
            <a:spLocks noGrp="1"/>
          </p:cNvSpPr>
          <p:nvPr>
            <p:ph type="sldNum" idx="12"/>
          </p:nvPr>
        </p:nvSpPr>
        <p:spPr/>
        <p:txBody>
          <a:bodyPr/>
          <a:lstStyle/>
          <a:p>
            <a:fld id="{00000000-1234-1234-1234-123412341234}" type="slidenum">
              <a:rPr lang="en" smtClean="0"/>
              <a:pPr/>
              <a:t>66</a:t>
            </a:fld>
            <a:endParaRPr lang="en"/>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2645" y="319860"/>
            <a:ext cx="10515600" cy="939600"/>
          </a:xfrm>
        </p:spPr>
        <p:txBody>
          <a:bodyPr>
            <a:normAutofit/>
          </a:bodyPr>
          <a:lstStyle/>
          <a:p>
            <a:r>
              <a:rPr lang="en-IN" dirty="0"/>
              <a:t>How to login to PARAM </a:t>
            </a:r>
            <a:r>
              <a:rPr lang="en-IN" dirty="0" err="1"/>
              <a:t>Utkarsh</a:t>
            </a:r>
            <a:endParaRPr lang="en-US" dirty="0"/>
          </a:p>
        </p:txBody>
      </p:sp>
      <p:sp>
        <p:nvSpPr>
          <p:cNvPr id="3" name="Text Placeholder 2"/>
          <p:cNvSpPr>
            <a:spLocks noGrp="1"/>
          </p:cNvSpPr>
          <p:nvPr>
            <p:ph type="body" idx="1"/>
          </p:nvPr>
        </p:nvSpPr>
        <p:spPr/>
        <p:txBody>
          <a:bodyPr>
            <a:normAutofit fontScale="62500" lnSpcReduction="20000"/>
          </a:bodyPr>
          <a:lstStyle/>
          <a:p>
            <a:pPr algn="just">
              <a:lnSpc>
                <a:spcPct val="110000"/>
              </a:lnSpc>
              <a:buNone/>
            </a:pPr>
            <a:r>
              <a:rPr lang="en-US" sz="2267" dirty="0"/>
              <a:t>Remote access from Linux Desktop</a:t>
            </a:r>
          </a:p>
          <a:p>
            <a:pPr algn="just">
              <a:lnSpc>
                <a:spcPct val="110000"/>
              </a:lnSpc>
            </a:pPr>
            <a:r>
              <a:rPr lang="en-US" sz="2267" dirty="0"/>
              <a:t>There is no need to install any extra packages because both Mac and Linux computers include an SSH client. Connect to an SSH server by entering the following command into the terminal :</a:t>
            </a:r>
          </a:p>
          <a:p>
            <a:pPr algn="just">
              <a:lnSpc>
                <a:spcPct val="110000"/>
              </a:lnSpc>
            </a:pPr>
            <a:r>
              <a:rPr lang="en-US" sz="2267" dirty="0"/>
              <a:t>Remote access from Windows Desktop</a:t>
            </a:r>
          </a:p>
          <a:p>
            <a:pPr lvl="0" algn="just">
              <a:lnSpc>
                <a:spcPct val="110000"/>
              </a:lnSpc>
            </a:pPr>
            <a:r>
              <a:rPr lang="en-IN" sz="2267" dirty="0"/>
              <a:t>Any SSH client : </a:t>
            </a:r>
            <a:r>
              <a:rPr lang="en-IN" sz="2267" dirty="0" err="1"/>
              <a:t>MobaXterm</a:t>
            </a:r>
            <a:r>
              <a:rPr lang="en-IN" sz="2267" dirty="0"/>
              <a:t>/ Putty</a:t>
            </a:r>
            <a:endParaRPr lang="en-US" sz="2267" dirty="0"/>
          </a:p>
          <a:p>
            <a:pPr algn="just">
              <a:lnSpc>
                <a:spcPct val="110000"/>
              </a:lnSpc>
            </a:pPr>
            <a:r>
              <a:rPr lang="en-US" sz="2267" b="1" dirty="0"/>
              <a:t>$ </a:t>
            </a:r>
            <a:r>
              <a:rPr lang="en-US" sz="2267" b="1" dirty="0" err="1"/>
              <a:t>ssh</a:t>
            </a:r>
            <a:r>
              <a:rPr lang="en-US" sz="2267" b="1" dirty="0"/>
              <a:t> –X </a:t>
            </a:r>
            <a:r>
              <a:rPr lang="en-US" sz="2267" b="1" dirty="0" err="1"/>
              <a:t>username@hostaddress</a:t>
            </a:r>
            <a:endParaRPr lang="en-US" sz="2267" b="1" dirty="0"/>
          </a:p>
          <a:p>
            <a:pPr algn="just">
              <a:lnSpc>
                <a:spcPct val="110000"/>
              </a:lnSpc>
              <a:buNone/>
            </a:pPr>
            <a:r>
              <a:rPr lang="en-US" sz="2267" dirty="0"/>
              <a:t> </a:t>
            </a:r>
          </a:p>
          <a:p>
            <a:pPr algn="just">
              <a:lnSpc>
                <a:spcPct val="110000"/>
              </a:lnSpc>
              <a:buNone/>
            </a:pPr>
            <a:r>
              <a:rPr lang="en-US" sz="2267" dirty="0"/>
              <a:t> EX: </a:t>
            </a:r>
            <a:r>
              <a:rPr lang="en-US" sz="2267" b="1" dirty="0"/>
              <a:t>$ </a:t>
            </a:r>
            <a:r>
              <a:rPr lang="en-US" sz="2267" b="1" dirty="0" err="1"/>
              <a:t>ssh</a:t>
            </a:r>
            <a:r>
              <a:rPr lang="en-US" sz="2267" b="1" dirty="0"/>
              <a:t> -X </a:t>
            </a:r>
            <a:r>
              <a:rPr lang="en-US" sz="2267" b="1" u="sng" dirty="0">
                <a:hlinkClick r:id="rId2"/>
              </a:rPr>
              <a:t>abc@paramutkarsh.cdacb.in</a:t>
            </a:r>
            <a:endParaRPr lang="en-US" sz="2267" b="1" u="sng" dirty="0"/>
          </a:p>
          <a:p>
            <a:pPr algn="just">
              <a:lnSpc>
                <a:spcPct val="110000"/>
              </a:lnSpc>
              <a:buNone/>
            </a:pPr>
            <a:endParaRPr lang="en-US" sz="2267" dirty="0"/>
          </a:p>
          <a:p>
            <a:pPr lvl="0" algn="just">
              <a:lnSpc>
                <a:spcPct val="110000"/>
              </a:lnSpc>
            </a:pPr>
            <a:r>
              <a:rPr lang="en-IN" sz="2267" dirty="0"/>
              <a:t>Enter the displayed </a:t>
            </a:r>
            <a:r>
              <a:rPr lang="en-IN" sz="2267" dirty="0" err="1"/>
              <a:t>Captcha</a:t>
            </a:r>
            <a:r>
              <a:rPr lang="en-IN" sz="2267" dirty="0"/>
              <a:t> (case sensitive)</a:t>
            </a:r>
            <a:endParaRPr lang="en-US" sz="2267" dirty="0"/>
          </a:p>
          <a:p>
            <a:pPr lvl="0" algn="just">
              <a:lnSpc>
                <a:spcPct val="110000"/>
              </a:lnSpc>
            </a:pPr>
            <a:r>
              <a:rPr lang="en-IN" sz="2267" dirty="0"/>
              <a:t>Enter Password</a:t>
            </a:r>
            <a:endParaRPr lang="en-US" sz="2267" dirty="0"/>
          </a:p>
          <a:p>
            <a:endParaRPr 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Job Scheduler  -  SLURM</a:t>
            </a:r>
            <a:endParaRPr lang="en-US" dirty="0"/>
          </a:p>
        </p:txBody>
      </p:sp>
      <p:sp>
        <p:nvSpPr>
          <p:cNvPr id="3" name="Text Placeholder 2"/>
          <p:cNvSpPr>
            <a:spLocks noGrp="1"/>
          </p:cNvSpPr>
          <p:nvPr>
            <p:ph type="body" idx="1"/>
          </p:nvPr>
        </p:nvSpPr>
        <p:spPr/>
        <p:txBody>
          <a:bodyPr>
            <a:normAutofit fontScale="77500" lnSpcReduction="20000"/>
          </a:bodyPr>
          <a:lstStyle/>
          <a:p>
            <a:pPr algn="just">
              <a:lnSpc>
                <a:spcPct val="150000"/>
              </a:lnSpc>
              <a:buNone/>
            </a:pPr>
            <a:r>
              <a:rPr lang="en-US" sz="2133" dirty="0"/>
              <a:t>When you login to HPC cluster, you land on </a:t>
            </a:r>
            <a:r>
              <a:rPr lang="en-US" sz="2133" b="1" dirty="0"/>
              <a:t>Login nodes</a:t>
            </a:r>
          </a:p>
          <a:p>
            <a:pPr algn="just">
              <a:lnSpc>
                <a:spcPct val="150000"/>
              </a:lnSpc>
            </a:pPr>
            <a:r>
              <a:rPr lang="en-US" sz="2133" dirty="0"/>
              <a:t>Login nodes are not meant to run jobs</a:t>
            </a:r>
          </a:p>
          <a:p>
            <a:pPr algn="just">
              <a:lnSpc>
                <a:spcPct val="150000"/>
              </a:lnSpc>
            </a:pPr>
            <a:r>
              <a:rPr lang="en-US" sz="2133" dirty="0"/>
              <a:t>These are used to submit jobs to </a:t>
            </a:r>
            <a:r>
              <a:rPr lang="en-US" sz="2133" b="1" dirty="0"/>
              <a:t>Compute Nodes</a:t>
            </a:r>
            <a:r>
              <a:rPr lang="en-US" sz="2133" dirty="0"/>
              <a:t>. You can setup your files and data on Login node. If compilation/installation of an application is required, user must do it on login node</a:t>
            </a:r>
          </a:p>
          <a:p>
            <a:pPr algn="just">
              <a:lnSpc>
                <a:spcPct val="150000"/>
              </a:lnSpc>
            </a:pPr>
            <a:r>
              <a:rPr lang="en-US" sz="2133" dirty="0"/>
              <a:t>To submit job on the cluster, you need to write a scheduler job script</a:t>
            </a:r>
          </a:p>
          <a:p>
            <a:pPr algn="just">
              <a:lnSpc>
                <a:spcPct val="150000"/>
              </a:lnSpc>
            </a:pPr>
            <a:r>
              <a:rPr lang="en-US" sz="2133" b="1" dirty="0"/>
              <a:t>SLURM</a:t>
            </a:r>
            <a:r>
              <a:rPr lang="en-US" sz="2133" dirty="0"/>
              <a:t> – Simple Linux Utility for Resource Management</a:t>
            </a:r>
          </a:p>
          <a:p>
            <a:pPr algn="just">
              <a:lnSpc>
                <a:spcPct val="150000"/>
              </a:lnSpc>
            </a:pPr>
            <a:r>
              <a:rPr lang="en-US" sz="2133" dirty="0"/>
              <a:t>It is a workload manager that provides a framework for job queues, allocation of compute nodes, and the start and execution of jobs</a:t>
            </a:r>
          </a:p>
        </p:txBody>
      </p:sp>
      <p:sp>
        <p:nvSpPr>
          <p:cNvPr id="5" name="Slide Number Placeholder 4"/>
          <p:cNvSpPr>
            <a:spLocks noGrp="1"/>
          </p:cNvSpPr>
          <p:nvPr>
            <p:ph type="sldNum" idx="12"/>
          </p:nvPr>
        </p:nvSpPr>
        <p:spPr/>
        <p:txBody>
          <a:bodyPr/>
          <a:lstStyle/>
          <a:p>
            <a:fld id="{00000000-1234-1234-1234-123412341234}" type="slidenum">
              <a:rPr lang="en" smtClean="0"/>
              <a:pPr/>
              <a:t>68</a:t>
            </a:fld>
            <a:endParaRPr lang="en"/>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SLURM</a:t>
            </a:r>
            <a:endParaRPr lang="en-US" dirty="0"/>
          </a:p>
        </p:txBody>
      </p:sp>
      <p:sp>
        <p:nvSpPr>
          <p:cNvPr id="3" name="Text Placeholder 2"/>
          <p:cNvSpPr>
            <a:spLocks noGrp="1"/>
          </p:cNvSpPr>
          <p:nvPr>
            <p:ph type="body" idx="1"/>
          </p:nvPr>
        </p:nvSpPr>
        <p:spPr>
          <a:xfrm>
            <a:off x="838200" y="970209"/>
            <a:ext cx="10515600" cy="5270769"/>
          </a:xfrm>
        </p:spPr>
        <p:txBody>
          <a:bodyPr>
            <a:normAutofit fontScale="85000" lnSpcReduction="10000"/>
          </a:bodyPr>
          <a:lstStyle/>
          <a:p>
            <a:pPr marL="609585" lvl="2" algn="just">
              <a:lnSpc>
                <a:spcPct val="150000"/>
              </a:lnSpc>
              <a:spcBef>
                <a:spcPts val="933"/>
              </a:spcBef>
              <a:buNone/>
            </a:pPr>
            <a:r>
              <a:rPr lang="en-IN" altLang="en-US" sz="2133" dirty="0"/>
              <a:t>How to set Environment ?</a:t>
            </a:r>
          </a:p>
          <a:p>
            <a:pPr algn="just">
              <a:lnSpc>
                <a:spcPct val="150000"/>
              </a:lnSpc>
              <a:buNone/>
            </a:pPr>
            <a:r>
              <a:rPr lang="en-US" sz="2133" dirty="0"/>
              <a:t>By default no applications set in your environment. User must explicitly set required ones</a:t>
            </a:r>
          </a:p>
          <a:p>
            <a:pPr algn="just">
              <a:lnSpc>
                <a:spcPct val="150000"/>
              </a:lnSpc>
              <a:buNone/>
            </a:pPr>
            <a:r>
              <a:rPr lang="en-US" sz="2133" b="1" dirty="0"/>
              <a:t>Module</a:t>
            </a:r>
            <a:r>
              <a:rPr lang="en-US" sz="2133" dirty="0"/>
              <a:t> is the utility (also command name) to enable use of applications / libraries / compilers available on the HPC cluster</a:t>
            </a:r>
          </a:p>
          <a:p>
            <a:pPr algn="just">
              <a:lnSpc>
                <a:spcPct val="150000"/>
              </a:lnSpc>
            </a:pPr>
            <a:r>
              <a:rPr lang="en-US" sz="2133" dirty="0"/>
              <a:t>The purpose of module is to provide the production environment for a given application</a:t>
            </a:r>
          </a:p>
          <a:p>
            <a:pPr algn="just">
              <a:lnSpc>
                <a:spcPct val="150000"/>
              </a:lnSpc>
            </a:pPr>
            <a:r>
              <a:rPr lang="en-US" sz="2133" dirty="0"/>
              <a:t>Module structure on Cluster</a:t>
            </a:r>
          </a:p>
          <a:p>
            <a:pPr lvl="1" algn="just">
              <a:lnSpc>
                <a:spcPct val="150000"/>
              </a:lnSpc>
            </a:pPr>
            <a:r>
              <a:rPr lang="en-US" sz="2133" dirty="0"/>
              <a:t>apps/&lt;application name&gt;/version : Application available on cluster</a:t>
            </a:r>
          </a:p>
          <a:p>
            <a:pPr lvl="1" algn="just">
              <a:lnSpc>
                <a:spcPct val="150000"/>
              </a:lnSpc>
            </a:pPr>
            <a:r>
              <a:rPr lang="en-US" sz="2133" dirty="0"/>
              <a:t>complier/&lt;compiler name&gt;/version : Compilers available on the cluster</a:t>
            </a:r>
          </a:p>
          <a:p>
            <a:pPr lvl="1" algn="just">
              <a:lnSpc>
                <a:spcPct val="150000"/>
              </a:lnSpc>
            </a:pPr>
            <a:r>
              <a:rPr lang="en-US" sz="2133" dirty="0"/>
              <a:t>lib/&lt;library name&gt;/version : Available libraries</a:t>
            </a:r>
          </a:p>
          <a:p>
            <a:endParaRPr 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SLURM Commands</a:t>
            </a:r>
          </a:p>
        </p:txBody>
      </p:sp>
      <p:sp>
        <p:nvSpPr>
          <p:cNvPr id="3" name="Text Placeholder 2"/>
          <p:cNvSpPr>
            <a:spLocks noGrp="1"/>
          </p:cNvSpPr>
          <p:nvPr>
            <p:ph type="body" idx="1"/>
          </p:nvPr>
        </p:nvSpPr>
        <p:spPr>
          <a:xfrm>
            <a:off x="838200" y="995967"/>
            <a:ext cx="10515600" cy="5245011"/>
          </a:xfrm>
        </p:spPr>
        <p:txBody>
          <a:bodyPr>
            <a:normAutofit fontScale="92500" lnSpcReduction="10000"/>
          </a:bodyPr>
          <a:lstStyle/>
          <a:p>
            <a:pPr>
              <a:lnSpc>
                <a:spcPct val="120000"/>
              </a:lnSpc>
            </a:pPr>
            <a:r>
              <a:rPr lang="en-US" sz="2133" b="1" dirty="0"/>
              <a:t>$ </a:t>
            </a:r>
            <a:r>
              <a:rPr lang="en-US" sz="2133" b="1" dirty="0" err="1"/>
              <a:t>sinfo</a:t>
            </a:r>
            <a:r>
              <a:rPr lang="en-US" sz="2133" dirty="0"/>
              <a:t>  Provides the basic information about the resources on HPC cluster like</a:t>
            </a:r>
          </a:p>
          <a:p>
            <a:pPr lvl="2">
              <a:lnSpc>
                <a:spcPct val="120000"/>
              </a:lnSpc>
            </a:pPr>
            <a:r>
              <a:rPr lang="en-US" sz="2133" dirty="0"/>
              <a:t>Partitions such as CPU/GPU/High memory nodes</a:t>
            </a:r>
          </a:p>
          <a:p>
            <a:pPr lvl="2">
              <a:lnSpc>
                <a:spcPct val="120000"/>
              </a:lnSpc>
            </a:pPr>
            <a:r>
              <a:rPr lang="en-US" sz="2133" dirty="0"/>
              <a:t>Number of nodes for each type and their names</a:t>
            </a:r>
          </a:p>
          <a:p>
            <a:pPr lvl="2">
              <a:lnSpc>
                <a:spcPct val="120000"/>
              </a:lnSpc>
            </a:pPr>
            <a:r>
              <a:rPr lang="en-US" sz="2133" dirty="0"/>
              <a:t>Status of the nodes</a:t>
            </a:r>
          </a:p>
          <a:p>
            <a:pPr>
              <a:lnSpc>
                <a:spcPct val="120000"/>
              </a:lnSpc>
            </a:pPr>
            <a:r>
              <a:rPr lang="en-US" sz="2133" b="1" dirty="0"/>
              <a:t>$ </a:t>
            </a:r>
            <a:r>
              <a:rPr lang="en-US" sz="2133" b="1" dirty="0" err="1"/>
              <a:t>scancel</a:t>
            </a:r>
            <a:r>
              <a:rPr lang="en-US" sz="2133" b="1" dirty="0"/>
              <a:t> &lt;job ID</a:t>
            </a:r>
            <a:r>
              <a:rPr lang="en-US" sz="2133" dirty="0"/>
              <a:t>&gt; To cancel the submitted job</a:t>
            </a:r>
          </a:p>
          <a:p>
            <a:pPr>
              <a:lnSpc>
                <a:spcPct val="120000"/>
              </a:lnSpc>
            </a:pPr>
            <a:r>
              <a:rPr lang="en-US" sz="2133" b="1" dirty="0"/>
              <a:t>$ </a:t>
            </a:r>
            <a:r>
              <a:rPr lang="en-US" sz="2133" b="1" dirty="0" err="1"/>
              <a:t>scontrol</a:t>
            </a:r>
            <a:r>
              <a:rPr lang="en-US" sz="2133" b="1" dirty="0"/>
              <a:t> hold &lt;job ID&gt;</a:t>
            </a:r>
            <a:r>
              <a:rPr lang="en-US" sz="2133" dirty="0"/>
              <a:t> To hold the job that is queued in system</a:t>
            </a:r>
          </a:p>
          <a:p>
            <a:pPr>
              <a:lnSpc>
                <a:spcPct val="120000"/>
              </a:lnSpc>
            </a:pPr>
            <a:r>
              <a:rPr lang="en-US" sz="2133" b="1" dirty="0"/>
              <a:t>$ </a:t>
            </a:r>
            <a:r>
              <a:rPr lang="en-US" sz="2133" b="1" dirty="0" err="1"/>
              <a:t>scontrol</a:t>
            </a:r>
            <a:r>
              <a:rPr lang="en-US" sz="2133" b="1" dirty="0"/>
              <a:t> release &lt;job ID&gt;</a:t>
            </a:r>
            <a:r>
              <a:rPr lang="en-US" sz="2133" dirty="0"/>
              <a:t> To release the held job</a:t>
            </a:r>
          </a:p>
          <a:p>
            <a:pPr>
              <a:lnSpc>
                <a:spcPct val="120000"/>
              </a:lnSpc>
            </a:pPr>
            <a:r>
              <a:rPr lang="en-US" sz="2133" b="1" dirty="0"/>
              <a:t>$ </a:t>
            </a:r>
            <a:r>
              <a:rPr lang="en-US" sz="2133" b="1" dirty="0" err="1"/>
              <a:t>scontrol</a:t>
            </a:r>
            <a:r>
              <a:rPr lang="en-US" sz="2133" b="1" dirty="0"/>
              <a:t> show job &lt;job ID&gt;</a:t>
            </a:r>
            <a:r>
              <a:rPr lang="en-US" sz="2133" dirty="0"/>
              <a:t> Provides information about submitted job</a:t>
            </a:r>
          </a:p>
          <a:p>
            <a:pPr>
              <a:lnSpc>
                <a:spcPct val="120000"/>
              </a:lnSpc>
            </a:pPr>
            <a:r>
              <a:rPr lang="en-US" sz="2133" b="1" dirty="0"/>
              <a:t>$ </a:t>
            </a:r>
            <a:r>
              <a:rPr lang="en-US" sz="2133" b="1" dirty="0" err="1"/>
              <a:t>srun</a:t>
            </a:r>
            <a:r>
              <a:rPr lang="en-US" sz="2133" b="1" dirty="0"/>
              <a:t> </a:t>
            </a:r>
            <a:r>
              <a:rPr lang="en-US" sz="2133" dirty="0"/>
              <a:t>To get resources in interactive mode</a:t>
            </a:r>
          </a:p>
          <a:p>
            <a:pPr>
              <a:lnSpc>
                <a:spcPct val="120000"/>
              </a:lnSpc>
            </a:pPr>
            <a:r>
              <a:rPr lang="en-US" sz="2133" dirty="0"/>
              <a:t>EX:  </a:t>
            </a:r>
            <a:r>
              <a:rPr lang="en-US" sz="2133" b="1" dirty="0"/>
              <a:t>$  </a:t>
            </a:r>
            <a:r>
              <a:rPr lang="en-US" sz="2133" b="1" dirty="0" err="1"/>
              <a:t>srun</a:t>
            </a:r>
            <a:r>
              <a:rPr lang="en-US" sz="2133" b="1" dirty="0"/>
              <a:t> --partition=</a:t>
            </a:r>
            <a:r>
              <a:rPr lang="en-US" sz="2133" b="1" dirty="0" err="1"/>
              <a:t>cpu</a:t>
            </a:r>
            <a:r>
              <a:rPr lang="en-US" sz="2133" b="1" dirty="0"/>
              <a:t> --export=ALL --nodes=2 --</a:t>
            </a:r>
            <a:r>
              <a:rPr lang="en-US" sz="2133" b="1" dirty="0" err="1"/>
              <a:t>ntasks</a:t>
            </a:r>
            <a:r>
              <a:rPr lang="en-US" sz="2133" b="1" dirty="0"/>
              <a:t>=2 --</a:t>
            </a:r>
            <a:r>
              <a:rPr lang="en-US" sz="2133" b="1" dirty="0" err="1"/>
              <a:t>mem</a:t>
            </a:r>
            <a:r>
              <a:rPr lang="en-US" sz="2133" b="1" dirty="0"/>
              <a:t>=10G --time=00:30:00 --</a:t>
            </a:r>
            <a:r>
              <a:rPr lang="en-US" sz="2133" b="1" dirty="0" err="1"/>
              <a:t>pty</a:t>
            </a:r>
            <a:r>
              <a:rPr lang="en-US" sz="2133" b="1" dirty="0"/>
              <a:t> bash -</a:t>
            </a:r>
            <a:r>
              <a:rPr lang="en-US" sz="2133" b="1" dirty="0" err="1"/>
              <a:t>i</a:t>
            </a:r>
            <a:endParaRPr lang="en-US" sz="2133" dirty="0"/>
          </a:p>
          <a:p>
            <a:endParaRPr lang="en-US"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a:t>
            </a:r>
          </a:p>
        </p:txBody>
      </p:sp>
      <p:sp>
        <p:nvSpPr>
          <p:cNvPr id="3" name="Text Placeholder 2"/>
          <p:cNvSpPr>
            <a:spLocks noGrp="1"/>
          </p:cNvSpPr>
          <p:nvPr>
            <p:ph type="body" idx="1"/>
          </p:nvPr>
        </p:nvSpPr>
        <p:spPr>
          <a:xfrm>
            <a:off x="838200" y="944451"/>
            <a:ext cx="10515600" cy="5296527"/>
          </a:xfrm>
        </p:spPr>
        <p:txBody>
          <a:bodyPr>
            <a:normAutofit fontScale="92500" lnSpcReduction="10000"/>
          </a:bodyPr>
          <a:lstStyle/>
          <a:p>
            <a:pPr algn="just">
              <a:buNone/>
            </a:pPr>
            <a:r>
              <a:rPr lang="en-IN" dirty="0"/>
              <a:t>How to load module on PARAM </a:t>
            </a:r>
            <a:r>
              <a:rPr lang="en-IN" dirty="0" err="1"/>
              <a:t>Utkarsh</a:t>
            </a:r>
            <a:r>
              <a:rPr lang="en-IN" dirty="0"/>
              <a:t>?</a:t>
            </a:r>
            <a:endParaRPr lang="en-US" dirty="0"/>
          </a:p>
          <a:p>
            <a:pPr lvl="0" algn="just">
              <a:buNone/>
            </a:pPr>
            <a:endParaRPr lang="en-IN" dirty="0"/>
          </a:p>
          <a:p>
            <a:pPr lvl="0" algn="just">
              <a:buNone/>
            </a:pPr>
            <a:r>
              <a:rPr lang="en-IN" dirty="0"/>
              <a:t>To check </a:t>
            </a:r>
            <a:r>
              <a:rPr lang="en-US" dirty="0"/>
              <a:t>the available software installed on HPC system</a:t>
            </a:r>
            <a:r>
              <a:rPr lang="en-IN" dirty="0"/>
              <a:t>:</a:t>
            </a:r>
            <a:endParaRPr lang="en-US" dirty="0"/>
          </a:p>
          <a:p>
            <a:pPr algn="just">
              <a:buNone/>
            </a:pPr>
            <a:r>
              <a:rPr lang="en-IN" b="1" dirty="0"/>
              <a:t>$ module avail</a:t>
            </a:r>
          </a:p>
          <a:p>
            <a:pPr lvl="1" algn="just"/>
            <a:r>
              <a:rPr lang="en-US" dirty="0"/>
              <a:t>List of precompiled applications</a:t>
            </a:r>
          </a:p>
          <a:p>
            <a:pPr lvl="1" algn="just"/>
            <a:r>
              <a:rPr lang="en-US" dirty="0"/>
              <a:t>Different compilers and libraries (compilers include GNU, Intel, PGI)</a:t>
            </a:r>
          </a:p>
          <a:p>
            <a:pPr algn="just">
              <a:buNone/>
            </a:pPr>
            <a:endParaRPr lang="en-US" dirty="0"/>
          </a:p>
          <a:p>
            <a:pPr algn="just">
              <a:buNone/>
            </a:pPr>
            <a:r>
              <a:rPr lang="en-US" dirty="0"/>
              <a:t>To check the currently loaded modules in your shell</a:t>
            </a:r>
          </a:p>
          <a:p>
            <a:pPr algn="just">
              <a:buNone/>
            </a:pPr>
            <a:r>
              <a:rPr lang="en-US" b="1" dirty="0"/>
              <a:t>$ module list </a:t>
            </a:r>
          </a:p>
          <a:p>
            <a:pPr algn="just">
              <a:buNone/>
            </a:pPr>
            <a:endParaRPr lang="en-US" b="1" dirty="0"/>
          </a:p>
          <a:p>
            <a:pPr lvl="0" algn="just">
              <a:buNone/>
            </a:pPr>
            <a:r>
              <a:rPr lang="en-IN" dirty="0"/>
              <a:t>To load a module use following command:</a:t>
            </a:r>
            <a:endParaRPr lang="en-US" dirty="0"/>
          </a:p>
          <a:p>
            <a:pPr algn="just">
              <a:buNone/>
            </a:pPr>
            <a:r>
              <a:rPr lang="en-IN" dirty="0"/>
              <a:t> </a:t>
            </a:r>
            <a:r>
              <a:rPr lang="en-IN" b="1" dirty="0"/>
              <a:t>$ module load &lt;</a:t>
            </a:r>
            <a:r>
              <a:rPr lang="en-IN" b="1" dirty="0" err="1"/>
              <a:t>module_name</a:t>
            </a:r>
            <a:r>
              <a:rPr lang="en-IN" b="1" dirty="0"/>
              <a:t>&gt;</a:t>
            </a:r>
            <a:endParaRPr lang="en-US" b="1" dirty="0"/>
          </a:p>
          <a:p>
            <a:pPr algn="just"/>
            <a:r>
              <a:rPr lang="en-US" dirty="0"/>
              <a:t>Module load compiler/</a:t>
            </a:r>
            <a:r>
              <a:rPr lang="en-US" dirty="0" err="1"/>
              <a:t>intel</a:t>
            </a:r>
            <a:r>
              <a:rPr lang="en-US" dirty="0"/>
              <a:t>/2018.2.199 (to set Intel compilers version 2018 in your environment)</a:t>
            </a:r>
          </a:p>
          <a:p>
            <a:pPr algn="just"/>
            <a:r>
              <a:rPr lang="en-US" dirty="0"/>
              <a:t>Module load apps/</a:t>
            </a:r>
            <a:r>
              <a:rPr lang="en-US" dirty="0" err="1"/>
              <a:t>namd</a:t>
            </a:r>
            <a:r>
              <a:rPr lang="en-US" dirty="0"/>
              <a:t>/2.12/impi2018/</a:t>
            </a:r>
            <a:r>
              <a:rPr lang="en-US" dirty="0" err="1"/>
              <a:t>cpu</a:t>
            </a:r>
            <a:r>
              <a:rPr lang="en-US" dirty="0"/>
              <a:t> (to set NAMD app version 2.12 in your environment)</a:t>
            </a:r>
          </a:p>
        </p:txBody>
      </p:sp>
      <p:sp>
        <p:nvSpPr>
          <p:cNvPr id="5" name="Slide Number Placeholder 4"/>
          <p:cNvSpPr>
            <a:spLocks noGrp="1"/>
          </p:cNvSpPr>
          <p:nvPr>
            <p:ph type="sldNum" idx="12"/>
          </p:nvPr>
        </p:nvSpPr>
        <p:spPr/>
        <p:txBody>
          <a:bodyPr/>
          <a:lstStyle/>
          <a:p>
            <a:fld id="{00000000-1234-1234-1234-123412341234}" type="slidenum">
              <a:rPr lang="en" smtClean="0"/>
              <a:pPr/>
              <a:t>71</a:t>
            </a:fld>
            <a:endParaRPr lang="en"/>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2564540"/>
            <a:ext cx="10515600" cy="939600"/>
          </a:xfrm>
        </p:spPr>
        <p:txBody>
          <a:bodyPr>
            <a:noAutofit/>
          </a:bodyPr>
          <a:lstStyle/>
          <a:p>
            <a:pPr lvl="0" algn="ctr"/>
            <a:r>
              <a:rPr lang="en-US" sz="5867" dirty="0"/>
              <a:t>Designing and running first program on HPC</a:t>
            </a:r>
          </a:p>
        </p:txBody>
      </p:sp>
      <p:sp>
        <p:nvSpPr>
          <p:cNvPr id="5" name="Slide Number Placeholder 4"/>
          <p:cNvSpPr>
            <a:spLocks noGrp="1"/>
          </p:cNvSpPr>
          <p:nvPr>
            <p:ph type="sldNum" idx="12"/>
          </p:nvPr>
        </p:nvSpPr>
        <p:spPr/>
        <p:txBody>
          <a:bodyPr/>
          <a:lstStyle/>
          <a:p>
            <a:fld id="{00000000-1234-1234-1234-123412341234}" type="slidenum">
              <a:rPr lang="en" smtClean="0"/>
              <a:pPr/>
              <a:t>72</a:t>
            </a:fld>
            <a:endParaRPr lang="en"/>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Compiling and executing the program</a:t>
            </a:r>
          </a:p>
        </p:txBody>
      </p:sp>
      <p:sp>
        <p:nvSpPr>
          <p:cNvPr id="3" name="Text Placeholder 2"/>
          <p:cNvSpPr>
            <a:spLocks noGrp="1"/>
          </p:cNvSpPr>
          <p:nvPr>
            <p:ph type="body" idx="1"/>
          </p:nvPr>
        </p:nvSpPr>
        <p:spPr/>
        <p:txBody>
          <a:bodyPr>
            <a:normAutofit fontScale="77500" lnSpcReduction="20000"/>
          </a:bodyPr>
          <a:lstStyle/>
          <a:p>
            <a:pPr algn="just">
              <a:lnSpc>
                <a:spcPct val="150000"/>
              </a:lnSpc>
            </a:pPr>
            <a:r>
              <a:rPr lang="en-US" sz="2133" dirty="0"/>
              <a:t>Module to be loaded</a:t>
            </a:r>
          </a:p>
          <a:p>
            <a:pPr algn="just">
              <a:lnSpc>
                <a:spcPct val="150000"/>
              </a:lnSpc>
              <a:buNone/>
            </a:pPr>
            <a:r>
              <a:rPr lang="en-US" sz="2133" b="1" dirty="0"/>
              <a:t>$module load compiler/</a:t>
            </a:r>
            <a:r>
              <a:rPr lang="en-US" sz="2133" b="1" dirty="0" err="1"/>
              <a:t>intel</a:t>
            </a:r>
            <a:r>
              <a:rPr lang="en-US" sz="2133" b="1" dirty="0"/>
              <a:t>/2018.4.057</a:t>
            </a:r>
          </a:p>
          <a:p>
            <a:pPr algn="just">
              <a:lnSpc>
                <a:spcPct val="150000"/>
              </a:lnSpc>
              <a:buNone/>
            </a:pPr>
            <a:endParaRPr lang="en-US" sz="2133" b="1" dirty="0"/>
          </a:p>
          <a:p>
            <a:pPr algn="just">
              <a:lnSpc>
                <a:spcPct val="150000"/>
              </a:lnSpc>
            </a:pPr>
            <a:r>
              <a:rPr lang="en-US" sz="2133" dirty="0"/>
              <a:t>Compilation:</a:t>
            </a:r>
          </a:p>
          <a:p>
            <a:pPr algn="just">
              <a:lnSpc>
                <a:spcPct val="150000"/>
              </a:lnSpc>
              <a:buNone/>
            </a:pPr>
            <a:r>
              <a:rPr lang="en-US" sz="2133" b="1" dirty="0"/>
              <a:t>$ </a:t>
            </a:r>
            <a:r>
              <a:rPr lang="en-US" sz="2133" b="1" dirty="0" err="1"/>
              <a:t>mpicc</a:t>
            </a:r>
            <a:r>
              <a:rPr lang="en-US" sz="2133" b="1" dirty="0"/>
              <a:t> </a:t>
            </a:r>
            <a:r>
              <a:rPr lang="en-US" sz="2133" b="1" dirty="0" err="1"/>
              <a:t>mm_mpi.c</a:t>
            </a:r>
            <a:r>
              <a:rPr lang="en-US" sz="2133" b="1" dirty="0"/>
              <a:t> -o mm_mpi1</a:t>
            </a:r>
          </a:p>
          <a:p>
            <a:pPr algn="just">
              <a:lnSpc>
                <a:spcPct val="150000"/>
              </a:lnSpc>
              <a:buNone/>
            </a:pPr>
            <a:endParaRPr lang="en-US" sz="2133" b="1" dirty="0"/>
          </a:p>
          <a:p>
            <a:pPr algn="just">
              <a:lnSpc>
                <a:spcPct val="150000"/>
              </a:lnSpc>
            </a:pPr>
            <a:r>
              <a:rPr lang="en-US" sz="2133" dirty="0"/>
              <a:t>Execution: </a:t>
            </a:r>
          </a:p>
          <a:p>
            <a:pPr algn="just">
              <a:lnSpc>
                <a:spcPct val="150000"/>
              </a:lnSpc>
              <a:buNone/>
            </a:pPr>
            <a:r>
              <a:rPr lang="en-US" sz="2133" b="1" dirty="0"/>
              <a:t>$ </a:t>
            </a:r>
            <a:r>
              <a:rPr lang="en-US" sz="2133" b="1" dirty="0" err="1"/>
              <a:t>sbatch</a:t>
            </a:r>
            <a:r>
              <a:rPr lang="en-US" sz="2133" b="1" dirty="0"/>
              <a:t> mm_mpi.sh</a:t>
            </a:r>
          </a:p>
          <a:p>
            <a:pPr algn="just">
              <a:lnSpc>
                <a:spcPct val="150000"/>
              </a:lnSpc>
              <a:buNone/>
            </a:pPr>
            <a:endParaRPr lang="en-US" sz="2133" dirty="0"/>
          </a:p>
        </p:txBody>
      </p:sp>
      <p:sp>
        <p:nvSpPr>
          <p:cNvPr id="5" name="Slide Number Placeholder 4"/>
          <p:cNvSpPr>
            <a:spLocks noGrp="1"/>
          </p:cNvSpPr>
          <p:nvPr>
            <p:ph type="sldNum" idx="12"/>
          </p:nvPr>
        </p:nvSpPr>
        <p:spPr/>
        <p:txBody>
          <a:bodyPr/>
          <a:lstStyle/>
          <a:p>
            <a:fld id="{00000000-1234-1234-1234-123412341234}" type="slidenum">
              <a:rPr lang="en" smtClean="0"/>
              <a:pPr/>
              <a:t>73</a:t>
            </a:fld>
            <a:endParaRPr lang="en"/>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Job script to run in CPU nodes</a:t>
            </a:r>
          </a:p>
        </p:txBody>
      </p:sp>
      <p:sp>
        <p:nvSpPr>
          <p:cNvPr id="3" name="Text Placeholder 2"/>
          <p:cNvSpPr>
            <a:spLocks noGrp="1"/>
          </p:cNvSpPr>
          <p:nvPr>
            <p:ph type="body" idx="1"/>
          </p:nvPr>
        </p:nvSpPr>
        <p:spPr>
          <a:xfrm>
            <a:off x="838200" y="1013140"/>
            <a:ext cx="10515600" cy="5494985"/>
          </a:xfrm>
        </p:spPr>
        <p:txBody>
          <a:bodyPr>
            <a:noAutofit/>
          </a:bodyPr>
          <a:lstStyle/>
          <a:p>
            <a:pPr>
              <a:buNone/>
            </a:pPr>
            <a:r>
              <a:rPr lang="en-US" sz="1867" dirty="0"/>
              <a:t>#!/bin/</a:t>
            </a:r>
            <a:r>
              <a:rPr lang="en-US" sz="1867" dirty="0" err="1"/>
              <a:t>sh</a:t>
            </a:r>
            <a:endParaRPr lang="en-US" sz="1867" dirty="0"/>
          </a:p>
          <a:p>
            <a:pPr>
              <a:buNone/>
            </a:pPr>
            <a:r>
              <a:rPr lang="en-US" sz="1867" dirty="0"/>
              <a:t>#SBATCH -N 2		</a:t>
            </a:r>
            <a:r>
              <a:rPr lang="en-IN" sz="1867" dirty="0"/>
              <a:t> # specify number of nodes</a:t>
            </a:r>
            <a:endParaRPr lang="en-US" sz="1867" dirty="0"/>
          </a:p>
          <a:p>
            <a:pPr>
              <a:buNone/>
            </a:pPr>
            <a:r>
              <a:rPr lang="en-US" sz="1867" dirty="0"/>
              <a:t>#SBATCH --</a:t>
            </a:r>
            <a:r>
              <a:rPr lang="en-US" sz="1867" dirty="0" err="1"/>
              <a:t>ntasks</a:t>
            </a:r>
            <a:r>
              <a:rPr lang="en-US" sz="1867" dirty="0"/>
              <a:t>-per-node=20	</a:t>
            </a:r>
            <a:r>
              <a:rPr lang="en-IN" sz="1867" dirty="0"/>
              <a:t># specify number of cores per node (CPU max 48 cores in one node)</a:t>
            </a:r>
            <a:endParaRPr lang="en-US" sz="1867" dirty="0"/>
          </a:p>
          <a:p>
            <a:pPr>
              <a:buNone/>
            </a:pPr>
            <a:r>
              <a:rPr lang="en-US" sz="1867" dirty="0"/>
              <a:t>#SBATCH --time=06:50:20	#</a:t>
            </a:r>
            <a:r>
              <a:rPr lang="en-IN" sz="1867" dirty="0"/>
              <a:t> specify </a:t>
            </a:r>
            <a:r>
              <a:rPr lang="en-IN" sz="1867" dirty="0" err="1"/>
              <a:t>walltime</a:t>
            </a:r>
            <a:r>
              <a:rPr lang="en-IN" sz="1867" dirty="0"/>
              <a:t> in HH:MM:SS, max value 72:00:00</a:t>
            </a:r>
            <a:endParaRPr lang="en-US" sz="1867" dirty="0"/>
          </a:p>
          <a:p>
            <a:pPr>
              <a:buNone/>
            </a:pPr>
            <a:r>
              <a:rPr lang="en-US" sz="1867" dirty="0"/>
              <a:t>#SBATCH --job-name=</a:t>
            </a:r>
            <a:r>
              <a:rPr lang="en-US" sz="1867" dirty="0" err="1"/>
              <a:t>mm_mpi</a:t>
            </a:r>
            <a:r>
              <a:rPr lang="en-US" sz="1867" dirty="0"/>
              <a:t>	#</a:t>
            </a:r>
            <a:r>
              <a:rPr lang="en-IN" sz="1867" dirty="0"/>
              <a:t> specify name of the job</a:t>
            </a:r>
            <a:endParaRPr lang="en-US" sz="1867" dirty="0"/>
          </a:p>
          <a:p>
            <a:pPr>
              <a:buNone/>
            </a:pPr>
            <a:r>
              <a:rPr lang="en-US" sz="1867" dirty="0"/>
              <a:t>#SBATCH --error=</a:t>
            </a:r>
            <a:r>
              <a:rPr lang="en-US" sz="1867" dirty="0" err="1"/>
              <a:t>job.%J.err</a:t>
            </a:r>
            <a:r>
              <a:rPr lang="en-US" sz="1867" dirty="0"/>
              <a:t>	</a:t>
            </a:r>
            <a:r>
              <a:rPr lang="en-IN" sz="1867" dirty="0"/>
              <a:t># specify error file name</a:t>
            </a:r>
            <a:endParaRPr lang="en-US" sz="1867" dirty="0"/>
          </a:p>
          <a:p>
            <a:pPr>
              <a:buNone/>
            </a:pPr>
            <a:r>
              <a:rPr lang="en-US" sz="1867" dirty="0"/>
              <a:t>#SBATCH --output=</a:t>
            </a:r>
            <a:r>
              <a:rPr lang="en-US" sz="1867" dirty="0" err="1"/>
              <a:t>job.%J.out</a:t>
            </a:r>
            <a:r>
              <a:rPr lang="en-US" sz="1867" dirty="0"/>
              <a:t>	</a:t>
            </a:r>
            <a:r>
              <a:rPr lang="en-IN" sz="1867" dirty="0"/>
              <a:t> # specify output file name</a:t>
            </a:r>
            <a:endParaRPr lang="en-US" sz="1867" dirty="0"/>
          </a:p>
          <a:p>
            <a:pPr>
              <a:buNone/>
            </a:pPr>
            <a:r>
              <a:rPr lang="en-US" sz="1867" dirty="0"/>
              <a:t>#SBATCH --partition=</a:t>
            </a:r>
            <a:r>
              <a:rPr lang="en-US" sz="1867" dirty="0" err="1"/>
              <a:t>cpu</a:t>
            </a:r>
            <a:r>
              <a:rPr lang="en-US" sz="1867" dirty="0"/>
              <a:t>	</a:t>
            </a:r>
            <a:r>
              <a:rPr lang="en-IN" sz="1867" dirty="0"/>
              <a:t> # name of the partition: available options "standard, </a:t>
            </a:r>
            <a:r>
              <a:rPr lang="en-IN" sz="1867" dirty="0" err="1"/>
              <a:t>cpu</a:t>
            </a:r>
            <a:r>
              <a:rPr lang="en-IN" sz="1867" dirty="0"/>
              <a:t>, </a:t>
            </a:r>
            <a:r>
              <a:rPr lang="en-IN" sz="1867" dirty="0" err="1"/>
              <a:t>gpu</a:t>
            </a:r>
            <a:r>
              <a:rPr lang="en-IN" sz="1867" dirty="0"/>
              <a:t>, </a:t>
            </a:r>
            <a:r>
              <a:rPr lang="en-IN" sz="1867" dirty="0" err="1"/>
              <a:t>hm</a:t>
            </a:r>
            <a:r>
              <a:rPr lang="en-IN" sz="1867" dirty="0"/>
              <a:t>"</a:t>
            </a:r>
            <a:endParaRPr lang="en-US" sz="1867" dirty="0"/>
          </a:p>
          <a:p>
            <a:pPr>
              <a:buNone/>
            </a:pPr>
            <a:endParaRPr lang="en-US" sz="1867" dirty="0"/>
          </a:p>
          <a:p>
            <a:pPr>
              <a:buNone/>
            </a:pPr>
            <a:r>
              <a:rPr lang="en-US" sz="1867" dirty="0" err="1"/>
              <a:t>ulimit</a:t>
            </a:r>
            <a:r>
              <a:rPr lang="en-US" sz="1867" dirty="0"/>
              <a:t> -s unlimited</a:t>
            </a:r>
          </a:p>
          <a:p>
            <a:pPr>
              <a:buNone/>
            </a:pPr>
            <a:r>
              <a:rPr lang="en-IN" sz="1867" dirty="0"/>
              <a:t>#list of modules you want to use, for example</a:t>
            </a:r>
            <a:endParaRPr lang="en-US" sz="1867" dirty="0"/>
          </a:p>
          <a:p>
            <a:pPr>
              <a:buNone/>
            </a:pPr>
            <a:r>
              <a:rPr lang="en-US" sz="1867" dirty="0"/>
              <a:t>module load compiler/</a:t>
            </a:r>
            <a:r>
              <a:rPr lang="en-US" sz="1867" dirty="0" err="1"/>
              <a:t>intel</a:t>
            </a:r>
            <a:r>
              <a:rPr lang="en-US" sz="1867" dirty="0"/>
              <a:t>/2018.4.057</a:t>
            </a:r>
          </a:p>
          <a:p>
            <a:pPr>
              <a:buNone/>
            </a:pPr>
            <a:r>
              <a:rPr lang="en-IN" sz="1867" dirty="0"/>
              <a:t>#run the program </a:t>
            </a:r>
            <a:endParaRPr lang="en-US" sz="1867" dirty="0"/>
          </a:p>
          <a:p>
            <a:pPr>
              <a:buNone/>
            </a:pPr>
            <a:r>
              <a:rPr lang="en-US" sz="1867" dirty="0"/>
              <a:t>time </a:t>
            </a:r>
            <a:r>
              <a:rPr lang="en-US" sz="1867" dirty="0" err="1"/>
              <a:t>mpirun</a:t>
            </a:r>
            <a:r>
              <a:rPr lang="en-US" sz="1867" dirty="0"/>
              <a:t> -</a:t>
            </a:r>
            <a:r>
              <a:rPr lang="en-US" sz="1867" dirty="0" err="1"/>
              <a:t>np</a:t>
            </a:r>
            <a:r>
              <a:rPr lang="en-US" sz="1867" dirty="0"/>
              <a:t> 4 ./mm_mpi1</a:t>
            </a:r>
          </a:p>
          <a:p>
            <a:endParaRPr lang="en-US" sz="1867" dirty="0"/>
          </a:p>
        </p:txBody>
      </p:sp>
      <p:sp>
        <p:nvSpPr>
          <p:cNvPr id="5" name="Slide Number Placeholder 4"/>
          <p:cNvSpPr>
            <a:spLocks noGrp="1"/>
          </p:cNvSpPr>
          <p:nvPr>
            <p:ph type="sldNum" idx="12"/>
          </p:nvPr>
        </p:nvSpPr>
        <p:spPr/>
        <p:txBody>
          <a:bodyPr/>
          <a:lstStyle/>
          <a:p>
            <a:fld id="{00000000-1234-1234-1234-123412341234}" type="slidenum">
              <a:rPr lang="en" smtClean="0"/>
              <a:pPr/>
              <a:t>74</a:t>
            </a:fld>
            <a:endParaRPr lang="en"/>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Job script to run in GPU nodes</a:t>
            </a:r>
          </a:p>
        </p:txBody>
      </p:sp>
      <p:sp>
        <p:nvSpPr>
          <p:cNvPr id="3" name="Text Placeholder 2"/>
          <p:cNvSpPr>
            <a:spLocks noGrp="1"/>
          </p:cNvSpPr>
          <p:nvPr>
            <p:ph type="body" idx="1"/>
          </p:nvPr>
        </p:nvSpPr>
        <p:spPr>
          <a:xfrm>
            <a:off x="752340" y="959382"/>
            <a:ext cx="10515600" cy="5540156"/>
          </a:xfrm>
        </p:spPr>
        <p:txBody>
          <a:bodyPr>
            <a:noAutofit/>
          </a:bodyPr>
          <a:lstStyle/>
          <a:p>
            <a:pPr>
              <a:buNone/>
            </a:pPr>
            <a:r>
              <a:rPr lang="en-US" sz="1867" dirty="0"/>
              <a:t>#!/bin/</a:t>
            </a:r>
            <a:r>
              <a:rPr lang="en-US" sz="1867" dirty="0" err="1"/>
              <a:t>sh</a:t>
            </a:r>
            <a:endParaRPr lang="en-US" sz="1867" dirty="0"/>
          </a:p>
          <a:p>
            <a:pPr>
              <a:buNone/>
            </a:pPr>
            <a:r>
              <a:rPr lang="en-US" sz="1867" dirty="0"/>
              <a:t>#SBATCH -N 2		</a:t>
            </a:r>
            <a:r>
              <a:rPr lang="en-IN" sz="1867" dirty="0"/>
              <a:t> # specify number of nodes</a:t>
            </a:r>
            <a:endParaRPr lang="en-US" sz="1867" dirty="0"/>
          </a:p>
          <a:p>
            <a:pPr>
              <a:buNone/>
            </a:pPr>
            <a:r>
              <a:rPr lang="en-US" sz="1867" dirty="0"/>
              <a:t>#SBATCH --</a:t>
            </a:r>
            <a:r>
              <a:rPr lang="en-US" sz="1867" dirty="0" err="1"/>
              <a:t>ntasks</a:t>
            </a:r>
            <a:r>
              <a:rPr lang="en-US" sz="1867" dirty="0"/>
              <a:t>-per-node=2	</a:t>
            </a:r>
            <a:r>
              <a:rPr lang="en-IN" sz="1867" dirty="0"/>
              <a:t># specify number of cores per node (GPU max 2 cards in one node)</a:t>
            </a:r>
            <a:endParaRPr lang="en-US" sz="1867" dirty="0"/>
          </a:p>
          <a:p>
            <a:pPr>
              <a:buNone/>
            </a:pPr>
            <a:r>
              <a:rPr lang="en-US" sz="1867" dirty="0"/>
              <a:t>#SBATCH --time=06:50:20	#</a:t>
            </a:r>
            <a:r>
              <a:rPr lang="en-IN" sz="1867" dirty="0"/>
              <a:t> specify </a:t>
            </a:r>
            <a:r>
              <a:rPr lang="en-IN" sz="1867" dirty="0" err="1"/>
              <a:t>walltime</a:t>
            </a:r>
            <a:r>
              <a:rPr lang="en-IN" sz="1867" dirty="0"/>
              <a:t> in HH:MM:SS, max value 72:00:00</a:t>
            </a:r>
            <a:endParaRPr lang="en-US" sz="1867" dirty="0"/>
          </a:p>
          <a:p>
            <a:pPr>
              <a:buNone/>
            </a:pPr>
            <a:r>
              <a:rPr lang="en-US" sz="1867" dirty="0"/>
              <a:t>#SBATCH --job-name=</a:t>
            </a:r>
            <a:r>
              <a:rPr lang="en-US" sz="1867" dirty="0" err="1"/>
              <a:t>mm_mpi</a:t>
            </a:r>
            <a:r>
              <a:rPr lang="en-US" sz="1867" dirty="0"/>
              <a:t>	#</a:t>
            </a:r>
            <a:r>
              <a:rPr lang="en-IN" sz="1867" dirty="0"/>
              <a:t> specify name of the job</a:t>
            </a:r>
            <a:endParaRPr lang="en-US" sz="1867" dirty="0"/>
          </a:p>
          <a:p>
            <a:pPr>
              <a:buNone/>
            </a:pPr>
            <a:r>
              <a:rPr lang="en-US" sz="1867" dirty="0"/>
              <a:t>#SBATCH --error=</a:t>
            </a:r>
            <a:r>
              <a:rPr lang="en-US" sz="1867" dirty="0" err="1"/>
              <a:t>job.%J.err</a:t>
            </a:r>
            <a:r>
              <a:rPr lang="en-US" sz="1867" dirty="0"/>
              <a:t>	</a:t>
            </a:r>
            <a:r>
              <a:rPr lang="en-IN" sz="1867" dirty="0"/>
              <a:t># specify error file name</a:t>
            </a:r>
            <a:endParaRPr lang="en-US" sz="1867" dirty="0"/>
          </a:p>
          <a:p>
            <a:pPr>
              <a:buNone/>
            </a:pPr>
            <a:r>
              <a:rPr lang="en-US" sz="1867" dirty="0"/>
              <a:t>#SBATCH --output=</a:t>
            </a:r>
            <a:r>
              <a:rPr lang="en-US" sz="1867" dirty="0" err="1"/>
              <a:t>job.%J.out</a:t>
            </a:r>
            <a:r>
              <a:rPr lang="en-US" sz="1867" dirty="0"/>
              <a:t>	</a:t>
            </a:r>
            <a:r>
              <a:rPr lang="en-IN" sz="1867" dirty="0"/>
              <a:t> # specify output file name</a:t>
            </a:r>
            <a:endParaRPr lang="en-US" sz="1867" dirty="0"/>
          </a:p>
          <a:p>
            <a:pPr>
              <a:buNone/>
            </a:pPr>
            <a:r>
              <a:rPr lang="en-US" sz="1867" dirty="0"/>
              <a:t>#SBATCH --partition=</a:t>
            </a:r>
            <a:r>
              <a:rPr lang="en-US" sz="1867" dirty="0" err="1"/>
              <a:t>gpu</a:t>
            </a:r>
            <a:r>
              <a:rPr lang="en-US" sz="1867" dirty="0"/>
              <a:t>	</a:t>
            </a:r>
            <a:r>
              <a:rPr lang="en-IN" sz="1867" dirty="0"/>
              <a:t> # name of the partition: available options "standard, </a:t>
            </a:r>
            <a:r>
              <a:rPr lang="en-IN" sz="1867" dirty="0" err="1"/>
              <a:t>cpu</a:t>
            </a:r>
            <a:r>
              <a:rPr lang="en-IN" sz="1867" dirty="0"/>
              <a:t>, </a:t>
            </a:r>
            <a:r>
              <a:rPr lang="en-IN" sz="1867" dirty="0" err="1"/>
              <a:t>gpu</a:t>
            </a:r>
            <a:r>
              <a:rPr lang="en-IN" sz="1867" dirty="0"/>
              <a:t>, </a:t>
            </a:r>
            <a:r>
              <a:rPr lang="en-IN" sz="1867" dirty="0" err="1"/>
              <a:t>hm</a:t>
            </a:r>
            <a:r>
              <a:rPr lang="en-IN" sz="1867" dirty="0"/>
              <a:t>“</a:t>
            </a:r>
            <a:endParaRPr lang="en-US" sz="1867" dirty="0"/>
          </a:p>
          <a:p>
            <a:pPr>
              <a:buNone/>
            </a:pPr>
            <a:endParaRPr lang="en-US" sz="1867" dirty="0"/>
          </a:p>
          <a:p>
            <a:pPr>
              <a:buNone/>
            </a:pPr>
            <a:r>
              <a:rPr lang="en-US" sz="1867" dirty="0" err="1"/>
              <a:t>ulimit</a:t>
            </a:r>
            <a:r>
              <a:rPr lang="en-US" sz="1867" dirty="0"/>
              <a:t> -s unlimited</a:t>
            </a:r>
          </a:p>
          <a:p>
            <a:pPr>
              <a:buNone/>
            </a:pPr>
            <a:r>
              <a:rPr lang="en-IN" sz="1867" dirty="0"/>
              <a:t># list of modules you want to use, for example</a:t>
            </a:r>
            <a:endParaRPr lang="en-US" sz="1867" dirty="0"/>
          </a:p>
          <a:p>
            <a:pPr>
              <a:buNone/>
            </a:pPr>
            <a:r>
              <a:rPr lang="en-US" sz="1867" dirty="0"/>
              <a:t>module load compiler/</a:t>
            </a:r>
            <a:r>
              <a:rPr lang="en-US" sz="1867" dirty="0" err="1"/>
              <a:t>intel</a:t>
            </a:r>
            <a:r>
              <a:rPr lang="en-US" sz="1867" dirty="0"/>
              <a:t>/2018.4.057</a:t>
            </a:r>
          </a:p>
          <a:p>
            <a:pPr>
              <a:buNone/>
            </a:pPr>
            <a:r>
              <a:rPr lang="en-IN" sz="1867" dirty="0"/>
              <a:t># run the program </a:t>
            </a:r>
            <a:endParaRPr lang="en-US" sz="1867" dirty="0"/>
          </a:p>
          <a:p>
            <a:pPr>
              <a:buNone/>
            </a:pPr>
            <a:r>
              <a:rPr lang="en-US" sz="1867" dirty="0"/>
              <a:t>time </a:t>
            </a:r>
            <a:r>
              <a:rPr lang="en-US" sz="1867" dirty="0" err="1"/>
              <a:t>mpirun</a:t>
            </a:r>
            <a:r>
              <a:rPr lang="en-US" sz="1867" dirty="0"/>
              <a:t> -</a:t>
            </a:r>
            <a:r>
              <a:rPr lang="en-US" sz="1867" dirty="0" err="1"/>
              <a:t>np</a:t>
            </a:r>
            <a:r>
              <a:rPr lang="en-US" sz="1867" dirty="0"/>
              <a:t> 4 ./mm_mpi1</a:t>
            </a:r>
          </a:p>
          <a:p>
            <a:pPr algn="just"/>
            <a:endParaRPr lang="en-US" sz="1200" dirty="0"/>
          </a:p>
        </p:txBody>
      </p:sp>
      <p:sp>
        <p:nvSpPr>
          <p:cNvPr id="5" name="Slide Number Placeholder 4"/>
          <p:cNvSpPr>
            <a:spLocks noGrp="1"/>
          </p:cNvSpPr>
          <p:nvPr>
            <p:ph type="sldNum" idx="12"/>
          </p:nvPr>
        </p:nvSpPr>
        <p:spPr/>
        <p:txBody>
          <a:bodyPr/>
          <a:lstStyle/>
          <a:p>
            <a:fld id="{00000000-1234-1234-1234-123412341234}" type="slidenum">
              <a:rPr lang="en" smtClean="0"/>
              <a:pPr/>
              <a:t>75</a:t>
            </a:fld>
            <a:endParaRPr lang="en"/>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331</TotalTime>
  <Words>5936</Words>
  <Application>Microsoft Office PowerPoint</Application>
  <PresentationFormat>Widescreen</PresentationFormat>
  <Paragraphs>477</Paragraphs>
  <Slides>75</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75</vt:i4>
      </vt:variant>
    </vt:vector>
  </HeadingPairs>
  <TitlesOfParts>
    <vt:vector size="80" baseType="lpstr">
      <vt:lpstr>Arial</vt:lpstr>
      <vt:lpstr>Calibri</vt:lpstr>
      <vt:lpstr>Century Gothic</vt:lpstr>
      <vt:lpstr>Wingdings 3</vt:lpstr>
      <vt:lpstr>Wisp</vt:lpstr>
      <vt:lpstr>HPC Clusters and Architecture</vt:lpstr>
      <vt:lpstr>Agenda</vt:lpstr>
      <vt:lpstr>PowerPoint Presentation</vt:lpstr>
      <vt:lpstr>PowerPoint Presentation</vt:lpstr>
      <vt:lpstr>PowerPoint Presentation</vt:lpstr>
      <vt:lpstr>HPC Architecture </vt:lpstr>
      <vt:lpstr>HPC System Key Components</vt:lpstr>
      <vt:lpstr>Key Components:</vt:lpstr>
      <vt:lpstr>Key Components:</vt:lpstr>
      <vt:lpstr>Key Components:</vt:lpstr>
      <vt:lpstr>HPC Architecture tool</vt:lpstr>
      <vt:lpstr>PowerPoint Presentation</vt:lpstr>
      <vt:lpstr>HPC cluster components</vt:lpstr>
      <vt:lpstr>HPC Software Stack</vt:lpstr>
      <vt:lpstr>PowerPoint Presentation</vt:lpstr>
      <vt:lpstr>Parallel file systems</vt:lpstr>
      <vt:lpstr>File Systems </vt:lpstr>
      <vt:lpstr>Local sequential File Systems</vt:lpstr>
      <vt:lpstr>Example: Structure a file on ext4 file system</vt:lpstr>
      <vt:lpstr>Parallel File Systems </vt:lpstr>
      <vt:lpstr>Architecture – Parallel File System</vt:lpstr>
      <vt:lpstr>Typical architecture- Parallel File System</vt:lpstr>
      <vt:lpstr>Main parallel file systems</vt:lpstr>
      <vt:lpstr>Lustre</vt:lpstr>
      <vt:lpstr>Architecture - Luster </vt:lpstr>
      <vt:lpstr>Lustre</vt:lpstr>
      <vt:lpstr>Performance Parameters for supercomputers</vt:lpstr>
      <vt:lpstr>Performance Parameters for supercomputers</vt:lpstr>
      <vt:lpstr>HPL - A Portable Implementation of the High-Performance Linpack Benchmark</vt:lpstr>
      <vt:lpstr>HPL</vt:lpstr>
      <vt:lpstr>Cluster Design and network considerations</vt:lpstr>
      <vt:lpstr>Cluster Design and network considerations </vt:lpstr>
      <vt:lpstr>Facilities requirements.</vt:lpstr>
      <vt:lpstr>Facilities requirements.</vt:lpstr>
      <vt:lpstr>Facilities requirements.</vt:lpstr>
      <vt:lpstr>Compute requirements. </vt:lpstr>
      <vt:lpstr>Compute requirements</vt:lpstr>
      <vt:lpstr>Compute requirements</vt:lpstr>
      <vt:lpstr>Software requirements. </vt:lpstr>
      <vt:lpstr>Network Considerations</vt:lpstr>
      <vt:lpstr>Components of supercomputer Network</vt:lpstr>
      <vt:lpstr>Computer networks</vt:lpstr>
      <vt:lpstr>Components of Supercomputer Network</vt:lpstr>
      <vt:lpstr>Network Interface Cards (NIC)</vt:lpstr>
      <vt:lpstr>Network Switches</vt:lpstr>
      <vt:lpstr>Firewall</vt:lpstr>
      <vt:lpstr>Types of Network medium </vt:lpstr>
      <vt:lpstr>Ethernet</vt:lpstr>
      <vt:lpstr>Fiber Channel</vt:lpstr>
      <vt:lpstr>Infiniband</vt:lpstr>
      <vt:lpstr>Building a Linux cluster </vt:lpstr>
      <vt:lpstr>Building a Linux cluster – Hardware</vt:lpstr>
      <vt:lpstr>Building a Linux cluster - Software</vt:lpstr>
      <vt:lpstr>HPC cluster security</vt:lpstr>
      <vt:lpstr>HPC cluster security </vt:lpstr>
      <vt:lpstr>Perimeter Firewall-UTM</vt:lpstr>
      <vt:lpstr>Cluster Firewall ( HA load balancer and IPS )</vt:lpstr>
      <vt:lpstr>Geographical filtering &amp; Isolated Network</vt:lpstr>
      <vt:lpstr>Secured authentication &amp; ACS</vt:lpstr>
      <vt:lpstr>Supercomputer details with images </vt:lpstr>
      <vt:lpstr>PARAM Shivay</vt:lpstr>
      <vt:lpstr>PARAM Shakti</vt:lpstr>
      <vt:lpstr>PARAM Sanganak</vt:lpstr>
      <vt:lpstr>PARAM Pravega</vt:lpstr>
      <vt:lpstr>PARAM Utkarsh</vt:lpstr>
      <vt:lpstr>Access Remote HPC Cluster </vt:lpstr>
      <vt:lpstr>How to login to PARAM Utkarsh</vt:lpstr>
      <vt:lpstr>Job Scheduler  -  SLURM</vt:lpstr>
      <vt:lpstr>SLURM</vt:lpstr>
      <vt:lpstr>SLURM Commands</vt:lpstr>
      <vt:lpstr>Module</vt:lpstr>
      <vt:lpstr>Designing and running first program on HPC</vt:lpstr>
      <vt:lpstr>Compiling and executing the program</vt:lpstr>
      <vt:lpstr>Job script to run in CPU nodes</vt:lpstr>
      <vt:lpstr>Job script to run in GPU nodes</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Neko - chan</dc:creator>
  <cp:lastModifiedBy>saanika48100@gmail.com</cp:lastModifiedBy>
  <cp:revision>15</cp:revision>
  <dcterms:created xsi:type="dcterms:W3CDTF">2024-06-12T05:08:06Z</dcterms:created>
  <dcterms:modified xsi:type="dcterms:W3CDTF">2026-09-20T06:08:05Z</dcterms:modified>
</cp:coreProperties>
</file>