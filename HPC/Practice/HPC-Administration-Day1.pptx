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13" r:id="rId11"/>
    <p:sldId id="322" r:id="rId12"/>
    <p:sldId id="323" r:id="rId13"/>
    <p:sldId id="324" r:id="rId14"/>
    <p:sldId id="314" r:id="rId15"/>
    <p:sldId id="276" r:id="rId16"/>
    <p:sldId id="265" r:id="rId17"/>
    <p:sldId id="277" r:id="rId18"/>
    <p:sldId id="278" r:id="rId19"/>
    <p:sldId id="279" r:id="rId20"/>
    <p:sldId id="266" r:id="rId21"/>
    <p:sldId id="267" r:id="rId22"/>
    <p:sldId id="268" r:id="rId23"/>
    <p:sldId id="269" r:id="rId24"/>
    <p:sldId id="280" r:id="rId25"/>
    <p:sldId id="270" r:id="rId26"/>
    <p:sldId id="284" r:id="rId27"/>
    <p:sldId id="271" r:id="rId28"/>
    <p:sldId id="272" r:id="rId29"/>
    <p:sldId id="273" r:id="rId30"/>
    <p:sldId id="281" r:id="rId31"/>
    <p:sldId id="274" r:id="rId32"/>
    <p:sldId id="275" r:id="rId33"/>
    <p:sldId id="283" r:id="rId34"/>
    <p:sldId id="285" r:id="rId35"/>
    <p:sldId id="286" r:id="rId36"/>
    <p:sldId id="288" r:id="rId37"/>
    <p:sldId id="315" r:id="rId38"/>
    <p:sldId id="290" r:id="rId39"/>
    <p:sldId id="287" r:id="rId40"/>
    <p:sldId id="316" r:id="rId41"/>
    <p:sldId id="317" r:id="rId42"/>
    <p:sldId id="291" r:id="rId43"/>
    <p:sldId id="292" r:id="rId44"/>
    <p:sldId id="318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19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2" r:id="rId65"/>
    <p:sldId id="320" r:id="rId66"/>
    <p:sldId id="321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70" d="100"/>
          <a:sy n="70" d="100"/>
        </p:scale>
        <p:origin x="882" y="6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591364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198681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12669370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15-Sep-26</a:t>
            </a:fld>
            <a:endParaRPr lang="en-US"/>
          </a:p>
        </p:txBody>
      </p:sp>
      <p:sp>
        <p:nvSpPr>
          <p:cNvPr id="582249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30162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586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02579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5598820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77200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15-Sep-26</a:t>
            </a:fld>
            <a:endParaRPr lang="en-US"/>
          </a:p>
        </p:txBody>
      </p:sp>
      <p:sp>
        <p:nvSpPr>
          <p:cNvPr id="15602839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4365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391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5109127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527952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164082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15-Sep-26</a:t>
            </a:fld>
            <a:endParaRPr lang="en-US"/>
          </a:p>
        </p:txBody>
      </p:sp>
      <p:sp>
        <p:nvSpPr>
          <p:cNvPr id="187066721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121196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239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1105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2137881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14466767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0724411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15-Sep-26</a:t>
            </a:fld>
            <a:endParaRPr lang="en-US"/>
          </a:p>
        </p:txBody>
      </p:sp>
      <p:sp>
        <p:nvSpPr>
          <p:cNvPr id="193214565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699022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51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77235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529149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4650986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961594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1353215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5091240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15-Sep-26</a:t>
            </a:fld>
            <a:endParaRPr lang="en-US"/>
          </a:p>
        </p:txBody>
      </p:sp>
      <p:sp>
        <p:nvSpPr>
          <p:cNvPr id="1564858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458635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859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91963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2075441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15-Sep-26</a:t>
            </a:fld>
            <a:endParaRPr lang="en-US"/>
          </a:p>
        </p:txBody>
      </p:sp>
      <p:sp>
        <p:nvSpPr>
          <p:cNvPr id="86794081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190271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269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492976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15-Sep-26</a:t>
            </a:fld>
            <a:endParaRPr lang="en-US"/>
          </a:p>
        </p:txBody>
      </p:sp>
      <p:sp>
        <p:nvSpPr>
          <p:cNvPr id="51014861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1406655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420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728441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99592042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13738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631790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15-Sep-26</a:t>
            </a:fld>
            <a:endParaRPr lang="en-US"/>
          </a:p>
        </p:txBody>
      </p:sp>
      <p:sp>
        <p:nvSpPr>
          <p:cNvPr id="69494076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217466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368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5025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272672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25783943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3973043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15-Sep-26</a:t>
            </a:fld>
            <a:endParaRPr lang="en-US"/>
          </a:p>
        </p:txBody>
      </p:sp>
      <p:sp>
        <p:nvSpPr>
          <p:cNvPr id="153991478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762589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22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05815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5597388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937304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15-Sep-26</a:t>
            </a:fld>
            <a:endParaRPr lang="en-US"/>
          </a:p>
        </p:txBody>
      </p:sp>
      <p:sp>
        <p:nvSpPr>
          <p:cNvPr id="3775529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826844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830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51340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4060225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24390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15-Sep-26</a:t>
            </a:fld>
            <a:endParaRPr lang="en-US"/>
          </a:p>
        </p:txBody>
      </p:sp>
      <p:sp>
        <p:nvSpPr>
          <p:cNvPr id="7542362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00161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405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1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7733032" name="Title 1"/>
          <p:cNvSpPr>
            <a:spLocks noGrp="1"/>
          </p:cNvSpPr>
          <p:nvPr>
            <p:ph type="ctrTitle"/>
          </p:nvPr>
        </p:nvSpPr>
        <p:spPr bwMode="auto">
          <a:xfrm>
            <a:off x="914400" y="2130425"/>
            <a:ext cx="10363199" cy="1470025"/>
          </a:xfrm>
        </p:spPr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2072312597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399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t>Click to edit Master subtitle style</a:t>
            </a:r>
          </a:p>
        </p:txBody>
      </p:sp>
      <p:sp>
        <p:nvSpPr>
          <p:cNvPr id="9927220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15-Sep-26</a:t>
            </a:fld>
            <a:endParaRPr/>
          </a:p>
        </p:txBody>
      </p:sp>
      <p:sp>
        <p:nvSpPr>
          <p:cNvPr id="578993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466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09877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5351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48736131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935589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15-Sep-26</a:t>
            </a:fld>
            <a:endParaRPr/>
          </a:p>
        </p:txBody>
      </p:sp>
      <p:sp>
        <p:nvSpPr>
          <p:cNvPr id="7141566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4024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98632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1_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7225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77137848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713242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15-Sep-26</a:t>
            </a:fld>
            <a:endParaRPr/>
          </a:p>
        </p:txBody>
      </p:sp>
      <p:sp>
        <p:nvSpPr>
          <p:cNvPr id="5056921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03521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0581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1_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697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97876800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583497" y="1600201"/>
            <a:ext cx="4704522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78724130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576053" y="1600201"/>
            <a:ext cx="5006346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32702738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15-Sep-26</a:t>
            </a:fld>
            <a:endParaRPr/>
          </a:p>
        </p:txBody>
      </p:sp>
      <p:sp>
        <p:nvSpPr>
          <p:cNvPr id="20123550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73450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32080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1_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0606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16627923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583497" y="1535113"/>
            <a:ext cx="470452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71497736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583497" y="2174874"/>
            <a:ext cx="470452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91718431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480042" y="1535113"/>
            <a:ext cx="510235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11043765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480042" y="2174874"/>
            <a:ext cx="510235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78720337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15-Sep-26</a:t>
            </a:fld>
            <a:endParaRPr/>
          </a:p>
        </p:txBody>
      </p:sp>
      <p:sp>
        <p:nvSpPr>
          <p:cNvPr id="20455801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445410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9248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1_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5391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48299661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15-Sep-26</a:t>
            </a:fld>
            <a:endParaRPr/>
          </a:p>
        </p:txBody>
      </p:sp>
      <p:sp>
        <p:nvSpPr>
          <p:cNvPr id="82475348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57617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00089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1_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15908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15-Sep-26</a:t>
            </a:fld>
            <a:endParaRPr/>
          </a:p>
        </p:txBody>
      </p:sp>
      <p:sp>
        <p:nvSpPr>
          <p:cNvPr id="196768437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36209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02171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1_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379092" name="Title 1"/>
          <p:cNvSpPr>
            <a:spLocks noGrp="1"/>
          </p:cNvSpPr>
          <p:nvPr>
            <p:ph type="title"/>
          </p:nvPr>
        </p:nvSpPr>
        <p:spPr bwMode="auto">
          <a:xfrm>
            <a:off x="1583497" y="273049"/>
            <a:ext cx="355239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198240681" name="Content Placeholder 2"/>
          <p:cNvSpPr>
            <a:spLocks noGrp="1"/>
          </p:cNvSpPr>
          <p:nvPr>
            <p:ph idx="1"/>
          </p:nvPr>
        </p:nvSpPr>
        <p:spPr bwMode="auto">
          <a:xfrm>
            <a:off x="5327913" y="273050"/>
            <a:ext cx="625448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75538416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583497" y="1435101"/>
            <a:ext cx="355239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61038458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15-Sep-26</a:t>
            </a:fld>
            <a:endParaRPr/>
          </a:p>
        </p:txBody>
      </p:sp>
      <p:sp>
        <p:nvSpPr>
          <p:cNvPr id="10741326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78431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95911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1_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1045832" name="Title 1"/>
          <p:cNvSpPr>
            <a:spLocks noGrp="1"/>
          </p:cNvSpPr>
          <p:nvPr>
            <p:ph type="title"/>
          </p:nvPr>
        </p:nvSpPr>
        <p:spPr bwMode="auto">
          <a:xfrm>
            <a:off x="1583497" y="4800600"/>
            <a:ext cx="998510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147835749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583497" y="612774"/>
            <a:ext cx="9985109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4555926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583497" y="5367337"/>
            <a:ext cx="998510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4445305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15-Sep-26</a:t>
            </a:fld>
            <a:endParaRPr/>
          </a:p>
        </p:txBody>
      </p:sp>
      <p:sp>
        <p:nvSpPr>
          <p:cNvPr id="60319350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417211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49491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1_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0267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49726275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0952162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15-Sep-26</a:t>
            </a:fld>
            <a:endParaRPr/>
          </a:p>
        </p:txBody>
      </p:sp>
      <p:sp>
        <p:nvSpPr>
          <p:cNvPr id="14753295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28984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52369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1_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657888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8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7571129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8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4796900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15-Sep-26</a:t>
            </a:fld>
            <a:endParaRPr/>
          </a:p>
        </p:txBody>
      </p:sp>
      <p:sp>
        <p:nvSpPr>
          <p:cNvPr id="12552596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352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9895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33596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9479531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5731110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6EB4D43-F783-4E09-8208-6AA351DBC29B}" type="datetimeFigureOut">
              <a:rPr lang="en-US"/>
              <a:t>15-Sep-26</a:t>
            </a:fld>
            <a:endParaRPr lang="en-US"/>
          </a:p>
        </p:txBody>
      </p:sp>
      <p:sp>
        <p:nvSpPr>
          <p:cNvPr id="207062582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2130827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	</a:t>
            </a:r>
            <a:fld id="{F8E3F0E9-0FC2-4DDE-87CF-3BA6A04EA4CC}" type="slidenum">
              <a:rPr/>
              <a:t>‹#›</a:t>
            </a:fld>
            <a:endParaRPr/>
          </a:p>
        </p:txBody>
      </p:sp>
      <p:sp>
        <p:nvSpPr>
          <p:cNvPr id="857509221" name="Shape 1058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6343" y="6641"/>
                </a:moveTo>
                <a:lnTo>
                  <a:pt x="6343" y="6641"/>
                </a:lnTo>
                <a:cubicBezTo>
                  <a:pt x="7781" y="2374"/>
                  <a:pt x="8594" y="0"/>
                  <a:pt x="8594" y="0"/>
                </a:cubicBezTo>
                <a:lnTo>
                  <a:pt x="0" y="0"/>
                </a:lnTo>
                <a:lnTo>
                  <a:pt x="0" y="43200"/>
                </a:lnTo>
                <a:lnTo>
                  <a:pt x="43200" y="43200"/>
                </a:lnTo>
                <a:lnTo>
                  <a:pt x="43200" y="37760"/>
                </a:lnTo>
                <a:lnTo>
                  <a:pt x="43200" y="37760"/>
                </a:lnTo>
                <a:cubicBezTo>
                  <a:pt x="43200" y="37760"/>
                  <a:pt x="34824" y="39282"/>
                  <a:pt x="21228" y="41101"/>
                </a:cubicBezTo>
                <a:lnTo>
                  <a:pt x="21228" y="41101"/>
                </a:lnTo>
                <a:cubicBezTo>
                  <a:pt x="3446" y="43478"/>
                  <a:pt x="-5241" y="41016"/>
                  <a:pt x="6343" y="6641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81021620" name="Shape 1059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</p:spPr>
      </p:sp>
      <p:sp>
        <p:nvSpPr>
          <p:cNvPr id="1928360171" name="Shape 1060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361" y="36777"/>
                </a:moveTo>
                <a:lnTo>
                  <a:pt x="22361" y="36777"/>
                </a:lnTo>
                <a:cubicBezTo>
                  <a:pt x="5219" y="39070"/>
                  <a:pt x="-2372" y="36412"/>
                  <a:pt x="7775" y="6299"/>
                </a:cubicBezTo>
                <a:lnTo>
                  <a:pt x="7775" y="6299"/>
                </a:lnTo>
                <a:cubicBezTo>
                  <a:pt x="9119" y="2311"/>
                  <a:pt x="9892" y="58"/>
                  <a:pt x="9911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612"/>
                </a:lnTo>
                <a:lnTo>
                  <a:pt x="43200" y="33612"/>
                </a:lnTo>
                <a:cubicBezTo>
                  <a:pt x="43110" y="33630"/>
                  <a:pt x="35168" y="35065"/>
                  <a:pt x="22361" y="36777"/>
                </a:cubicBezTo>
                <a:close/>
              </a:path>
            </a:pathLst>
          </a:custGeom>
          <a:solidFill>
            <a:schemeClr val="accent1">
              <a:alpha val="9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04888084" name="Shape 1061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276" y="37156"/>
                </a:moveTo>
                <a:lnTo>
                  <a:pt x="22276" y="37156"/>
                </a:lnTo>
                <a:cubicBezTo>
                  <a:pt x="5093" y="39454"/>
                  <a:pt x="-2596" y="36819"/>
                  <a:pt x="7680" y="6325"/>
                </a:cubicBezTo>
                <a:lnTo>
                  <a:pt x="7680" y="6325"/>
                </a:lnTo>
                <a:cubicBezTo>
                  <a:pt x="9010" y="2380"/>
                  <a:pt x="9781" y="117"/>
                  <a:pt x="981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980"/>
                </a:lnTo>
                <a:lnTo>
                  <a:pt x="43200" y="33980"/>
                </a:lnTo>
                <a:cubicBezTo>
                  <a:pt x="43020" y="34016"/>
                  <a:pt x="35046" y="35449"/>
                  <a:pt x="22276" y="37156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10045847" name="Shape 1062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192" y="37535"/>
                </a:moveTo>
                <a:lnTo>
                  <a:pt x="22192" y="37535"/>
                </a:lnTo>
                <a:cubicBezTo>
                  <a:pt x="4968" y="39839"/>
                  <a:pt x="-2820" y="37226"/>
                  <a:pt x="7585" y="6350"/>
                </a:cubicBezTo>
                <a:lnTo>
                  <a:pt x="7585" y="6350"/>
                </a:lnTo>
                <a:cubicBezTo>
                  <a:pt x="8900" y="2448"/>
                  <a:pt x="9670" y="176"/>
                  <a:pt x="9726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348"/>
                </a:lnTo>
                <a:lnTo>
                  <a:pt x="43200" y="34348"/>
                </a:lnTo>
                <a:cubicBezTo>
                  <a:pt x="42885" y="34402"/>
                  <a:pt x="34924" y="35833"/>
                  <a:pt x="22192" y="37535"/>
                </a:cubicBezTo>
                <a:close/>
              </a:path>
            </a:pathLst>
          </a:custGeom>
          <a:solidFill>
            <a:schemeClr val="accent1">
              <a:alpha val="26998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85150927" name="Shape 1063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107" y="37914"/>
                </a:moveTo>
                <a:lnTo>
                  <a:pt x="22107" y="37914"/>
                </a:lnTo>
                <a:cubicBezTo>
                  <a:pt x="4842" y="40223"/>
                  <a:pt x="-3044" y="37634"/>
                  <a:pt x="7490" y="6376"/>
                </a:cubicBezTo>
                <a:lnTo>
                  <a:pt x="7490" y="6376"/>
                </a:lnTo>
                <a:cubicBezTo>
                  <a:pt x="8790" y="2517"/>
                  <a:pt x="9559" y="235"/>
                  <a:pt x="9634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717"/>
                </a:lnTo>
                <a:lnTo>
                  <a:pt x="43200" y="34717"/>
                </a:lnTo>
                <a:cubicBezTo>
                  <a:pt x="42795" y="34789"/>
                  <a:pt x="34802" y="36217"/>
                  <a:pt x="22107" y="37914"/>
                </a:cubicBezTo>
                <a:close/>
              </a:path>
            </a:pathLst>
          </a:custGeom>
          <a:solidFill>
            <a:schemeClr val="accent1">
              <a:alpha val="36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93101397" name="Shape 1064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022" y="38293"/>
                </a:moveTo>
                <a:lnTo>
                  <a:pt x="22022" y="38293"/>
                </a:lnTo>
                <a:cubicBezTo>
                  <a:pt x="4717" y="40608"/>
                  <a:pt x="-3267" y="38041"/>
                  <a:pt x="7394" y="6401"/>
                </a:cubicBezTo>
                <a:lnTo>
                  <a:pt x="7394" y="6401"/>
                </a:lnTo>
                <a:cubicBezTo>
                  <a:pt x="8680" y="2586"/>
                  <a:pt x="9448" y="293"/>
                  <a:pt x="954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085"/>
                </a:lnTo>
                <a:lnTo>
                  <a:pt x="43200" y="35085"/>
                </a:lnTo>
                <a:cubicBezTo>
                  <a:pt x="42705" y="35175"/>
                  <a:pt x="34680" y="36601"/>
                  <a:pt x="22022" y="38293"/>
                </a:cubicBezTo>
                <a:close/>
              </a:path>
            </a:pathLst>
          </a:custGeom>
          <a:solidFill>
            <a:schemeClr val="accent1">
              <a:alpha val="4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7387942" name="Shape 1065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937" y="38673"/>
                </a:moveTo>
                <a:lnTo>
                  <a:pt x="21937" y="38673"/>
                </a:lnTo>
                <a:cubicBezTo>
                  <a:pt x="4591" y="40992"/>
                  <a:pt x="-3491" y="38448"/>
                  <a:pt x="7299" y="6427"/>
                </a:cubicBezTo>
                <a:lnTo>
                  <a:pt x="7299" y="6427"/>
                </a:lnTo>
                <a:cubicBezTo>
                  <a:pt x="8570" y="2655"/>
                  <a:pt x="9336" y="352"/>
                  <a:pt x="944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453"/>
                </a:lnTo>
                <a:lnTo>
                  <a:pt x="43200" y="35453"/>
                </a:lnTo>
                <a:cubicBezTo>
                  <a:pt x="42570" y="35561"/>
                  <a:pt x="34558" y="36985"/>
                  <a:pt x="21937" y="38673"/>
                </a:cubicBezTo>
                <a:close/>
              </a:path>
            </a:pathLst>
          </a:custGeom>
          <a:solidFill>
            <a:schemeClr val="accent1">
              <a:alpha val="5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63737535" name="Shape 1066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853" y="39052"/>
                </a:moveTo>
                <a:lnTo>
                  <a:pt x="21853" y="39052"/>
                </a:lnTo>
                <a:cubicBezTo>
                  <a:pt x="4466" y="41377"/>
                  <a:pt x="-3715" y="38855"/>
                  <a:pt x="7204" y="6453"/>
                </a:cubicBezTo>
                <a:lnTo>
                  <a:pt x="7204" y="6453"/>
                </a:lnTo>
                <a:cubicBezTo>
                  <a:pt x="8461" y="2724"/>
                  <a:pt x="9225" y="411"/>
                  <a:pt x="9357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822"/>
                </a:lnTo>
                <a:lnTo>
                  <a:pt x="43200" y="35822"/>
                </a:lnTo>
                <a:cubicBezTo>
                  <a:pt x="42480" y="35948"/>
                  <a:pt x="34436" y="37369"/>
                  <a:pt x="21853" y="39052"/>
                </a:cubicBezTo>
                <a:close/>
              </a:path>
            </a:pathLst>
          </a:custGeom>
          <a:solidFill>
            <a:schemeClr val="accent1">
              <a:alpha val="63999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07825763" name="Shape 1067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768" y="39431"/>
                </a:moveTo>
                <a:lnTo>
                  <a:pt x="21768" y="39431"/>
                </a:lnTo>
                <a:cubicBezTo>
                  <a:pt x="4340" y="41761"/>
                  <a:pt x="-3939" y="39262"/>
                  <a:pt x="7109" y="6478"/>
                </a:cubicBezTo>
                <a:lnTo>
                  <a:pt x="7109" y="6478"/>
                </a:lnTo>
                <a:cubicBezTo>
                  <a:pt x="8351" y="2792"/>
                  <a:pt x="9114" y="470"/>
                  <a:pt x="9265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190"/>
                </a:lnTo>
                <a:lnTo>
                  <a:pt x="43200" y="36190"/>
                </a:lnTo>
                <a:cubicBezTo>
                  <a:pt x="42390" y="36334"/>
                  <a:pt x="34314" y="37753"/>
                  <a:pt x="21768" y="39431"/>
                </a:cubicBezTo>
                <a:close/>
              </a:path>
            </a:pathLst>
          </a:custGeom>
          <a:solidFill>
            <a:schemeClr val="accent1">
              <a:alpha val="73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91221264" name="Shape 1068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683" y="39810"/>
                </a:moveTo>
                <a:lnTo>
                  <a:pt x="21683" y="39810"/>
                </a:lnTo>
                <a:cubicBezTo>
                  <a:pt x="4214" y="42146"/>
                  <a:pt x="-4163" y="39669"/>
                  <a:pt x="7014" y="6504"/>
                </a:cubicBezTo>
                <a:lnTo>
                  <a:pt x="7014" y="6504"/>
                </a:lnTo>
                <a:cubicBezTo>
                  <a:pt x="8241" y="2861"/>
                  <a:pt x="9003" y="528"/>
                  <a:pt x="917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558"/>
                </a:lnTo>
                <a:lnTo>
                  <a:pt x="43200" y="36558"/>
                </a:lnTo>
                <a:cubicBezTo>
                  <a:pt x="42300" y="36720"/>
                  <a:pt x="34192" y="38137"/>
                  <a:pt x="21683" y="39810"/>
                </a:cubicBezTo>
                <a:close/>
              </a:path>
            </a:pathLst>
          </a:custGeom>
          <a:solidFill>
            <a:schemeClr val="accent1">
              <a:alpha val="82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62083106" name="Shape 1069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599" y="40189"/>
                </a:moveTo>
                <a:lnTo>
                  <a:pt x="21599" y="40189"/>
                </a:lnTo>
                <a:cubicBezTo>
                  <a:pt x="4089" y="42530"/>
                  <a:pt x="-4386" y="40077"/>
                  <a:pt x="6918" y="6529"/>
                </a:cubicBezTo>
                <a:lnTo>
                  <a:pt x="6918" y="6529"/>
                </a:lnTo>
                <a:cubicBezTo>
                  <a:pt x="8131" y="2930"/>
                  <a:pt x="8892" y="587"/>
                  <a:pt x="9080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926"/>
                </a:lnTo>
                <a:lnTo>
                  <a:pt x="43200" y="36926"/>
                </a:lnTo>
                <a:cubicBezTo>
                  <a:pt x="42165" y="37107"/>
                  <a:pt x="34070" y="38521"/>
                  <a:pt x="21599" y="40189"/>
                </a:cubicBezTo>
                <a:close/>
              </a:path>
            </a:pathLst>
          </a:custGeom>
          <a:solidFill>
            <a:schemeClr val="accent1">
              <a:alpha val="91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91706101" name="Shape 1070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514" y="40568"/>
                </a:moveTo>
                <a:lnTo>
                  <a:pt x="21514" y="40568"/>
                </a:lnTo>
                <a:cubicBezTo>
                  <a:pt x="3963" y="42915"/>
                  <a:pt x="-4610" y="40484"/>
                  <a:pt x="6823" y="6555"/>
                </a:cubicBezTo>
                <a:lnTo>
                  <a:pt x="6823" y="6555"/>
                </a:lnTo>
                <a:cubicBezTo>
                  <a:pt x="8022" y="2999"/>
                  <a:pt x="8781" y="646"/>
                  <a:pt x="8988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7295"/>
                </a:lnTo>
                <a:lnTo>
                  <a:pt x="43200" y="37295"/>
                </a:lnTo>
                <a:cubicBezTo>
                  <a:pt x="42075" y="37493"/>
                  <a:pt x="33948" y="38905"/>
                  <a:pt x="21514" y="40568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623014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  <p:sldLayoutId id="2147483704" r:id="rId20"/>
    <p:sldLayoutId id="2147483705" r:id="rId21"/>
    <p:sldLayoutId id="2147483706" r:id="rId22"/>
  </p:sldLayoutIdLst>
  <p:hf sldNum="0" hdr="0" ftr="0" dt="0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42565" y="466164"/>
            <a:ext cx="8525435" cy="1206034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Devices</a:t>
            </a:r>
          </a:p>
        </p:txBody>
      </p:sp>
      <p:pic>
        <p:nvPicPr>
          <p:cNvPr id="1028" name="Picture 4" descr="Computer Storage Devices Types and Uses - DataFlair">
            <a:extLst>
              <a:ext uri="{FF2B5EF4-FFF2-40B4-BE49-F238E27FC236}">
                <a16:creationId xmlns:a16="http://schemas.microsoft.com/office/drawing/2014/main" id="{917679AB-FA70-400F-9FF2-1F6534F54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6078" y="2232211"/>
            <a:ext cx="5596578" cy="2922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549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4529" y="499595"/>
            <a:ext cx="8189259" cy="1087157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devices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2058707"/>
            <a:ext cx="7373471" cy="31049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Devices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Levels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Techniques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969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41" y="499597"/>
            <a:ext cx="7947212" cy="845110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3894" y="1969060"/>
            <a:ext cx="6091518" cy="240571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and Secondary.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disk drives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Tape Drives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196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2482" y="681037"/>
            <a:ext cx="7095565" cy="647887"/>
          </a:xfrm>
        </p:spPr>
        <p:txBody>
          <a:bodyPr>
            <a:no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HDD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4247" y="1897343"/>
            <a:ext cx="8601635" cy="32573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Advanced Technology Attachment (PATA)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 ATA (SATA)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Computer System Interface (SCSI)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 attached SCSI(SAS)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Solid State Drives (SSD)</a:t>
            </a:r>
          </a:p>
        </p:txBody>
      </p:sp>
    </p:spTree>
    <p:extLst>
      <p:ext uri="{BB962C8B-B14F-4D97-AF65-F5344CB8AC3E}">
        <p14:creationId xmlns:p14="http://schemas.microsoft.com/office/powerpoint/2010/main" val="1028559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4224" y="484172"/>
            <a:ext cx="8250238" cy="818216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A T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4215" y="1628402"/>
            <a:ext cx="8700247" cy="300635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ATA Standards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 &amp; EIDE interfaces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transfer rate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133MB/s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4 disks</a:t>
            </a:r>
          </a:p>
        </p:txBody>
      </p:sp>
      <p:pic>
        <p:nvPicPr>
          <p:cNvPr id="1026" name="Picture 2" descr="VERGEENO 80GB 2.5 Inch IDE/PATA Laptop Hard Drive">
            <a:extLst>
              <a:ext uri="{FF2B5EF4-FFF2-40B4-BE49-F238E27FC236}">
                <a16:creationId xmlns:a16="http://schemas.microsoft.com/office/drawing/2014/main" id="{444606DA-1C7C-467E-9C69-68F11C884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812" y="1411942"/>
            <a:ext cx="2705567" cy="2202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6861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1094" y="454772"/>
            <a:ext cx="8099612" cy="898899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A T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1312" y="1753908"/>
            <a:ext cx="8350624" cy="305117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Flexible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disk per controller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storage capacity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from 150MB/s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 plug</a:t>
            </a:r>
          </a:p>
        </p:txBody>
      </p:sp>
      <p:pic>
        <p:nvPicPr>
          <p:cNvPr id="2050" name="Picture 2" descr="Decdeal 2.5 inch Mechanical Hard Disk SATA III Interface Laptop D 120GB 8MB  Cache 5400rpm Speed Hard Drive for Laptop : Amazon.in: Computers &amp;  Accessories">
            <a:extLst>
              <a:ext uri="{FF2B5EF4-FFF2-40B4-BE49-F238E27FC236}">
                <a16:creationId xmlns:a16="http://schemas.microsoft.com/office/drawing/2014/main" id="{7002405D-1117-4F9D-BF24-1AB6CB7A3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6030" y="1753908"/>
            <a:ext cx="2362200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5035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7635" y="472701"/>
            <a:ext cx="7776882" cy="773393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C S I (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Computer System Interface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37329" y="1538754"/>
            <a:ext cx="8117541" cy="31049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reliable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 scalability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Suited for large amount of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throughputs</a:t>
            </a:r>
          </a:p>
        </p:txBody>
      </p:sp>
      <p:pic>
        <p:nvPicPr>
          <p:cNvPr id="3074" name="Picture 2" descr="HDD SCSI Hard Drive 80-Pin 10K 15k RPM Ultra320 at ₹ 4500/piece in New  Delhi | ID: 2850472788273">
            <a:extLst>
              <a:ext uri="{FF2B5EF4-FFF2-40B4-BE49-F238E27FC236}">
                <a16:creationId xmlns:a16="http://schemas.microsoft.com/office/drawing/2014/main" id="{D2FDEF75-6580-4989-AFF5-0995E923E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192" y="1538754"/>
            <a:ext cx="3074325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4553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2471" y="463736"/>
            <a:ext cx="8171329" cy="925793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A S (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 Attached SCSI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3906" y="1646331"/>
            <a:ext cx="8789894" cy="268362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Replaces parallel SCSI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rate beyond 10Gb/s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65000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dual ports for redundancy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connect SATA drives also</a:t>
            </a:r>
          </a:p>
        </p:txBody>
      </p:sp>
      <p:pic>
        <p:nvPicPr>
          <p:cNvPr id="4098" name="Picture 2" descr="Amazon.in: Buy Seagate 2.4TB HDD 10K RPM 2.5&quot; 12Gb/s SAS Hard Disk Drive  Model: ST2400MM0159 DP/N: RWR8F Online at Low Prices in India | Seagate  Reviews &amp;amp; Ratings">
            <a:extLst>
              <a:ext uri="{FF2B5EF4-FFF2-40B4-BE49-F238E27FC236}">
                <a16:creationId xmlns:a16="http://schemas.microsoft.com/office/drawing/2014/main" id="{0473C225-692B-47B0-8402-CFD6836A5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047" y="1646331"/>
            <a:ext cx="3352800" cy="223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8035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2836" y="445807"/>
            <a:ext cx="8287871" cy="934757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 (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Solid State Device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2506" y="1854106"/>
            <a:ext cx="8287871" cy="314978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access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susceptible to shock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latency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power consumption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586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FD865-7B46-46D8-96FE-7D3DB30D8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5565" y="544419"/>
            <a:ext cx="8780929" cy="979581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SSD vs HDD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2B0A5D7-2FFD-4BAD-BA43-52DC7AB0F2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77670" y="2221522"/>
            <a:ext cx="8229600" cy="3086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9578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2711E3-B906-45B2-BE58-8D8BEF3BA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949" y="1218841"/>
            <a:ext cx="8857397" cy="442031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453FCAA-1404-45E3-B381-F8639FA8B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6558" y="-139843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 Comparison</a:t>
            </a:r>
          </a:p>
        </p:txBody>
      </p:sp>
    </p:spTree>
    <p:extLst>
      <p:ext uri="{BB962C8B-B14F-4D97-AF65-F5344CB8AC3E}">
        <p14:creationId xmlns:p14="http://schemas.microsoft.com/office/powerpoint/2010/main" val="3425244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1C92485-B0EC-4747-8571-CA452C99B2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017007"/>
              </p:ext>
            </p:extLst>
          </p:nvPr>
        </p:nvGraphicFramePr>
        <p:xfrm>
          <a:off x="2702256" y="2148840"/>
          <a:ext cx="7859972" cy="2560320"/>
        </p:xfrm>
        <a:graphic>
          <a:graphicData uri="http://schemas.openxmlformats.org/drawingml/2006/table">
            <a:tbl>
              <a:tblPr/>
              <a:tblGrid>
                <a:gridCol w="3929986">
                  <a:extLst>
                    <a:ext uri="{9D8B030D-6E8A-4147-A177-3AD203B41FA5}">
                      <a16:colId xmlns:a16="http://schemas.microsoft.com/office/drawing/2014/main" val="2063525390"/>
                    </a:ext>
                  </a:extLst>
                </a:gridCol>
                <a:gridCol w="3929986">
                  <a:extLst>
                    <a:ext uri="{9D8B030D-6E8A-4147-A177-3AD203B41FA5}">
                      <a16:colId xmlns:a16="http://schemas.microsoft.com/office/drawing/2014/main" val="232669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Approx. Theoretical Bandwidth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817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SCSI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~0.64 GB/s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1293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SATA III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~0.6 GB/s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9066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SAS-3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~1.5 GB/s per lane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6007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NVMe PCIe Gen3 ×4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~3.9 GB/s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0250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NVMe PCIe Gen4 ×4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~7.9 GB/s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46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NVMe PCIe Gen5 ×4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~15.8 GB/s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7600150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9CDF4AF8-1F1B-4D3A-9FDE-16BC6135E5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7582" y="590100"/>
            <a:ext cx="9144000" cy="84291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Comparison</a:t>
            </a:r>
          </a:p>
        </p:txBody>
      </p:sp>
    </p:spTree>
    <p:extLst>
      <p:ext uri="{BB962C8B-B14F-4D97-AF65-F5344CB8AC3E}">
        <p14:creationId xmlns:p14="http://schemas.microsoft.com/office/powerpoint/2010/main" val="3969160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779CF8-8895-46EF-9C2A-BF2986284A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9" y="1371600"/>
            <a:ext cx="8588991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613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FD865-7B46-46D8-96FE-7D3DB30D8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132" y="328424"/>
            <a:ext cx="9272868" cy="806824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(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Redundant Array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6146" name="Picture 2" descr="What is RAID? Explaining RAID 0,1,5 and 10 (2026)">
            <a:extLst>
              <a:ext uri="{FF2B5EF4-FFF2-40B4-BE49-F238E27FC236}">
                <a16:creationId xmlns:a16="http://schemas.microsoft.com/office/drawing/2014/main" id="{42435D60-ECA3-4907-8582-86574BFE963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3742" y="1600201"/>
            <a:ext cx="6847326" cy="3859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689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6624" y="490631"/>
            <a:ext cx="7902388" cy="728569"/>
          </a:xfrm>
        </p:spPr>
        <p:txBody>
          <a:bodyPr>
            <a:no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A I 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0459" y="1834589"/>
            <a:ext cx="8431306" cy="2925669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Redundant Array of Inexpensive Disks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idea is to connect multiple disks together to provide increased performance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storage capacity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access to reading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redundant data</a:t>
            </a:r>
          </a:p>
        </p:txBody>
      </p:sp>
    </p:spTree>
    <p:extLst>
      <p:ext uri="{BB962C8B-B14F-4D97-AF65-F5344CB8AC3E}">
        <p14:creationId xmlns:p14="http://schemas.microsoft.com/office/powerpoint/2010/main" val="29869524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388" y="544419"/>
            <a:ext cx="8359588" cy="925793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A I D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97306" y="1876518"/>
            <a:ext cx="7534835" cy="31049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Level 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Level 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Level 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Level 6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Level 10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139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800" y="463738"/>
            <a:ext cx="8503024" cy="970616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2339" y="1520825"/>
            <a:ext cx="9341946" cy="365181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file data and map it to different disks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for reading data in parallel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1" y="3124200"/>
            <a:ext cx="7970345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98188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188" y="436842"/>
            <a:ext cx="7920318" cy="782357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Mirroring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4247" y="1482071"/>
            <a:ext cx="8870576" cy="3893857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two copies of data on two separate disks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good error recovery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if some data is lost, get it from the other  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source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requires twice as many disks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performance can be slow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have to write data to two different spots.</a:t>
            </a:r>
          </a:p>
        </p:txBody>
      </p:sp>
    </p:spTree>
    <p:extLst>
      <p:ext uri="{BB962C8B-B14F-4D97-AF65-F5344CB8AC3E}">
        <p14:creationId xmlns:p14="http://schemas.microsoft.com/office/powerpoint/2010/main" val="13712715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7683" y="400984"/>
            <a:ext cx="8529918" cy="880969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Parity &amp; RAID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0882" y="1849624"/>
            <a:ext cx="10511118" cy="315875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RAID groups have one or more disk drives that contain parity information that allows them to rebuild data if a drive failure occurs. This parity information is derived from the data stored on the disk by using the logical ‘exclusive OR’ operation.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1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055620"/>
            <a:ext cx="2495196" cy="1135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948940"/>
            <a:ext cx="5186226" cy="1348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77576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327210"/>
            <a:ext cx="8969188" cy="809251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A I D 0(Striping)</a:t>
            </a:r>
          </a:p>
        </p:txBody>
      </p:sp>
      <p:pic>
        <p:nvPicPr>
          <p:cNvPr id="1026" name="Picture 2" descr="raid_0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835" y="1600201"/>
            <a:ext cx="5133195" cy="369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498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5271" y="535455"/>
            <a:ext cx="8628529" cy="845110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A I D 0(Striping)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0130" y="1933202"/>
            <a:ext cx="9157447" cy="314082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number of disks: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Increased performance (Write and read speeds).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redundancy.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use: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Live streaming, IPTV</a:t>
            </a:r>
          </a:p>
        </p:txBody>
      </p:sp>
    </p:spTree>
    <p:extLst>
      <p:ext uri="{BB962C8B-B14F-4D97-AF65-F5344CB8AC3E}">
        <p14:creationId xmlns:p14="http://schemas.microsoft.com/office/powerpoint/2010/main" val="349136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4577" y="293409"/>
            <a:ext cx="9596718" cy="1096122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A I D 1(Mirroring)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600202"/>
            <a:ext cx="5429030" cy="3908902"/>
          </a:xfrm>
        </p:spPr>
      </p:pic>
    </p:spTree>
    <p:extLst>
      <p:ext uri="{BB962C8B-B14F-4D97-AF65-F5344CB8AC3E}">
        <p14:creationId xmlns:p14="http://schemas.microsoft.com/office/powerpoint/2010/main" val="35763435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8388" y="400984"/>
            <a:ext cx="8171329" cy="809251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A I D 1(Mirroring)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0153" y="1694328"/>
            <a:ext cx="9525000" cy="3218329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number of disks: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Fault tolerance and easy data recovery. Increased read performance.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Lower usable capacity. Higher cost per megabyte (double the amounts of drives is required to achieve desired capacity).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use: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 application servers where data redundancy and availability is important.</a:t>
            </a:r>
          </a:p>
        </p:txBody>
      </p:sp>
    </p:spTree>
    <p:extLst>
      <p:ext uri="{BB962C8B-B14F-4D97-AF65-F5344CB8AC3E}">
        <p14:creationId xmlns:p14="http://schemas.microsoft.com/office/powerpoint/2010/main" val="32103240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7682" y="369608"/>
            <a:ext cx="8745071" cy="961651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A I D 1(Mirroring)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683" y="1828801"/>
            <a:ext cx="6234952" cy="3372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90334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1471" y="367551"/>
            <a:ext cx="8969188" cy="728569"/>
          </a:xfrm>
        </p:spPr>
        <p:txBody>
          <a:bodyPr>
            <a:no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A I D 5(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Striping with parity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659" y="1600201"/>
            <a:ext cx="6445623" cy="3837901"/>
          </a:xfrm>
        </p:spPr>
      </p:pic>
    </p:spTree>
    <p:extLst>
      <p:ext uri="{BB962C8B-B14F-4D97-AF65-F5344CB8AC3E}">
        <p14:creationId xmlns:p14="http://schemas.microsoft.com/office/powerpoint/2010/main" val="1589090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4906" y="365125"/>
            <a:ext cx="8001000" cy="820737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A I D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91553" y="1505743"/>
            <a:ext cx="10107706" cy="384651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RAID5 is easily the most popular RAID level used today because it’s a great all-rounder.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5 incorporates striping of data just like in a RAID 0 array, however, in a RAID 5 the redundant pieces of parity data that are also distributed across the drives. Having the parity blocks staggered across each drive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any single drive in the RAID 5 array to fail without any data loss.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413" y="3428999"/>
            <a:ext cx="7116213" cy="163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7478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1165" y="463736"/>
            <a:ext cx="9731188" cy="1060263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A I D 5(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Striping with parity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02223" y="1746530"/>
            <a:ext cx="9005047" cy="336494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number of disks: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Fault tolerance and increased performance (lower than RAID 0)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Lower performance with servers performing large amounts of write operations because of parity overhead.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use: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storage servers and application servers.</a:t>
            </a:r>
          </a:p>
        </p:txBody>
      </p:sp>
    </p:spTree>
    <p:extLst>
      <p:ext uri="{BB962C8B-B14F-4D97-AF65-F5344CB8AC3E}">
        <p14:creationId xmlns:p14="http://schemas.microsoft.com/office/powerpoint/2010/main" val="5765609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32529" y="338231"/>
            <a:ext cx="9874624" cy="1114051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A I D 6 (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Striping with 2 parity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971" y="1600201"/>
            <a:ext cx="6286059" cy="4525963"/>
          </a:xfrm>
        </p:spPr>
      </p:pic>
    </p:spTree>
    <p:extLst>
      <p:ext uri="{BB962C8B-B14F-4D97-AF65-F5344CB8AC3E}">
        <p14:creationId xmlns:p14="http://schemas.microsoft.com/office/powerpoint/2010/main" val="16359668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7329" y="392020"/>
            <a:ext cx="9184341" cy="889934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A I D 6 (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Striping with 2 parity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8106" y="1682189"/>
            <a:ext cx="10385612" cy="3185646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number of disks: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 higher redundancy than RAID 5. Increased read performance.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Lower performance with servers performing large amounts of write operations because of parity overhead.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use: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 file storage servers and application servers.</a:t>
            </a:r>
          </a:p>
        </p:txBody>
      </p:sp>
    </p:spTree>
    <p:extLst>
      <p:ext uri="{BB962C8B-B14F-4D97-AF65-F5344CB8AC3E}">
        <p14:creationId xmlns:p14="http://schemas.microsoft.com/office/powerpoint/2010/main" val="28711080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4529" y="343505"/>
            <a:ext cx="9542929" cy="746499"/>
          </a:xfrm>
        </p:spPr>
        <p:txBody>
          <a:bodyPr>
            <a:no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A I D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4108" y="1295401"/>
            <a:ext cx="8229600" cy="45259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RAID0+1 is most easily described as a RAID1 of RAID0s, or a mirror of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striped arrays.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complex parity calculations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inexpensive controller is sufficient for performance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346" y="3809580"/>
            <a:ext cx="7735308" cy="191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4449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9071" y="304798"/>
            <a:ext cx="9542929" cy="854075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A I D 10(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striping + mirror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600201"/>
            <a:ext cx="6902823" cy="3934721"/>
          </a:xfrm>
        </p:spPr>
      </p:pic>
    </p:spTree>
    <p:extLst>
      <p:ext uri="{BB962C8B-B14F-4D97-AF65-F5344CB8AC3E}">
        <p14:creationId xmlns:p14="http://schemas.microsoft.com/office/powerpoint/2010/main" val="13171595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4224" y="374090"/>
            <a:ext cx="9793941" cy="1096122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A I D 10(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striping + mirror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9471" y="1780802"/>
            <a:ext cx="9973235" cy="343665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number of disks: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Very high performance. Fault tolerance.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Lower usable capacity/High cost. Limited scalability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use: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Highly utilized database servers/ servers performing a lot of write operations.</a:t>
            </a:r>
          </a:p>
        </p:txBody>
      </p:sp>
    </p:spTree>
    <p:extLst>
      <p:ext uri="{BB962C8B-B14F-4D97-AF65-F5344CB8AC3E}">
        <p14:creationId xmlns:p14="http://schemas.microsoft.com/office/powerpoint/2010/main" val="39502853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3541" y="583406"/>
            <a:ext cx="8072718" cy="486522"/>
          </a:xfrm>
        </p:spPr>
        <p:txBody>
          <a:bodyPr>
            <a:no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A I D 3 &amp;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1565" y="1493930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level of RAID is relatively uncommon today, as in most situations where RAID3 could be used, RAID5 is a better choice. The exception to this is applications which require a very high sustained read rate, where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RAID3 marginally outperforms RAID5. In a home system, game levels faster from RAID3 than RAID5.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RAID3 is unique in that it uses byte level striping as opposed to block level striping. This means that every file is split up amongst the striped drives equally, byte-by-byte.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272" y="3855525"/>
            <a:ext cx="7669455" cy="1881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3126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6647" y="347196"/>
            <a:ext cx="9291918" cy="773393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A I D Comparison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248" y="1299883"/>
            <a:ext cx="7618483" cy="3987006"/>
          </a:xfrm>
        </p:spPr>
      </p:pic>
    </p:spTree>
    <p:extLst>
      <p:ext uri="{BB962C8B-B14F-4D97-AF65-F5344CB8AC3E}">
        <p14:creationId xmlns:p14="http://schemas.microsoft.com/office/powerpoint/2010/main" val="35991144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1847" y="392020"/>
            <a:ext cx="9480176" cy="997510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Level to choose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048" y="1902222"/>
            <a:ext cx="3723849" cy="3053556"/>
          </a:xfrm>
        </p:spPr>
      </p:pic>
    </p:spTree>
    <p:extLst>
      <p:ext uri="{BB962C8B-B14F-4D97-AF65-F5344CB8AC3E}">
        <p14:creationId xmlns:p14="http://schemas.microsoft.com/office/powerpoint/2010/main" val="17549719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9070" y="427878"/>
            <a:ext cx="9121588" cy="854075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646331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methods and data structures that an operating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to keep track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a disk or partition;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the way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organized on the disk.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word is also used to refer to a partition or disk that is used to store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the type of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2229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812" y="445807"/>
            <a:ext cx="9426388" cy="800287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File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2906" y="1759977"/>
            <a:ext cx="8754035" cy="3338046"/>
          </a:xfrm>
        </p:spPr>
        <p:txBody>
          <a:bodyPr/>
          <a:lstStyle/>
          <a:p>
            <a:r>
              <a:rPr lang="en-US" dirty="0"/>
              <a:t>FAT</a:t>
            </a:r>
          </a:p>
          <a:p>
            <a:pPr marL="0" indent="0">
              <a:buNone/>
            </a:pPr>
            <a:r>
              <a:rPr lang="en-US" dirty="0"/>
              <a:t>	File Allocation Table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NTFS</a:t>
            </a:r>
          </a:p>
          <a:p>
            <a:pPr marL="0" indent="0">
              <a:buNone/>
            </a:pPr>
            <a:r>
              <a:rPr lang="en-US" dirty="0"/>
              <a:t>	New Technology File System</a:t>
            </a:r>
          </a:p>
        </p:txBody>
      </p:sp>
      <p:pic>
        <p:nvPicPr>
          <p:cNvPr id="7170" name="Picture 2" descr="Microsoft Windows - Wikipedia">
            <a:extLst>
              <a:ext uri="{FF2B5EF4-FFF2-40B4-BE49-F238E27FC236}">
                <a16:creationId xmlns:a16="http://schemas.microsoft.com/office/drawing/2014/main" id="{4F177C8C-5609-4107-991F-C05F5E6B1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0988" y="1988046"/>
            <a:ext cx="2228850" cy="1524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89782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5612" y="320301"/>
            <a:ext cx="9327776" cy="979581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File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1744" y="1577789"/>
            <a:ext cx="7924800" cy="23622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EXT2/3/4 – Journaling file systems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JFS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ReiserFS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XFS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196" name="Picture 4" descr="Getting started with Linux commands | Extremetech">
            <a:extLst>
              <a:ext uri="{FF2B5EF4-FFF2-40B4-BE49-F238E27FC236}">
                <a16:creationId xmlns:a16="http://schemas.microsoft.com/office/drawing/2014/main" id="{DBDC0DAE-6B21-4BBD-AF38-92F5DC3D8E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0" y="2048436"/>
            <a:ext cx="3519488" cy="1976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89942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565" y="311337"/>
            <a:ext cx="8045823" cy="103337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NFS (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File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3259" y="1744942"/>
            <a:ext cx="9211235" cy="2988422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File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a distributed file system  protocol for allowing a user on a client computer  to access files over a computer network much like local storage is accessed. </a:t>
            </a:r>
          </a:p>
        </p:txBody>
      </p:sp>
    </p:spTree>
    <p:extLst>
      <p:ext uri="{BB962C8B-B14F-4D97-AF65-F5344CB8AC3E}">
        <p14:creationId xmlns:p14="http://schemas.microsoft.com/office/powerpoint/2010/main" val="21152949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D551E-CFBA-4417-A525-03250F8F0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1823" y="499595"/>
            <a:ext cx="8834718" cy="854075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File System(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NFS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F992832-51A0-4FDB-B3C0-B0D7F069A4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46929" y="2050837"/>
            <a:ext cx="6019800" cy="301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77020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1C69-9E71-44F3-B346-75F552CBF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3894" y="392019"/>
            <a:ext cx="8879541" cy="898899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BA53A-6A9A-412E-8F6B-16228A2E7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094" y="1682190"/>
            <a:ext cx="9390529" cy="315875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 – Direct Attached Storage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 – Network Attached Storage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 – Storage Area Network</a:t>
            </a:r>
          </a:p>
        </p:txBody>
      </p:sp>
    </p:spTree>
    <p:extLst>
      <p:ext uri="{BB962C8B-B14F-4D97-AF65-F5344CB8AC3E}">
        <p14:creationId xmlns:p14="http://schemas.microsoft.com/office/powerpoint/2010/main" val="31661410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958" y="914401"/>
            <a:ext cx="7762241" cy="4392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33712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7658" y="365126"/>
            <a:ext cx="7911353" cy="91682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A S (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Attached Storage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0" y="1404284"/>
            <a:ext cx="8126506" cy="39297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disk subsystem is attached directly to HBAs in one or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hosts. This is also called server-centric storage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it is captured and physically cabled to the server.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local data provisioning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Quick deployment for small environments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Simple to deploy in simple configurations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Reliability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 capital expense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 complexity</a:t>
            </a:r>
          </a:p>
        </p:txBody>
      </p:sp>
    </p:spTree>
    <p:extLst>
      <p:ext uri="{BB962C8B-B14F-4D97-AF65-F5344CB8AC3E}">
        <p14:creationId xmlns:p14="http://schemas.microsoft.com/office/powerpoint/2010/main" val="33463368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D5AD6-9682-489F-94E4-00BC9CC09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356160"/>
            <a:ext cx="9354671" cy="9078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Attached Storage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F608509-E2C8-46B3-8560-18F301A54B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71800" y="1905001"/>
            <a:ext cx="6705600" cy="350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37587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8718" y="400984"/>
            <a:ext cx="9058835" cy="100647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Elements of DAS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415989" y="1733083"/>
            <a:ext cx="9632576" cy="339183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SCSI and serial attached SCSI (SAS) are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designed to be inside DAS or within a storage array.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They are not viable SAN technologies.</a:t>
            </a:r>
          </a:p>
        </p:txBody>
      </p:sp>
    </p:spTree>
    <p:extLst>
      <p:ext uri="{BB962C8B-B14F-4D97-AF65-F5344CB8AC3E}">
        <p14:creationId xmlns:p14="http://schemas.microsoft.com/office/powerpoint/2010/main" val="21544945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0436" y="400983"/>
            <a:ext cx="8018929" cy="96165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399" y="1655296"/>
            <a:ext cx="9677401" cy="32573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provides: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partitioning (Volume management)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layout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addressing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Attached Storage managed individually through the server and the OS</a:t>
            </a:r>
          </a:p>
        </p:txBody>
      </p:sp>
    </p:spTree>
    <p:extLst>
      <p:ext uri="{BB962C8B-B14F-4D97-AF65-F5344CB8AC3E}">
        <p14:creationId xmlns:p14="http://schemas.microsoft.com/office/powerpoint/2010/main" val="18505442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6317" y="481667"/>
            <a:ext cx="9256059" cy="104233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9117" y="1413248"/>
            <a:ext cx="9256059" cy="403729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Hosts must be directly connected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availability issues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single points of failure,  (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Bus, multiple path software, host, application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slowdowns possible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congestion, caching, multi-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pathing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Volumes are not globally available to all hosts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concerns</a:t>
            </a:r>
          </a:p>
        </p:txBody>
      </p:sp>
    </p:spTree>
    <p:extLst>
      <p:ext uri="{BB962C8B-B14F-4D97-AF65-F5344CB8AC3E}">
        <p14:creationId xmlns:p14="http://schemas.microsoft.com/office/powerpoint/2010/main" val="42439796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9729" y="365125"/>
            <a:ext cx="8745071" cy="95268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9447" y="1709084"/>
            <a:ext cx="9838765" cy="326632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is limited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connectivity ports to hosts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addressable disks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limitations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Downtime required for maintenance</a:t>
            </a:r>
          </a:p>
        </p:txBody>
      </p:sp>
    </p:spTree>
    <p:extLst>
      <p:ext uri="{BB962C8B-B14F-4D97-AF65-F5344CB8AC3E}">
        <p14:creationId xmlns:p14="http://schemas.microsoft.com/office/powerpoint/2010/main" val="27206621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3235" y="392020"/>
            <a:ext cx="9211235" cy="104233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Attach Storage(NAS)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6365" y="1735978"/>
            <a:ext cx="8476129" cy="291670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Network-attached storage is a file-level computer data storage server connected to a computer network providing data access to a heterogeneous group of clients.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 is specialized for serving files either by its hardware or  software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98477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463738"/>
            <a:ext cx="8278906" cy="87200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A 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5683" y="1634471"/>
            <a:ext cx="9551894" cy="358905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advantage to this method is that several servers can share storage on a separate unit.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DAS, each server does not need its own dedicated storage which enables more efficient utilization of available storage capacity.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servers can be different platforms as long as they all use the IP protocol.</a:t>
            </a:r>
          </a:p>
        </p:txBody>
      </p:sp>
    </p:spTree>
    <p:extLst>
      <p:ext uri="{BB962C8B-B14F-4D97-AF65-F5344CB8AC3E}">
        <p14:creationId xmlns:p14="http://schemas.microsoft.com/office/powerpoint/2010/main" val="23976858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42" y="347195"/>
            <a:ext cx="8655424" cy="7554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A S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8706" y="1565352"/>
            <a:ext cx="6946808" cy="4011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68446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082" y="499596"/>
            <a:ext cx="8655424" cy="92579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NAS?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502896"/>
            <a:ext cx="9771529" cy="427037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global information access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efficiency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flexibility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Centralizes storage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management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availability – through native clustering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security integration to environment (user authentication and authorization)</a:t>
            </a:r>
          </a:p>
        </p:txBody>
      </p:sp>
    </p:spTree>
    <p:extLst>
      <p:ext uri="{BB962C8B-B14F-4D97-AF65-F5344CB8AC3E}">
        <p14:creationId xmlns:p14="http://schemas.microsoft.com/office/powerpoint/2010/main" val="67297181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32529" y="490632"/>
            <a:ext cx="9973235" cy="122162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Area Network(SAN)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2016030"/>
            <a:ext cx="10515600" cy="2726299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primarily used to enhance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devices, such as disk arrays and tape libraries, accessible to servers so that the devices appear to the operating system as locally attached devices.</a:t>
            </a:r>
          </a:p>
        </p:txBody>
      </p:sp>
    </p:spTree>
    <p:extLst>
      <p:ext uri="{BB962C8B-B14F-4D97-AF65-F5344CB8AC3E}">
        <p14:creationId xmlns:p14="http://schemas.microsoft.com/office/powerpoint/2010/main" val="34267162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501BF-882B-4064-9711-A94DEBE6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106" y="392019"/>
            <a:ext cx="9480176" cy="115887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 Storage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CD1802-765D-4099-BF24-4E31436316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696" y="1681117"/>
            <a:ext cx="6036609" cy="3629025"/>
          </a:xfrm>
        </p:spPr>
      </p:pic>
    </p:spTree>
    <p:extLst>
      <p:ext uri="{BB962C8B-B14F-4D97-AF65-F5344CB8AC3E}">
        <p14:creationId xmlns:p14="http://schemas.microsoft.com/office/powerpoint/2010/main" val="58774074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082" y="392020"/>
            <a:ext cx="8628529" cy="88993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A 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0482" y="1710671"/>
            <a:ext cx="9426388" cy="343665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Principal Components of SAN are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Cable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HBA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Switches</a:t>
            </a:r>
          </a:p>
        </p:txBody>
      </p:sp>
    </p:spTree>
    <p:extLst>
      <p:ext uri="{BB962C8B-B14F-4D97-AF65-F5344CB8AC3E}">
        <p14:creationId xmlns:p14="http://schemas.microsoft.com/office/powerpoint/2010/main" val="33452190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9729" y="517525"/>
            <a:ext cx="8960224" cy="85407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 cabling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4294" y="1795836"/>
            <a:ext cx="9677400" cy="326632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 is a high-speed data transmission technology used to connect multiple hosts and storage devices over fiber-optic or copper cables.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Channel (FC) SANs have the reputation of being expensive, complex and difficult to  manage.</a:t>
            </a:r>
          </a:p>
        </p:txBody>
      </p:sp>
    </p:spTree>
    <p:extLst>
      <p:ext uri="{BB962C8B-B14F-4D97-AF65-F5344CB8AC3E}">
        <p14:creationId xmlns:p14="http://schemas.microsoft.com/office/powerpoint/2010/main" val="55714120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4271" y="436842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Single-Mode Fiber or Multimode Fiber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8458" y="176240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Single-mode fiber is used for longer distances and multimode fiber for shorter distances. Single-mode fiber has a much smaller core than multimode fiber and is designed for transmission of a single ray or mode of light as a carrier.</a:t>
            </a:r>
          </a:p>
          <a:p>
            <a:endParaRPr lang="en-US" sz="2400" dirty="0"/>
          </a:p>
          <a:p>
            <a:r>
              <a:rPr lang="en-US" sz="2400" dirty="0"/>
              <a:t>Multimode is designed to carry multiple light rays or modes concurrently, each at a slightly different reflection angle within the optical fiber core.</a:t>
            </a:r>
          </a:p>
        </p:txBody>
      </p:sp>
    </p:spTree>
    <p:extLst>
      <p:ext uri="{BB962C8B-B14F-4D97-AF65-F5344CB8AC3E}">
        <p14:creationId xmlns:p14="http://schemas.microsoft.com/office/powerpoint/2010/main" val="2041347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6012" y="320301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Single-Mode Fiber or Multimode Fiber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6999" y="2017060"/>
            <a:ext cx="7301753" cy="3088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4869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4965" y="475876"/>
            <a:ext cx="9058835" cy="94372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bus Adapter(HBA)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788" y="2000250"/>
            <a:ext cx="2857500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41322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5965" y="445808"/>
            <a:ext cx="8260976" cy="91682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HBA Interface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9034" y="2070847"/>
            <a:ext cx="3993931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497909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5258" y="562348"/>
            <a:ext cx="8987118" cy="88804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 Switch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1" y="2175510"/>
            <a:ext cx="5257799" cy="280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07385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6647" y="404494"/>
            <a:ext cx="9103659" cy="85407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 Fabric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8788" y="1458072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hardware that connects workstations and servers to storage devices in a SAN is referred to as a "fabric." The SAN fabric enables any-server-to-any-storage device connectivity through the use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Channel switching technology.</a:t>
            </a:r>
          </a:p>
          <a:p>
            <a:endParaRPr lang="en-US" sz="24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0953" y="3021106"/>
            <a:ext cx="3962400" cy="2216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111621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3541" y="338231"/>
            <a:ext cx="9273988" cy="9078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 Topologies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7730" y="1744943"/>
            <a:ext cx="8987118" cy="300635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 to Point topology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FC-AL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Switched Fabric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5083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7329" y="508560"/>
            <a:ext cx="9417424" cy="9078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 High Availability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6365" y="173597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SANs can be classified into the following three availability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Level 1 —Path-level redundancy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Level 2 —Switch-level redundancy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Level 3 —Fabric-level redundancy</a:t>
            </a:r>
          </a:p>
        </p:txBody>
      </p:sp>
    </p:spTree>
    <p:extLst>
      <p:ext uri="{BB962C8B-B14F-4D97-AF65-F5344CB8AC3E}">
        <p14:creationId xmlns:p14="http://schemas.microsoft.com/office/powerpoint/2010/main" val="192291745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Storage Types (DAS, NAS &amp; SAN) - Networkwalks Academy">
            <a:extLst>
              <a:ext uri="{FF2B5EF4-FFF2-40B4-BE49-F238E27FC236}">
                <a16:creationId xmlns:a16="http://schemas.microsoft.com/office/drawing/2014/main" id="{13F2745E-33AC-4A67-BD04-4514A7A68D0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332" y="802866"/>
            <a:ext cx="8674608" cy="406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9043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06189A-04B7-43B3-B400-9DE701D0B3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751" y="532670"/>
            <a:ext cx="6684143" cy="510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42548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</TotalTime>
  <Words>1713</Words>
  <Application>Microsoft Office PowerPoint</Application>
  <PresentationFormat>Widescreen</PresentationFormat>
  <Paragraphs>228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2" baseType="lpstr">
      <vt:lpstr>Arial</vt:lpstr>
      <vt:lpstr>Calibri</vt:lpstr>
      <vt:lpstr>Calibri Light</vt:lpstr>
      <vt:lpstr>Times New Roman</vt:lpstr>
      <vt:lpstr>Wingdings</vt:lpstr>
      <vt:lpstr>1_Office Theme</vt:lpstr>
      <vt:lpstr>Storage Devices</vt:lpstr>
      <vt:lpstr>Storage devices </vt:lpstr>
      <vt:lpstr>Storage Devices</vt:lpstr>
      <vt:lpstr>HDD types</vt:lpstr>
      <vt:lpstr>P A T A</vt:lpstr>
      <vt:lpstr>S A T A</vt:lpstr>
      <vt:lpstr>S C S I (small Computer System Interface)</vt:lpstr>
      <vt:lpstr>S A S (Serial Attached SCSI)</vt:lpstr>
      <vt:lpstr>S S D ( Solid State Device)</vt:lpstr>
      <vt:lpstr>SSD vs HDD</vt:lpstr>
      <vt:lpstr>Drive Comparison</vt:lpstr>
      <vt:lpstr>Speed Comparison</vt:lpstr>
      <vt:lpstr>PowerPoint Presentation</vt:lpstr>
      <vt:lpstr>RAID (Redundant Array)</vt:lpstr>
      <vt:lpstr>R A I D</vt:lpstr>
      <vt:lpstr>R A I D levels</vt:lpstr>
      <vt:lpstr>Striping</vt:lpstr>
      <vt:lpstr>Mirroring</vt:lpstr>
      <vt:lpstr>Parity &amp; RAID</vt:lpstr>
      <vt:lpstr>R A I D 0(Striping)</vt:lpstr>
      <vt:lpstr>R A I D 0(Striping)</vt:lpstr>
      <vt:lpstr>R A I D 1(Mirroring)</vt:lpstr>
      <vt:lpstr>R A I D 1(Mirroring)</vt:lpstr>
      <vt:lpstr>R A I D 1(Mirroring)</vt:lpstr>
      <vt:lpstr>R A I D 5(Striping with parity)</vt:lpstr>
      <vt:lpstr>R A I D 5</vt:lpstr>
      <vt:lpstr>R A I D 5(Striping with parity)</vt:lpstr>
      <vt:lpstr>R A I D 6 (Striping with 2 parity)</vt:lpstr>
      <vt:lpstr>R A I D 6 (Striping with 2 parity)</vt:lpstr>
      <vt:lpstr>R A I D 10</vt:lpstr>
      <vt:lpstr>R A I D 10(striping + mirror)</vt:lpstr>
      <vt:lpstr>R A I D 10(striping + mirror)</vt:lpstr>
      <vt:lpstr>R A I D 3 &amp; 4</vt:lpstr>
      <vt:lpstr>R A I D Comparison</vt:lpstr>
      <vt:lpstr>RAID Level to choose</vt:lpstr>
      <vt:lpstr>File Systems</vt:lpstr>
      <vt:lpstr>Windows File Systems</vt:lpstr>
      <vt:lpstr>Linux File Systems</vt:lpstr>
      <vt:lpstr>NFS (Network File System)</vt:lpstr>
      <vt:lpstr>Network File System(NFS)</vt:lpstr>
      <vt:lpstr>Storage Devices</vt:lpstr>
      <vt:lpstr>PowerPoint Presentation</vt:lpstr>
      <vt:lpstr>D A S (Direct Attached Storage)</vt:lpstr>
      <vt:lpstr>Direct Attached Storage</vt:lpstr>
      <vt:lpstr>Physical Elements of DAS</vt:lpstr>
      <vt:lpstr>DAS Management</vt:lpstr>
      <vt:lpstr>DAS Challenges</vt:lpstr>
      <vt:lpstr>DAS Challenges</vt:lpstr>
      <vt:lpstr>Network Attach Storage(NAS)</vt:lpstr>
      <vt:lpstr>N A S</vt:lpstr>
      <vt:lpstr>N A S</vt:lpstr>
      <vt:lpstr>Why NAS?</vt:lpstr>
      <vt:lpstr>Storage Area Network(SAN)</vt:lpstr>
      <vt:lpstr>SAN Storage</vt:lpstr>
      <vt:lpstr>S A N</vt:lpstr>
      <vt:lpstr>SAN cabling</vt:lpstr>
      <vt:lpstr>Single-Mode Fiber or Multimode Fiber</vt:lpstr>
      <vt:lpstr>Single-Mode Fiber or Multimode Fiber</vt:lpstr>
      <vt:lpstr>Host bus Adapter(HBA)</vt:lpstr>
      <vt:lpstr>HBA Interface</vt:lpstr>
      <vt:lpstr>SAN Switch</vt:lpstr>
      <vt:lpstr>SAN Fabric</vt:lpstr>
      <vt:lpstr>SAN Topologies</vt:lpstr>
      <vt:lpstr>SAN High Availability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Evolution</dc:title>
  <dc:creator>Sreekantha BA</dc:creator>
  <cp:lastModifiedBy>Sreekantha BA</cp:lastModifiedBy>
  <cp:revision>132</cp:revision>
  <dcterms:created xsi:type="dcterms:W3CDTF">2026-02-23T08:36:44Z</dcterms:created>
  <dcterms:modified xsi:type="dcterms:W3CDTF">2026-09-15T10:01:27Z</dcterms:modified>
</cp:coreProperties>
</file>